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4" r:id="rId3"/>
  </p:sldMasterIdLst>
  <p:notesMasterIdLst>
    <p:notesMasterId r:id="rId45"/>
  </p:notesMasterIdLst>
  <p:sldIdLst>
    <p:sldId id="294" r:id="rId4"/>
    <p:sldId id="290" r:id="rId5"/>
    <p:sldId id="295" r:id="rId6"/>
    <p:sldId id="296" r:id="rId7"/>
    <p:sldId id="297" r:id="rId8"/>
    <p:sldId id="299" r:id="rId9"/>
    <p:sldId id="300" r:id="rId10"/>
    <p:sldId id="301" r:id="rId11"/>
    <p:sldId id="275" r:id="rId12"/>
    <p:sldId id="302" r:id="rId13"/>
    <p:sldId id="303" r:id="rId14"/>
    <p:sldId id="286" r:id="rId15"/>
    <p:sldId id="257" r:id="rId16"/>
    <p:sldId id="256" r:id="rId17"/>
    <p:sldId id="258" r:id="rId18"/>
    <p:sldId id="259" r:id="rId19"/>
    <p:sldId id="260" r:id="rId20"/>
    <p:sldId id="263" r:id="rId21"/>
    <p:sldId id="261" r:id="rId22"/>
    <p:sldId id="270" r:id="rId23"/>
    <p:sldId id="262" r:id="rId24"/>
    <p:sldId id="264" r:id="rId25"/>
    <p:sldId id="265" r:id="rId26"/>
    <p:sldId id="271" r:id="rId27"/>
    <p:sldId id="272" r:id="rId28"/>
    <p:sldId id="273" r:id="rId29"/>
    <p:sldId id="274" r:id="rId30"/>
    <p:sldId id="277" r:id="rId31"/>
    <p:sldId id="278" r:id="rId32"/>
    <p:sldId id="281" r:id="rId33"/>
    <p:sldId id="282" r:id="rId34"/>
    <p:sldId id="283" r:id="rId35"/>
    <p:sldId id="279" r:id="rId36"/>
    <p:sldId id="280" r:id="rId37"/>
    <p:sldId id="276" r:id="rId38"/>
    <p:sldId id="266" r:id="rId39"/>
    <p:sldId id="267" r:id="rId40"/>
    <p:sldId id="268" r:id="rId41"/>
    <p:sldId id="284" r:id="rId42"/>
    <p:sldId id="285" r:id="rId43"/>
    <p:sldId id="26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4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07T19:42:36.92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14957 6821 0,'25'0'187,"0"0"-155,24 0-17,1-25 17,0 25-1,-26-24 0,1-1-31,25 25 31,-25 0-31,-1 0 0,1 0 32,-25-25-32,25 25 31,0 0-31,0 0 31,0 0 0,-25-25-15,24 25 15,1 0-31,0 0 63,0 0-32,0 0 0,-1 0 0,1 0 16,0 0 0,0 0-47,0 0 31,-1 0-31,1 0 32,25 0-17,-50 25 1,49-25 15,-24 0-15,0 25-1,0-25 17,0 0-32,24 0 15,-24 0 1,0 25 0,24-25 15,-24 0 0,0 0-15,25 0 15,-26 0-15,1 0 15,25 0 0,-25 0-15,-1 0-1,1 0 1,0 0 0,0 0-1,0 0 1,0 0-16,-1 0 31,1 0 0,25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D580E-1437-4F21-A786-E84AE5DC88A4}" type="datetimeFigureOut">
              <a:rPr lang="id-ID" smtClean="0"/>
              <a:t>21/05/2026</a:t>
            </a:fld>
            <a:endParaRPr lang="id-ID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74CDE-D369-4096-979F-936BCDAF1C4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89858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7633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801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5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0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1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7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9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95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8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7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2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42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203200" y="1981200"/>
            <a:ext cx="8229600" cy="838200"/>
          </a:xfrm>
        </p:spPr>
        <p:txBody>
          <a:bodyPr/>
          <a:lstStyle>
            <a:lvl1pPr algn="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524000" y="2514600"/>
            <a:ext cx="6908800" cy="457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09600" y="6553200"/>
            <a:ext cx="2844800" cy="1714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rgbClr val="0A2068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8737600" y="6553200"/>
            <a:ext cx="2844800" cy="1714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D1DEE6-C1B3-40A6-B664-5601DBA12F80}" type="slidenum">
              <a:rPr lang="en-US">
                <a:solidFill>
                  <a:srgbClr val="0A2068"/>
                </a:solidFill>
              </a:rPr>
              <a:pPr/>
              <a:t>‹#›</a:t>
            </a:fld>
            <a:endParaRPr lang="en-US">
              <a:solidFill>
                <a:srgbClr val="0A2068"/>
              </a:solidFill>
            </a:endParaRPr>
          </a:p>
        </p:txBody>
      </p:sp>
      <p:sp>
        <p:nvSpPr>
          <p:cNvPr id="3092" name="Text Box 20"/>
          <p:cNvSpPr txBox="1">
            <a:spLocks noChangeArrowheads="1"/>
          </p:cNvSpPr>
          <p:nvPr/>
        </p:nvSpPr>
        <p:spPr bwMode="gray">
          <a:xfrm>
            <a:off x="5283200" y="6338888"/>
            <a:ext cx="184573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i="1">
                <a:solidFill>
                  <a:srgbClr val="0A2068"/>
                </a:solidFill>
              </a:rPr>
              <a:t>LOGO</a:t>
            </a:r>
          </a:p>
        </p:txBody>
      </p:sp>
      <p:sp>
        <p:nvSpPr>
          <p:cNvPr id="3093" name="Text Box 21"/>
          <p:cNvSpPr txBox="1">
            <a:spLocks noChangeArrowheads="1"/>
          </p:cNvSpPr>
          <p:nvPr/>
        </p:nvSpPr>
        <p:spPr bwMode="gray">
          <a:xfrm>
            <a:off x="7315200" y="304800"/>
            <a:ext cx="4368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94CAE8"/>
                </a:solidFill>
              </a:rPr>
              <a:t>“ Add your company slogan ”</a:t>
            </a:r>
          </a:p>
        </p:txBody>
      </p:sp>
    </p:spTree>
    <p:extLst>
      <p:ext uri="{BB962C8B-B14F-4D97-AF65-F5344CB8AC3E}">
        <p14:creationId xmlns:p14="http://schemas.microsoft.com/office/powerpoint/2010/main" val="4034680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89B0D-B88A-40AD-96C0-EABD3EAB205E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875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1B5E6A-9AF3-4CFE-80FC-81AF1B74058F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753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538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38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83B51D-58BC-4977-B3C9-C0C3AA6197D9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95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33EDE5-DC6A-4C34-AA8D-D5C10D818619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512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B6EAA1-E302-4998-B0BE-CB5A6E8BDFC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442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14166A-7402-48CB-8AE8-1C3943668BF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504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EB4323-58B8-416D-A8A6-60BA8DBAD28B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2078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0D501D-E82B-4E31-B01A-45AD12624C2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220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A2DD4C-355D-4977-9175-0945CECF385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288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81000"/>
            <a:ext cx="27432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80264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0BFA7-5410-4781-B50A-3FA1690EDD37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1105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0" y="381005"/>
            <a:ext cx="52832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219200"/>
            <a:ext cx="10972800" cy="51816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53205"/>
            <a:ext cx="2844800" cy="244475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553205"/>
            <a:ext cx="3860800" cy="244475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53205"/>
            <a:ext cx="2844800" cy="244475"/>
          </a:xfrm>
        </p:spPr>
        <p:txBody>
          <a:bodyPr/>
          <a:lstStyle>
            <a:lvl1pPr>
              <a:defRPr/>
            </a:lvl1pPr>
          </a:lstStyle>
          <a:p>
            <a:fld id="{084D7357-CA26-4CBD-86BC-4BA168E7FAD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700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7813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5"/>
            <a:ext cx="53848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5"/>
            <a:ext cx="53848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830C0-BD4A-455A-84E5-D9C729C7FC75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856538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088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597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3459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3056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5628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1815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7454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3992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9123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8420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974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4D012-8C5A-483C-9F74-82338462C1C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4E9DA-4C74-4DAA-AA45-09DED7AAF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28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1727200" y="381005"/>
            <a:ext cx="52832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553205"/>
            <a:ext cx="2844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53205"/>
            <a:ext cx="386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553205"/>
            <a:ext cx="2844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EA68AD-973D-4C91-97A9-3DAECFAEB3E2}" type="slidenum">
              <a:rPr lang="en-US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0"/>
            <a:ext cx="10972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67" name="Group 43"/>
          <p:cNvGrpSpPr>
            <a:grpSpLocks/>
          </p:cNvGrpSpPr>
          <p:nvPr/>
        </p:nvGrpSpPr>
        <p:grpSpPr bwMode="auto">
          <a:xfrm>
            <a:off x="10584" y="457200"/>
            <a:ext cx="12181416" cy="457200"/>
            <a:chOff x="5" y="288"/>
            <a:chExt cx="5755" cy="288"/>
          </a:xfrm>
        </p:grpSpPr>
        <p:sp>
          <p:nvSpPr>
            <p:cNvPr id="1054" name="Rectangle 30"/>
            <p:cNvSpPr>
              <a:spLocks noChangeArrowheads="1"/>
            </p:cNvSpPr>
            <p:nvPr userDrawn="1"/>
          </p:nvSpPr>
          <p:spPr bwMode="gray">
            <a:xfrm>
              <a:off x="5" y="498"/>
              <a:ext cx="698" cy="48"/>
            </a:xfrm>
            <a:prstGeom prst="rect">
              <a:avLst/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55" name="Rectangle 31"/>
            <p:cNvSpPr>
              <a:spLocks noChangeArrowheads="1"/>
            </p:cNvSpPr>
            <p:nvPr userDrawn="1"/>
          </p:nvSpPr>
          <p:spPr bwMode="gray">
            <a:xfrm>
              <a:off x="5" y="439"/>
              <a:ext cx="698" cy="48"/>
            </a:xfrm>
            <a:prstGeom prst="rect">
              <a:avLst/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56" name="Rectangle 32"/>
            <p:cNvSpPr>
              <a:spLocks noChangeArrowheads="1"/>
            </p:cNvSpPr>
            <p:nvPr userDrawn="1"/>
          </p:nvSpPr>
          <p:spPr bwMode="gray">
            <a:xfrm>
              <a:off x="5" y="375"/>
              <a:ext cx="698" cy="48"/>
            </a:xfrm>
            <a:prstGeom prst="rect">
              <a:avLst/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57" name="Rectangle 33"/>
            <p:cNvSpPr>
              <a:spLocks noChangeArrowheads="1"/>
            </p:cNvSpPr>
            <p:nvPr userDrawn="1"/>
          </p:nvSpPr>
          <p:spPr bwMode="gray">
            <a:xfrm>
              <a:off x="5" y="316"/>
              <a:ext cx="698" cy="48"/>
            </a:xfrm>
            <a:prstGeom prst="rect">
              <a:avLst/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59" name="Freeform 35"/>
            <p:cNvSpPr>
              <a:spLocks/>
            </p:cNvSpPr>
            <p:nvPr userDrawn="1"/>
          </p:nvSpPr>
          <p:spPr bwMode="gray">
            <a:xfrm>
              <a:off x="720" y="288"/>
              <a:ext cx="82" cy="288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0" y="0"/>
                </a:cxn>
                <a:cxn ang="0">
                  <a:pos x="0" y="288"/>
                </a:cxn>
                <a:cxn ang="0">
                  <a:pos x="96" y="288"/>
                </a:cxn>
              </a:cxnLst>
              <a:rect l="0" t="0" r="r" b="b"/>
              <a:pathLst>
                <a:path w="96" h="288">
                  <a:moveTo>
                    <a:pt x="96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96" y="2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61" name="Rectangle 37"/>
            <p:cNvSpPr>
              <a:spLocks noChangeArrowheads="1"/>
            </p:cNvSpPr>
            <p:nvPr userDrawn="1"/>
          </p:nvSpPr>
          <p:spPr bwMode="gray">
            <a:xfrm>
              <a:off x="3422" y="499"/>
              <a:ext cx="2338" cy="48"/>
            </a:xfrm>
            <a:prstGeom prst="rect">
              <a:avLst/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62" name="Rectangle 38"/>
            <p:cNvSpPr>
              <a:spLocks noChangeArrowheads="1"/>
            </p:cNvSpPr>
            <p:nvPr userDrawn="1"/>
          </p:nvSpPr>
          <p:spPr bwMode="gray">
            <a:xfrm>
              <a:off x="3422" y="440"/>
              <a:ext cx="2338" cy="48"/>
            </a:xfrm>
            <a:prstGeom prst="rect">
              <a:avLst/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63" name="Rectangle 39"/>
            <p:cNvSpPr>
              <a:spLocks noChangeArrowheads="1"/>
            </p:cNvSpPr>
            <p:nvPr userDrawn="1"/>
          </p:nvSpPr>
          <p:spPr bwMode="gray">
            <a:xfrm>
              <a:off x="3421" y="382"/>
              <a:ext cx="2338" cy="48"/>
            </a:xfrm>
            <a:prstGeom prst="rect">
              <a:avLst/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64" name="Rectangle 40"/>
            <p:cNvSpPr>
              <a:spLocks noChangeArrowheads="1"/>
            </p:cNvSpPr>
            <p:nvPr userDrawn="1"/>
          </p:nvSpPr>
          <p:spPr bwMode="gray">
            <a:xfrm>
              <a:off x="3421" y="323"/>
              <a:ext cx="2338" cy="48"/>
            </a:xfrm>
            <a:prstGeom prst="rect">
              <a:avLst/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65" name="Freeform 41"/>
            <p:cNvSpPr>
              <a:spLocks/>
            </p:cNvSpPr>
            <p:nvPr userDrawn="1"/>
          </p:nvSpPr>
          <p:spPr bwMode="gray">
            <a:xfrm flipH="1">
              <a:off x="3346" y="288"/>
              <a:ext cx="48" cy="288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0" y="0"/>
                </a:cxn>
                <a:cxn ang="0">
                  <a:pos x="0" y="288"/>
                </a:cxn>
                <a:cxn ang="0">
                  <a:pos x="96" y="288"/>
                </a:cxn>
              </a:cxnLst>
              <a:rect l="0" t="0" r="r" b="b"/>
              <a:pathLst>
                <a:path w="96" h="288">
                  <a:moveTo>
                    <a:pt x="96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96" y="2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533383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115000"/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482EB-F0FD-4839-B0B1-9D93D3A137C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4012E-C875-4BC2-831D-0F3B34EF4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66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37.xml"/><Relationship Id="rId7" Type="http://schemas.openxmlformats.org/officeDocument/2006/relationships/image" Target="../media/image13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2.xml"/><Relationship Id="rId6" Type="http://schemas.openxmlformats.org/officeDocument/2006/relationships/slide" Target="slide18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Relationship Id="rId9" Type="http://schemas.openxmlformats.org/officeDocument/2006/relationships/image" Target="../media/image14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610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510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0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21" Type="http://schemas.openxmlformats.org/officeDocument/2006/relationships/image" Target="../media/image62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26" Type="http://schemas.openxmlformats.org/officeDocument/2006/relationships/image" Target="../media/image112.png"/><Relationship Id="rId39" Type="http://schemas.openxmlformats.org/officeDocument/2006/relationships/image" Target="../media/image125.png"/><Relationship Id="rId21" Type="http://schemas.openxmlformats.org/officeDocument/2006/relationships/image" Target="../media/image107.png"/><Relationship Id="rId34" Type="http://schemas.openxmlformats.org/officeDocument/2006/relationships/image" Target="../media/image120.png"/><Relationship Id="rId42" Type="http://schemas.openxmlformats.org/officeDocument/2006/relationships/image" Target="../media/image128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29" Type="http://schemas.openxmlformats.org/officeDocument/2006/relationships/image" Target="../media/image115.png"/><Relationship Id="rId41" Type="http://schemas.openxmlformats.org/officeDocument/2006/relationships/image" Target="../media/image127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24" Type="http://schemas.openxmlformats.org/officeDocument/2006/relationships/image" Target="../media/image110.png"/><Relationship Id="rId32" Type="http://schemas.openxmlformats.org/officeDocument/2006/relationships/image" Target="../media/image118.png"/><Relationship Id="rId37" Type="http://schemas.openxmlformats.org/officeDocument/2006/relationships/image" Target="../media/image123.png"/><Relationship Id="rId40" Type="http://schemas.openxmlformats.org/officeDocument/2006/relationships/image" Target="../media/image126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23" Type="http://schemas.openxmlformats.org/officeDocument/2006/relationships/image" Target="../media/image109.png"/><Relationship Id="rId28" Type="http://schemas.openxmlformats.org/officeDocument/2006/relationships/image" Target="../media/image114.png"/><Relationship Id="rId36" Type="http://schemas.openxmlformats.org/officeDocument/2006/relationships/image" Target="../media/image122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31" Type="http://schemas.openxmlformats.org/officeDocument/2006/relationships/image" Target="../media/image117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08.png"/><Relationship Id="rId27" Type="http://schemas.openxmlformats.org/officeDocument/2006/relationships/image" Target="../media/image113.png"/><Relationship Id="rId30" Type="http://schemas.openxmlformats.org/officeDocument/2006/relationships/image" Target="../media/image116.png"/><Relationship Id="rId35" Type="http://schemas.openxmlformats.org/officeDocument/2006/relationships/image" Target="../media/image121.png"/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5" Type="http://schemas.openxmlformats.org/officeDocument/2006/relationships/image" Target="../media/image111.png"/><Relationship Id="rId33" Type="http://schemas.openxmlformats.org/officeDocument/2006/relationships/image" Target="../media/image119.png"/><Relationship Id="rId38" Type="http://schemas.openxmlformats.org/officeDocument/2006/relationships/image" Target="../media/image1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1.png"/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0.png"/><Relationship Id="rId5" Type="http://schemas.openxmlformats.org/officeDocument/2006/relationships/image" Target="../media/image810.png"/><Relationship Id="rId4" Type="http://schemas.openxmlformats.org/officeDocument/2006/relationships/image" Target="../media/image7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0.png"/><Relationship Id="rId13" Type="http://schemas.openxmlformats.org/officeDocument/2006/relationships/image" Target="../media/image2110.png"/><Relationship Id="rId18" Type="http://schemas.openxmlformats.org/officeDocument/2006/relationships/image" Target="../media/image260.png"/><Relationship Id="rId3" Type="http://schemas.openxmlformats.org/officeDocument/2006/relationships/image" Target="../media/image1110.png"/><Relationship Id="rId7" Type="http://schemas.openxmlformats.org/officeDocument/2006/relationships/image" Target="../media/image1510.png"/><Relationship Id="rId12" Type="http://schemas.openxmlformats.org/officeDocument/2006/relationships/image" Target="../media/image2010.png"/><Relationship Id="rId17" Type="http://schemas.openxmlformats.org/officeDocument/2006/relationships/image" Target="../media/image250.png"/><Relationship Id="rId2" Type="http://schemas.openxmlformats.org/officeDocument/2006/relationships/image" Target="../media/image1010.png"/><Relationship Id="rId16" Type="http://schemas.openxmlformats.org/officeDocument/2006/relationships/image" Target="../media/image2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1.png"/><Relationship Id="rId11" Type="http://schemas.openxmlformats.org/officeDocument/2006/relationships/image" Target="../media/image1910.png"/><Relationship Id="rId5" Type="http://schemas.openxmlformats.org/officeDocument/2006/relationships/image" Target="../media/image1311.png"/><Relationship Id="rId15" Type="http://schemas.openxmlformats.org/officeDocument/2006/relationships/image" Target="../media/image2310.png"/><Relationship Id="rId10" Type="http://schemas.openxmlformats.org/officeDocument/2006/relationships/image" Target="../media/image1810.png"/><Relationship Id="rId4" Type="http://schemas.openxmlformats.org/officeDocument/2006/relationships/image" Target="../media/image1211.png"/><Relationship Id="rId9" Type="http://schemas.openxmlformats.org/officeDocument/2006/relationships/image" Target="../media/image1710.png"/><Relationship Id="rId14" Type="http://schemas.openxmlformats.org/officeDocument/2006/relationships/image" Target="../media/image22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380.png"/><Relationship Id="rId3" Type="http://schemas.openxmlformats.org/officeDocument/2006/relationships/image" Target="../media/image280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17" Type="http://schemas.openxmlformats.org/officeDocument/2006/relationships/image" Target="../media/image90.gif"/><Relationship Id="rId2" Type="http://schemas.openxmlformats.org/officeDocument/2006/relationships/image" Target="../media/image270.png"/><Relationship Id="rId16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60.png"/><Relationship Id="rId5" Type="http://schemas.openxmlformats.org/officeDocument/2006/relationships/image" Target="../media/image300.png"/><Relationship Id="rId15" Type="http://schemas.openxmlformats.org/officeDocument/2006/relationships/image" Target="../media/image400.png"/><Relationship Id="rId10" Type="http://schemas.openxmlformats.org/officeDocument/2006/relationships/image" Target="../media/image350.png"/><Relationship Id="rId4" Type="http://schemas.openxmlformats.org/officeDocument/2006/relationships/image" Target="../media/image290.png"/><Relationship Id="rId9" Type="http://schemas.openxmlformats.org/officeDocument/2006/relationships/image" Target="../media/image340.png"/><Relationship Id="rId14" Type="http://schemas.openxmlformats.org/officeDocument/2006/relationships/image" Target="../media/image39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13" Type="http://schemas.openxmlformats.org/officeDocument/2006/relationships/image" Target="../media/image520.png"/><Relationship Id="rId18" Type="http://schemas.openxmlformats.org/officeDocument/2006/relationships/image" Target="../media/image570.png"/><Relationship Id="rId3" Type="http://schemas.openxmlformats.org/officeDocument/2006/relationships/image" Target="../media/image92.emf"/><Relationship Id="rId7" Type="http://schemas.openxmlformats.org/officeDocument/2006/relationships/image" Target="../media/image460.png"/><Relationship Id="rId12" Type="http://schemas.openxmlformats.org/officeDocument/2006/relationships/image" Target="../media/image512.png"/><Relationship Id="rId17" Type="http://schemas.openxmlformats.org/officeDocument/2006/relationships/image" Target="../media/image560.png"/><Relationship Id="rId2" Type="http://schemas.openxmlformats.org/officeDocument/2006/relationships/image" Target="../media/image91.emf"/><Relationship Id="rId16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11" Type="http://schemas.openxmlformats.org/officeDocument/2006/relationships/image" Target="../media/image500.png"/><Relationship Id="rId5" Type="http://schemas.openxmlformats.org/officeDocument/2006/relationships/image" Target="../media/image440.png"/><Relationship Id="rId15" Type="http://schemas.openxmlformats.org/officeDocument/2006/relationships/image" Target="../media/image540.png"/><Relationship Id="rId10" Type="http://schemas.openxmlformats.org/officeDocument/2006/relationships/image" Target="../media/image490.png"/><Relationship Id="rId4" Type="http://schemas.openxmlformats.org/officeDocument/2006/relationships/image" Target="../media/image93.emf"/><Relationship Id="rId9" Type="http://schemas.openxmlformats.org/officeDocument/2006/relationships/image" Target="../media/image480.png"/><Relationship Id="rId14" Type="http://schemas.openxmlformats.org/officeDocument/2006/relationships/image" Target="../media/image5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13" Type="http://schemas.openxmlformats.org/officeDocument/2006/relationships/image" Target="../media/image690.png"/><Relationship Id="rId3" Type="http://schemas.openxmlformats.org/officeDocument/2006/relationships/image" Target="../media/image95.emf"/><Relationship Id="rId7" Type="http://schemas.openxmlformats.org/officeDocument/2006/relationships/image" Target="../media/image630.png"/><Relationship Id="rId12" Type="http://schemas.openxmlformats.org/officeDocument/2006/relationships/image" Target="../media/image680.png"/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0.png"/><Relationship Id="rId11" Type="http://schemas.openxmlformats.org/officeDocument/2006/relationships/image" Target="../media/image670.png"/><Relationship Id="rId5" Type="http://schemas.openxmlformats.org/officeDocument/2006/relationships/image" Target="../media/image612.png"/><Relationship Id="rId10" Type="http://schemas.openxmlformats.org/officeDocument/2006/relationships/image" Target="../media/image660.png"/><Relationship Id="rId4" Type="http://schemas.openxmlformats.org/officeDocument/2006/relationships/image" Target="../media/image600.png"/><Relationship Id="rId9" Type="http://schemas.openxmlformats.org/officeDocument/2006/relationships/image" Target="../media/image650.png"/><Relationship Id="rId14" Type="http://schemas.openxmlformats.org/officeDocument/2006/relationships/image" Target="../media/image70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0.png"/><Relationship Id="rId13" Type="http://schemas.openxmlformats.org/officeDocument/2006/relationships/image" Target="../media/image820.png"/><Relationship Id="rId18" Type="http://schemas.openxmlformats.org/officeDocument/2006/relationships/image" Target="../media/image870.png"/><Relationship Id="rId3" Type="http://schemas.openxmlformats.org/officeDocument/2006/relationships/image" Target="../media/image97.emf"/><Relationship Id="rId7" Type="http://schemas.openxmlformats.org/officeDocument/2006/relationships/image" Target="../media/image760.png"/><Relationship Id="rId12" Type="http://schemas.openxmlformats.org/officeDocument/2006/relationships/image" Target="../media/image811.png"/><Relationship Id="rId17" Type="http://schemas.openxmlformats.org/officeDocument/2006/relationships/image" Target="../media/image860.png"/><Relationship Id="rId2" Type="http://schemas.openxmlformats.org/officeDocument/2006/relationships/image" Target="../media/image96.emf"/><Relationship Id="rId16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0.png"/><Relationship Id="rId11" Type="http://schemas.openxmlformats.org/officeDocument/2006/relationships/image" Target="../media/image800.png"/><Relationship Id="rId5" Type="http://schemas.openxmlformats.org/officeDocument/2006/relationships/image" Target="../media/image740.png"/><Relationship Id="rId15" Type="http://schemas.openxmlformats.org/officeDocument/2006/relationships/image" Target="../media/image840.png"/><Relationship Id="rId10" Type="http://schemas.openxmlformats.org/officeDocument/2006/relationships/image" Target="../media/image790.png"/><Relationship Id="rId19" Type="http://schemas.openxmlformats.org/officeDocument/2006/relationships/image" Target="../media/image880.png"/><Relationship Id="rId4" Type="http://schemas.openxmlformats.org/officeDocument/2006/relationships/image" Target="../media/image98.emf"/><Relationship Id="rId9" Type="http://schemas.openxmlformats.org/officeDocument/2006/relationships/image" Target="../media/image780.png"/><Relationship Id="rId14" Type="http://schemas.openxmlformats.org/officeDocument/2006/relationships/image" Target="../media/image8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13" Type="http://schemas.openxmlformats.org/officeDocument/2006/relationships/image" Target="../media/image940.png"/><Relationship Id="rId18" Type="http://schemas.openxmlformats.org/officeDocument/2006/relationships/image" Target="../media/image990.png"/><Relationship Id="rId26" Type="http://schemas.openxmlformats.org/officeDocument/2006/relationships/image" Target="../media/image1070.png"/><Relationship Id="rId3" Type="http://schemas.openxmlformats.org/officeDocument/2006/relationships/image" Target="../media/image580.png"/><Relationship Id="rId21" Type="http://schemas.openxmlformats.org/officeDocument/2006/relationships/image" Target="../media/image100.emf"/><Relationship Id="rId7" Type="http://schemas.openxmlformats.org/officeDocument/2006/relationships/image" Target="../media/image730.png"/><Relationship Id="rId12" Type="http://schemas.openxmlformats.org/officeDocument/2006/relationships/image" Target="../media/image930.png"/><Relationship Id="rId17" Type="http://schemas.openxmlformats.org/officeDocument/2006/relationships/image" Target="../media/image980.png"/><Relationship Id="rId25" Type="http://schemas.openxmlformats.org/officeDocument/2006/relationships/image" Target="../media/image1060.png"/><Relationship Id="rId2" Type="http://schemas.openxmlformats.org/officeDocument/2006/relationships/image" Target="../media/image99.emf"/><Relationship Id="rId16" Type="http://schemas.openxmlformats.org/officeDocument/2006/relationships/image" Target="../media/image970.png"/><Relationship Id="rId20" Type="http://schemas.openxmlformats.org/officeDocument/2006/relationships/image" Target="../media/image1011.png"/><Relationship Id="rId29" Type="http://schemas.openxmlformats.org/officeDocument/2006/relationships/image" Target="../media/image1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.png"/><Relationship Id="rId11" Type="http://schemas.openxmlformats.org/officeDocument/2006/relationships/image" Target="../media/image920.png"/><Relationship Id="rId24" Type="http://schemas.openxmlformats.org/officeDocument/2006/relationships/image" Target="../media/image1050.png"/><Relationship Id="rId5" Type="http://schemas.openxmlformats.org/officeDocument/2006/relationships/image" Target="../media/image711.png"/><Relationship Id="rId15" Type="http://schemas.openxmlformats.org/officeDocument/2006/relationships/image" Target="../media/image960.png"/><Relationship Id="rId23" Type="http://schemas.openxmlformats.org/officeDocument/2006/relationships/image" Target="../media/image1040.png"/><Relationship Id="rId28" Type="http://schemas.openxmlformats.org/officeDocument/2006/relationships/image" Target="../media/image1090.png"/><Relationship Id="rId10" Type="http://schemas.openxmlformats.org/officeDocument/2006/relationships/image" Target="../media/image911.png"/><Relationship Id="rId19" Type="http://schemas.openxmlformats.org/officeDocument/2006/relationships/image" Target="../media/image1000.png"/><Relationship Id="rId4" Type="http://schemas.openxmlformats.org/officeDocument/2006/relationships/image" Target="../media/image590.png"/><Relationship Id="rId9" Type="http://schemas.openxmlformats.org/officeDocument/2006/relationships/image" Target="../media/image900.png"/><Relationship Id="rId14" Type="http://schemas.openxmlformats.org/officeDocument/2006/relationships/image" Target="../media/image950.png"/><Relationship Id="rId22" Type="http://schemas.openxmlformats.org/officeDocument/2006/relationships/image" Target="../media/image1030.png"/><Relationship Id="rId27" Type="http://schemas.openxmlformats.org/officeDocument/2006/relationships/image" Target="../media/image108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1.png"/><Relationship Id="rId13" Type="http://schemas.openxmlformats.org/officeDocument/2006/relationships/image" Target="../media/image1301.png"/><Relationship Id="rId18" Type="http://schemas.openxmlformats.org/officeDocument/2006/relationships/image" Target="../media/image135.png"/><Relationship Id="rId26" Type="http://schemas.openxmlformats.org/officeDocument/2006/relationships/image" Target="../media/image143.png"/><Relationship Id="rId3" Type="http://schemas.openxmlformats.org/officeDocument/2006/relationships/image" Target="../media/image1201.png"/><Relationship Id="rId21" Type="http://schemas.openxmlformats.org/officeDocument/2006/relationships/image" Target="../media/image138.png"/><Relationship Id="rId7" Type="http://schemas.openxmlformats.org/officeDocument/2006/relationships/image" Target="../media/image1241.png"/><Relationship Id="rId12" Type="http://schemas.openxmlformats.org/officeDocument/2006/relationships/image" Target="../media/image129.png"/><Relationship Id="rId17" Type="http://schemas.openxmlformats.org/officeDocument/2006/relationships/image" Target="../media/image1130.png"/><Relationship Id="rId25" Type="http://schemas.openxmlformats.org/officeDocument/2006/relationships/image" Target="../media/image142.png"/><Relationship Id="rId2" Type="http://schemas.openxmlformats.org/officeDocument/2006/relationships/image" Target="../media/image101.emf"/><Relationship Id="rId16" Type="http://schemas.openxmlformats.org/officeDocument/2006/relationships/image" Target="../media/image1120.png"/><Relationship Id="rId20" Type="http://schemas.openxmlformats.org/officeDocument/2006/relationships/image" Target="../media/image137.png"/><Relationship Id="rId29" Type="http://schemas.openxmlformats.org/officeDocument/2006/relationships/image" Target="../media/image1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1.png"/><Relationship Id="rId11" Type="http://schemas.openxmlformats.org/officeDocument/2006/relationships/image" Target="../media/image1281.png"/><Relationship Id="rId24" Type="http://schemas.openxmlformats.org/officeDocument/2006/relationships/image" Target="../media/image141.png"/><Relationship Id="rId5" Type="http://schemas.openxmlformats.org/officeDocument/2006/relationships/image" Target="../media/image1221.png"/><Relationship Id="rId15" Type="http://schemas.openxmlformats.org/officeDocument/2006/relationships/image" Target="../media/image132.png"/><Relationship Id="rId23" Type="http://schemas.openxmlformats.org/officeDocument/2006/relationships/image" Target="../media/image140.png"/><Relationship Id="rId28" Type="http://schemas.openxmlformats.org/officeDocument/2006/relationships/image" Target="../media/image1150.png"/><Relationship Id="rId10" Type="http://schemas.openxmlformats.org/officeDocument/2006/relationships/image" Target="../media/image1271.png"/><Relationship Id="rId19" Type="http://schemas.openxmlformats.org/officeDocument/2006/relationships/image" Target="../media/image136.png"/><Relationship Id="rId31" Type="http://schemas.openxmlformats.org/officeDocument/2006/relationships/image" Target="../media/image1180.png"/><Relationship Id="rId4" Type="http://schemas.openxmlformats.org/officeDocument/2006/relationships/image" Target="../media/image1212.png"/><Relationship Id="rId9" Type="http://schemas.openxmlformats.org/officeDocument/2006/relationships/image" Target="../media/image1261.png"/><Relationship Id="rId14" Type="http://schemas.openxmlformats.org/officeDocument/2006/relationships/image" Target="../media/image131.png"/><Relationship Id="rId22" Type="http://schemas.openxmlformats.org/officeDocument/2006/relationships/image" Target="../media/image139.png"/><Relationship Id="rId27" Type="http://schemas.openxmlformats.org/officeDocument/2006/relationships/image" Target="../media/image1140.png"/><Relationship Id="rId30" Type="http://schemas.openxmlformats.org/officeDocument/2006/relationships/image" Target="../media/image117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0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54.png"/><Relationship Id="rId7" Type="http://schemas.openxmlformats.org/officeDocument/2006/relationships/image" Target="../media/image1230.png"/><Relationship Id="rId12" Type="http://schemas.openxmlformats.org/officeDocument/2006/relationships/image" Target="../media/image1280.png"/><Relationship Id="rId17" Type="http://schemas.openxmlformats.org/officeDocument/2006/relationships/image" Target="../media/image150.png"/><Relationship Id="rId2" Type="http://schemas.openxmlformats.org/officeDocument/2006/relationships/image" Target="../media/image102.emf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0.png"/><Relationship Id="rId11" Type="http://schemas.openxmlformats.org/officeDocument/2006/relationships/image" Target="../media/image1270.png"/><Relationship Id="rId24" Type="http://schemas.openxmlformats.org/officeDocument/2006/relationships/image" Target="../media/image157.png"/><Relationship Id="rId15" Type="http://schemas.openxmlformats.org/officeDocument/2006/relationships/image" Target="../media/image148.png"/><Relationship Id="rId23" Type="http://schemas.openxmlformats.org/officeDocument/2006/relationships/image" Target="../media/image156.png"/><Relationship Id="rId10" Type="http://schemas.openxmlformats.org/officeDocument/2006/relationships/image" Target="../media/image1260.png"/><Relationship Id="rId19" Type="http://schemas.openxmlformats.org/officeDocument/2006/relationships/image" Target="../media/image152.png"/><Relationship Id="rId4" Type="http://schemas.openxmlformats.org/officeDocument/2006/relationships/image" Target="../media/image103.wmf"/><Relationship Id="rId9" Type="http://schemas.openxmlformats.org/officeDocument/2006/relationships/image" Target="../media/image1250.png"/><Relationship Id="rId14" Type="http://schemas.openxmlformats.org/officeDocument/2006/relationships/image" Target="../media/image147.png"/><Relationship Id="rId22" Type="http://schemas.openxmlformats.org/officeDocument/2006/relationships/image" Target="../media/image15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62.png"/><Relationship Id="rId18" Type="http://schemas.openxmlformats.org/officeDocument/2006/relationships/image" Target="../media/image167.png"/><Relationship Id="rId3" Type="http://schemas.openxmlformats.org/officeDocument/2006/relationships/image" Target="../media/image1111.png"/><Relationship Id="rId7" Type="http://schemas.openxmlformats.org/officeDocument/2006/relationships/image" Target="../media/image144.png"/><Relationship Id="rId12" Type="http://schemas.openxmlformats.org/officeDocument/2006/relationships/image" Target="../media/image161.png"/><Relationship Id="rId17" Type="http://schemas.openxmlformats.org/officeDocument/2006/relationships/image" Target="../media/image166.png"/><Relationship Id="rId2" Type="http://schemas.openxmlformats.org/officeDocument/2006/relationships/image" Target="../media/image1020.png"/><Relationship Id="rId16" Type="http://schemas.openxmlformats.org/officeDocument/2006/relationships/image" Target="../media/image165.png"/><Relationship Id="rId20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160.png"/><Relationship Id="rId5" Type="http://schemas.openxmlformats.org/officeDocument/2006/relationships/image" Target="../media/image133.png"/><Relationship Id="rId15" Type="http://schemas.openxmlformats.org/officeDocument/2006/relationships/image" Target="../media/image164.png"/><Relationship Id="rId10" Type="http://schemas.openxmlformats.org/officeDocument/2006/relationships/image" Target="../media/image159.png"/><Relationship Id="rId19" Type="http://schemas.openxmlformats.org/officeDocument/2006/relationships/image" Target="../media/image168.png"/><Relationship Id="rId4" Type="http://schemas.openxmlformats.org/officeDocument/2006/relationships/image" Target="../media/image1190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1.png"/><Relationship Id="rId18" Type="http://schemas.openxmlformats.org/officeDocument/2006/relationships/image" Target="../media/image186.png"/><Relationship Id="rId26" Type="http://schemas.openxmlformats.org/officeDocument/2006/relationships/image" Target="../media/image194.png"/><Relationship Id="rId3" Type="http://schemas.openxmlformats.org/officeDocument/2006/relationships/image" Target="../media/image171.png"/><Relationship Id="rId21" Type="http://schemas.openxmlformats.org/officeDocument/2006/relationships/image" Target="../media/image189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17" Type="http://schemas.openxmlformats.org/officeDocument/2006/relationships/image" Target="../media/image185.png"/><Relationship Id="rId25" Type="http://schemas.openxmlformats.org/officeDocument/2006/relationships/image" Target="../media/image193.png"/><Relationship Id="rId2" Type="http://schemas.openxmlformats.org/officeDocument/2006/relationships/image" Target="../media/image170.png"/><Relationship Id="rId16" Type="http://schemas.openxmlformats.org/officeDocument/2006/relationships/image" Target="../media/image184.png"/><Relationship Id="rId20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24" Type="http://schemas.openxmlformats.org/officeDocument/2006/relationships/image" Target="../media/image192.png"/><Relationship Id="rId5" Type="http://schemas.openxmlformats.org/officeDocument/2006/relationships/image" Target="../media/image173.png"/><Relationship Id="rId15" Type="http://schemas.openxmlformats.org/officeDocument/2006/relationships/image" Target="../media/image183.png"/><Relationship Id="rId23" Type="http://schemas.openxmlformats.org/officeDocument/2006/relationships/image" Target="../media/image191.png"/><Relationship Id="rId10" Type="http://schemas.openxmlformats.org/officeDocument/2006/relationships/image" Target="../media/image178.png"/><Relationship Id="rId19" Type="http://schemas.openxmlformats.org/officeDocument/2006/relationships/image" Target="../media/image187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Relationship Id="rId14" Type="http://schemas.openxmlformats.org/officeDocument/2006/relationships/image" Target="../media/image182.png"/><Relationship Id="rId22" Type="http://schemas.openxmlformats.org/officeDocument/2006/relationships/image" Target="../media/image19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png"/><Relationship Id="rId13" Type="http://schemas.openxmlformats.org/officeDocument/2006/relationships/image" Target="../media/image206.png"/><Relationship Id="rId18" Type="http://schemas.openxmlformats.org/officeDocument/2006/relationships/image" Target="../media/image211.png"/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12" Type="http://schemas.openxmlformats.org/officeDocument/2006/relationships/image" Target="../media/image205.png"/><Relationship Id="rId17" Type="http://schemas.openxmlformats.org/officeDocument/2006/relationships/image" Target="../media/image210.png"/><Relationship Id="rId2" Type="http://schemas.openxmlformats.org/officeDocument/2006/relationships/image" Target="../media/image195.png"/><Relationship Id="rId16" Type="http://schemas.openxmlformats.org/officeDocument/2006/relationships/image" Target="../media/image209.png"/><Relationship Id="rId20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11" Type="http://schemas.openxmlformats.org/officeDocument/2006/relationships/image" Target="../media/image204.png"/><Relationship Id="rId5" Type="http://schemas.openxmlformats.org/officeDocument/2006/relationships/image" Target="../media/image198.png"/><Relationship Id="rId15" Type="http://schemas.openxmlformats.org/officeDocument/2006/relationships/image" Target="../media/image208.png"/><Relationship Id="rId10" Type="http://schemas.openxmlformats.org/officeDocument/2006/relationships/image" Target="../media/image203.png"/><Relationship Id="rId19" Type="http://schemas.openxmlformats.org/officeDocument/2006/relationships/image" Target="../media/image212.png"/><Relationship Id="rId4" Type="http://schemas.openxmlformats.org/officeDocument/2006/relationships/image" Target="../media/image197.png"/><Relationship Id="rId9" Type="http://schemas.openxmlformats.org/officeDocument/2006/relationships/image" Target="../media/image202.png"/><Relationship Id="rId14" Type="http://schemas.openxmlformats.org/officeDocument/2006/relationships/image" Target="../media/image20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25.png"/><Relationship Id="rId18" Type="http://schemas.openxmlformats.org/officeDocument/2006/relationships/image" Target="../media/image230.png"/><Relationship Id="rId3" Type="http://schemas.openxmlformats.org/officeDocument/2006/relationships/image" Target="../media/image215.png"/><Relationship Id="rId7" Type="http://schemas.openxmlformats.org/officeDocument/2006/relationships/image" Target="../media/image219.png"/><Relationship Id="rId12" Type="http://schemas.openxmlformats.org/officeDocument/2006/relationships/image" Target="../media/image224.png"/><Relationship Id="rId17" Type="http://schemas.openxmlformats.org/officeDocument/2006/relationships/image" Target="../media/image229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8.png"/><Relationship Id="rId11" Type="http://schemas.openxmlformats.org/officeDocument/2006/relationships/image" Target="../media/image223.png"/><Relationship Id="rId5" Type="http://schemas.openxmlformats.org/officeDocument/2006/relationships/image" Target="../media/image217.png"/><Relationship Id="rId15" Type="http://schemas.openxmlformats.org/officeDocument/2006/relationships/image" Target="../media/image227.png"/><Relationship Id="rId10" Type="http://schemas.openxmlformats.org/officeDocument/2006/relationships/image" Target="../media/image222.png"/><Relationship Id="rId4" Type="http://schemas.openxmlformats.org/officeDocument/2006/relationships/image" Target="../media/image216.png"/><Relationship Id="rId9" Type="http://schemas.openxmlformats.org/officeDocument/2006/relationships/image" Target="../media/image221.png"/><Relationship Id="rId14" Type="http://schemas.openxmlformats.org/officeDocument/2006/relationships/image" Target="../media/image22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13" Type="http://schemas.openxmlformats.org/officeDocument/2006/relationships/image" Target="../media/image240.png"/><Relationship Id="rId3" Type="http://schemas.openxmlformats.org/officeDocument/2006/relationships/image" Target="../media/image228.png"/><Relationship Id="rId7" Type="http://schemas.openxmlformats.org/officeDocument/2006/relationships/image" Target="../media/image234.png"/><Relationship Id="rId12" Type="http://schemas.openxmlformats.org/officeDocument/2006/relationships/image" Target="../media/image239.png"/><Relationship Id="rId2" Type="http://schemas.openxmlformats.org/officeDocument/2006/relationships/image" Target="../media/image2270.png"/><Relationship Id="rId16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png"/><Relationship Id="rId11" Type="http://schemas.openxmlformats.org/officeDocument/2006/relationships/image" Target="../media/image238.png"/><Relationship Id="rId5" Type="http://schemas.openxmlformats.org/officeDocument/2006/relationships/image" Target="../media/image232.png"/><Relationship Id="rId15" Type="http://schemas.openxmlformats.org/officeDocument/2006/relationships/image" Target="../media/image242.png"/><Relationship Id="rId10" Type="http://schemas.openxmlformats.org/officeDocument/2006/relationships/image" Target="../media/image237.png"/><Relationship Id="rId4" Type="http://schemas.openxmlformats.org/officeDocument/2006/relationships/image" Target="../media/image231.png"/><Relationship Id="rId9" Type="http://schemas.openxmlformats.org/officeDocument/2006/relationships/image" Target="../media/image236.png"/><Relationship Id="rId14" Type="http://schemas.openxmlformats.org/officeDocument/2006/relationships/image" Target="../media/image2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0.png"/><Relationship Id="rId3" Type="http://schemas.openxmlformats.org/officeDocument/2006/relationships/image" Target="../media/image1210.png"/><Relationship Id="rId7" Type="http://schemas.openxmlformats.org/officeDocument/2006/relationships/image" Target="../media/image1320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0.png"/><Relationship Id="rId11" Type="http://schemas.openxmlformats.org/officeDocument/2006/relationships/image" Target="../media/image1350.emf"/><Relationship Id="rId5" Type="http://schemas.openxmlformats.org/officeDocument/2006/relationships/image" Target="../media/image1300.png"/><Relationship Id="rId10" Type="http://schemas.openxmlformats.org/officeDocument/2006/relationships/customXml" Target="../ink/ink1.xml"/><Relationship Id="rId4" Type="http://schemas.openxmlformats.org/officeDocument/2006/relationships/image" Target="../media/image1290.png"/><Relationship Id="rId9" Type="http://schemas.openxmlformats.org/officeDocument/2006/relationships/image" Target="../media/image13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0.png"/><Relationship Id="rId2" Type="http://schemas.openxmlformats.org/officeDocument/2006/relationships/image" Target="../media/image13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81001"/>
            <a:ext cx="8940800" cy="563563"/>
          </a:xfrm>
        </p:spPr>
        <p:txBody>
          <a:bodyPr/>
          <a:lstStyle/>
          <a:p>
            <a:pPr algn="l"/>
            <a:r>
              <a:rPr lang="en-US" dirty="0"/>
              <a:t>                                     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199" y="1437936"/>
            <a:ext cx="2817091" cy="2640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3271" y="4460416"/>
            <a:ext cx="2864587" cy="2046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972" y="37761"/>
            <a:ext cx="1803400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021" y="4460416"/>
            <a:ext cx="6005285" cy="160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646863" y="4078084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Drs. PAIYO SADEWO</a:t>
            </a:r>
          </a:p>
        </p:txBody>
      </p:sp>
      <p:pic>
        <p:nvPicPr>
          <p:cNvPr id="1034" name="Picture 10" descr="E:\2. POTO KENANGAN KELUARGA  PAIYO SADEWO  BIN SOMOPAWIRO\POTO SIAP CETAK\IMG20211218090058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769" y="1437936"/>
            <a:ext cx="1605745" cy="2516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E:\2. POTO KENANGAN KELUARGA  PAIYO SADEWO  BIN SOMOPAWIRO\POTO SIAP CETAK\IMG2021121809032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0327" y="1459437"/>
            <a:ext cx="1605745" cy="249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E:\2. POTO KENANGAN KELUARGA  PAIYO SADEWO  BIN SOMOPAWIRO\DOKUMEN PRIBADI KLUARGA PAIYO SADEWO\1. POTO SLIP PAJAK TANAH  DAN BANGUNAN RUMAH\POTO KONDISI RUMAH TH 2018\IMG_20180819_101202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2" r="10885"/>
          <a:stretch/>
        </p:blipFill>
        <p:spPr bwMode="auto">
          <a:xfrm>
            <a:off x="0" y="4460416"/>
            <a:ext cx="2852057" cy="195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92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55381" y="108152"/>
            <a:ext cx="10874659" cy="1071570"/>
          </a:xfrm>
        </p:spPr>
        <p:txBody>
          <a:bodyPr/>
          <a:lstStyle/>
          <a:p>
            <a:pPr algn="ctr"/>
            <a:r>
              <a:rPr lang="en-US" sz="3600" dirty="0"/>
              <a:t>SELAMAT  DATANG </a:t>
            </a:r>
            <a:br>
              <a:rPr lang="en-US" sz="3600" dirty="0"/>
            </a:br>
            <a:r>
              <a:rPr lang="en-US" sz="3600" dirty="0"/>
              <a:t>DI RUANG BELAJAR MANDIRI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381227" y="1905000"/>
            <a:ext cx="6966084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000000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SMP KELAS IX SEMESTER </a:t>
            </a:r>
            <a:r>
              <a:rPr kumimoji="0" lang="id-ID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1969253" y="2639962"/>
            <a:ext cx="7789944" cy="1063326"/>
            <a:chOff x="2643174" y="2617780"/>
            <a:chExt cx="2020888" cy="1636713"/>
          </a:xfrm>
        </p:grpSpPr>
        <p:sp>
          <p:nvSpPr>
            <p:cNvPr id="8" name="Oval 10"/>
            <p:cNvSpPr>
              <a:spLocks noChangeArrowheads="1"/>
            </p:cNvSpPr>
            <p:nvPr/>
          </p:nvSpPr>
          <p:spPr bwMode="gray">
            <a:xfrm>
              <a:off x="2643174" y="2914143"/>
              <a:ext cx="71451" cy="1047158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tint val="0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gray">
            <a:xfrm>
              <a:off x="2643174" y="2914143"/>
              <a:ext cx="71451" cy="1047158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alpha val="32001"/>
                  </a:schemeClr>
                </a:gs>
                <a:gs pos="100000">
                  <a:schemeClr val="folHlink">
                    <a:gamma/>
                    <a:shade val="0"/>
                    <a:invGamma/>
                    <a:alpha val="89999"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gray">
            <a:xfrm>
              <a:off x="2784462" y="2914145"/>
              <a:ext cx="1878012" cy="1047158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shade val="54118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Oval 13"/>
            <p:cNvSpPr>
              <a:spLocks noChangeArrowheads="1"/>
            </p:cNvSpPr>
            <p:nvPr/>
          </p:nvSpPr>
          <p:spPr bwMode="gray">
            <a:xfrm>
              <a:off x="2786049" y="2917320"/>
              <a:ext cx="1878013" cy="1047158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shade val="63529"/>
                    <a:invGamma/>
                  </a:schemeClr>
                </a:gs>
                <a:gs pos="100000">
                  <a:schemeClr val="folHlink">
                    <a:alpha val="0"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Oval 14"/>
            <p:cNvSpPr>
              <a:spLocks noChangeArrowheads="1"/>
            </p:cNvSpPr>
            <p:nvPr/>
          </p:nvSpPr>
          <p:spPr bwMode="gray">
            <a:xfrm>
              <a:off x="2878124" y="2914145"/>
              <a:ext cx="1690688" cy="1047158"/>
            </a:xfrm>
            <a:prstGeom prst="ellipse">
              <a:avLst/>
            </a:prstGeom>
            <a:solidFill>
              <a:srgbClr val="333333"/>
            </a:soli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" name="Group 15"/>
            <p:cNvGrpSpPr>
              <a:grpSpLocks/>
            </p:cNvGrpSpPr>
            <p:nvPr/>
          </p:nvGrpSpPr>
          <p:grpSpPr bwMode="auto">
            <a:xfrm>
              <a:off x="2905112" y="2617780"/>
              <a:ext cx="1636712" cy="1636713"/>
              <a:chOff x="4166" y="1706"/>
              <a:chExt cx="1252" cy="1252"/>
            </a:xfrm>
          </p:grpSpPr>
          <p:sp>
            <p:nvSpPr>
              <p:cNvPr id="15" name="Oval 16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" name="Oval 17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Oval 18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" name="Oval 19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4" name="Text Box 38"/>
            <p:cNvSpPr txBox="1">
              <a:spLocks noChangeArrowheads="1"/>
            </p:cNvSpPr>
            <p:nvPr/>
          </p:nvSpPr>
          <p:spPr bwMode="gray">
            <a:xfrm>
              <a:off x="2925709" y="2783094"/>
              <a:ext cx="1552923" cy="130318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balanced" dir="t">
                  <a:rot lat="0" lon="0" rev="2100000"/>
                </a:lightRig>
              </a:scene3d>
              <a:sp3d extrusionH="57150" prstMaterial="metal">
                <a:bevelT w="38100" h="25400"/>
                <a:contourClr>
                  <a:schemeClr val="bg2"/>
                </a:contourClr>
              </a:sp3d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 w="50800"/>
                  <a:solidFill>
                    <a:srgbClr val="0A2068">
                      <a:shade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BAB </a:t>
              </a:r>
              <a:r>
                <a:rPr kumimoji="0" lang="id-ID" sz="1800" b="1" i="0" u="none" strike="noStrike" kern="1200" cap="none" spc="0" normalizeH="0" baseline="0" noProof="0" dirty="0">
                  <a:ln w="50800"/>
                  <a:solidFill>
                    <a:srgbClr val="0A2068">
                      <a:shade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  <a:endParaRPr kumimoji="0" lang="en-US" sz="1800" b="1" i="0" u="none" strike="noStrike" kern="1200" cap="none" spc="0" normalizeH="0" baseline="0" noProof="0" dirty="0">
                <a:ln w="50800"/>
                <a:solidFill>
                  <a:srgbClr val="0A2068">
                    <a:shade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800" b="1" i="0" u="none" strike="noStrike" kern="1200" cap="none" spc="0" normalizeH="0" baseline="0" noProof="0" dirty="0">
                  <a:ln w="50800"/>
                  <a:solidFill>
                    <a:srgbClr val="0A2068">
                      <a:shade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BILANGAN BERPANGKAT DAN BENTUK AKAR</a:t>
              </a:r>
              <a:endParaRPr kumimoji="0" lang="en-US" sz="2800" b="1" i="0" u="none" strike="noStrike" kern="1200" cap="none" spc="0" normalizeH="0" baseline="0" noProof="0" dirty="0">
                <a:ln w="50800"/>
                <a:solidFill>
                  <a:srgbClr val="0A2068">
                    <a:shade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9" name="Freeform 23"/>
          <p:cNvSpPr>
            <a:spLocks/>
          </p:cNvSpPr>
          <p:nvPr/>
        </p:nvSpPr>
        <p:spPr bwMode="gray">
          <a:xfrm rot="21010541">
            <a:off x="3806021" y="3247286"/>
            <a:ext cx="910565" cy="785487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Freeform 25"/>
          <p:cNvSpPr>
            <a:spLocks/>
          </p:cNvSpPr>
          <p:nvPr/>
        </p:nvSpPr>
        <p:spPr bwMode="gray">
          <a:xfrm flipH="1">
            <a:off x="7322764" y="3269474"/>
            <a:ext cx="1256613" cy="942891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Box 22">
            <a:hlinkClick r:id="" action="ppaction://noaction"/>
          </p:cNvPr>
          <p:cNvSpPr txBox="1">
            <a:spLocks noChangeArrowheads="1"/>
          </p:cNvSpPr>
          <p:nvPr/>
        </p:nvSpPr>
        <p:spPr bwMode="gray">
          <a:xfrm>
            <a:off x="266609" y="2949525"/>
            <a:ext cx="1810888" cy="369332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PETA KONSEP</a:t>
            </a:r>
          </a:p>
        </p:txBody>
      </p:sp>
      <p:sp>
        <p:nvSpPr>
          <p:cNvPr id="36" name="AutoShape 22"/>
          <p:cNvSpPr>
            <a:spLocks noChangeArrowheads="1"/>
          </p:cNvSpPr>
          <p:nvPr/>
        </p:nvSpPr>
        <p:spPr bwMode="invGray">
          <a:xfrm>
            <a:off x="5530847" y="3375456"/>
            <a:ext cx="666756" cy="510744"/>
          </a:xfrm>
          <a:prstGeom prst="downArrow">
            <a:avLst>
              <a:gd name="adj1" fmla="val 67093"/>
              <a:gd name="adj2" fmla="val 64051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050" name="Picture 2" descr="G:\Gambar Animasi\bumi_rotasi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63240" y="142852"/>
            <a:ext cx="1428760" cy="10001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259705" y="1199106"/>
            <a:ext cx="6908800" cy="962603"/>
          </a:xfrm>
        </p:spPr>
        <p:txBody>
          <a:bodyPr/>
          <a:lstStyle/>
          <a:p>
            <a:pPr algn="ctr"/>
            <a:r>
              <a:rPr lang="en-US" dirty="0"/>
              <a:t>“</a:t>
            </a:r>
            <a:r>
              <a:rPr lang="en-US" dirty="0">
                <a:latin typeface="Lucida Calligraphy" panose="03010101010101010101" pitchFamily="66" charset="0"/>
              </a:rPr>
              <a:t>AAAMAT“ PAIYO</a:t>
            </a:r>
          </a:p>
          <a:p>
            <a:pPr algn="ctr"/>
            <a:r>
              <a:rPr lang="en-US" dirty="0">
                <a:latin typeface="Lucida Calligraphy" panose="03010101010101010101" pitchFamily="66" charset="0"/>
              </a:rPr>
              <a:t>ASAH ASIH ASUH MATEMAT</a:t>
            </a:r>
            <a:r>
              <a:rPr lang="en-US" dirty="0"/>
              <a:t>IKA</a:t>
            </a:r>
          </a:p>
        </p:txBody>
      </p:sp>
      <p:sp>
        <p:nvSpPr>
          <p:cNvPr id="42" name="TextBox 41">
            <a:hlinkClick r:id="rId3" action="ppaction://hlinksldjump"/>
          </p:cNvPr>
          <p:cNvSpPr txBox="1"/>
          <p:nvPr/>
        </p:nvSpPr>
        <p:spPr>
          <a:xfrm>
            <a:off x="266609" y="6488668"/>
            <a:ext cx="3613101" cy="36933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TUGAS MANDIRI  1</a:t>
            </a:r>
          </a:p>
        </p:txBody>
      </p:sp>
      <p:pic>
        <p:nvPicPr>
          <p:cNvPr id="168" name="Picture 10" descr="D:\2. PERANGKAT MENGAJAR KUR 2013 PAIYO\BAHAN ANIMASI MEMBUAT PEMBELAJARAN PPT\Gambar Animasi untuk PPT\anibird2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634" y="1738636"/>
            <a:ext cx="16510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Picture 11" descr="D:\2. PERANGKAT MENGAJAR KUR 2013 PAIYO\BAHAN ANIMASI MEMBUAT PEMBELAJARAN PPT\Gambar Animasi untuk PPT\anibird3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301" y="1630607"/>
            <a:ext cx="16510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3" name="TextBox 172">
            <a:hlinkClick r:id="rId6" action="ppaction://hlinksldjump"/>
          </p:cNvPr>
          <p:cNvSpPr txBox="1"/>
          <p:nvPr/>
        </p:nvSpPr>
        <p:spPr>
          <a:xfrm>
            <a:off x="4340673" y="6400804"/>
            <a:ext cx="3149600" cy="40011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“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 PAIYO SADEWO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“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4" name="TextBox 173">
            <a:hlinkClick r:id="" action="ppaction://noaction"/>
          </p:cNvPr>
          <p:cNvSpPr txBox="1"/>
          <p:nvPr/>
        </p:nvSpPr>
        <p:spPr>
          <a:xfrm>
            <a:off x="8128000" y="6488668"/>
            <a:ext cx="3395821" cy="36933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TUGAS MANDIRI  4</a:t>
            </a:r>
          </a:p>
        </p:txBody>
      </p:sp>
      <p:pic>
        <p:nvPicPr>
          <p:cNvPr id="179" name="Picture 17" descr="D:\2. PERANGKAT MENGAJAR KUR 2013 PAIYO\BAHAN ANIMASI MEMBUAT PEMBELAJARAN PPT\Gambar Animasi untuk PPT\aniearth.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62944"/>
            <a:ext cx="1429467" cy="98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hlinkClick r:id="rId8" action="ppaction://hlinksldjump"/>
          </p:cNvPr>
          <p:cNvSpPr txBox="1"/>
          <p:nvPr/>
        </p:nvSpPr>
        <p:spPr>
          <a:xfrm>
            <a:off x="10559892" y="1286933"/>
            <a:ext cx="1651000" cy="6463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TUJUAN</a:t>
            </a:r>
          </a:p>
        </p:txBody>
      </p:sp>
      <p:sp>
        <p:nvSpPr>
          <p:cNvPr id="7" name="TextBox 6">
            <a:hlinkClick r:id="" action="ppaction://noaction"/>
          </p:cNvPr>
          <p:cNvSpPr txBox="1"/>
          <p:nvPr/>
        </p:nvSpPr>
        <p:spPr>
          <a:xfrm rot="16200000">
            <a:off x="5638148" y="3346323"/>
            <a:ext cx="461665" cy="163516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vert="vert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PENILAIAN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7" name="Picture 19" descr="D:\2. PERANGKAT MENGAJAR KUR 2013 PAIYO\BAHAN ANIMASI MEMBUAT PEMBELAJARAN PPT\Gambar Animasi untuk PPT\Animated%20computer.gif">
            <a:extLst>
              <a:ext uri="{FF2B5EF4-FFF2-40B4-BE49-F238E27FC236}">
                <a16:creationId xmlns:a16="http://schemas.microsoft.com/office/drawing/2014/main" id="{438C34F8-A2EE-CC2C-5B94-E395AE7FF63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611" y="4567988"/>
            <a:ext cx="2379154" cy="1634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">
            <a:extLst>
              <a:ext uri="{FF2B5EF4-FFF2-40B4-BE49-F238E27FC236}">
                <a16:creationId xmlns:a16="http://schemas.microsoft.com/office/drawing/2014/main" id="{32EC550F-B9A6-84DF-0CE8-4C1B41D3DE7F}"/>
              </a:ext>
            </a:extLst>
          </p:cNvPr>
          <p:cNvSpPr txBox="1"/>
          <p:nvPr/>
        </p:nvSpPr>
        <p:spPr>
          <a:xfrm>
            <a:off x="466788" y="3651826"/>
            <a:ext cx="329668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</a:t>
            </a: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BILANGAN BERPANGKAT</a:t>
            </a: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91DBB3F1-39CC-D245-DA26-9E279DA6C4AD}"/>
              </a:ext>
            </a:extLst>
          </p:cNvPr>
          <p:cNvSpPr txBox="1"/>
          <p:nvPr/>
        </p:nvSpPr>
        <p:spPr>
          <a:xfrm>
            <a:off x="8811898" y="3652958"/>
            <a:ext cx="2183333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</a:t>
            </a: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BENTUK AKAR</a:t>
            </a:r>
          </a:p>
        </p:txBody>
      </p:sp>
      <p:sp>
        <p:nvSpPr>
          <p:cNvPr id="30" name="TextBox 2">
            <a:extLst>
              <a:ext uri="{FF2B5EF4-FFF2-40B4-BE49-F238E27FC236}">
                <a16:creationId xmlns:a16="http://schemas.microsoft.com/office/drawing/2014/main" id="{771A09B3-DAE7-969D-9F2E-567FEB63B3C9}"/>
              </a:ext>
            </a:extLst>
          </p:cNvPr>
          <p:cNvSpPr txBox="1"/>
          <p:nvPr/>
        </p:nvSpPr>
        <p:spPr>
          <a:xfrm>
            <a:off x="135988" y="4109022"/>
            <a:ext cx="456816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1.1  KONSEP BILANGAN BERPANGKAT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A206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Box 2">
            <a:extLst>
              <a:ext uri="{FF2B5EF4-FFF2-40B4-BE49-F238E27FC236}">
                <a16:creationId xmlns:a16="http://schemas.microsoft.com/office/drawing/2014/main" id="{5C4EF663-F6CA-ED8C-A03D-5CCBD24DCB25}"/>
              </a:ext>
            </a:extLst>
          </p:cNvPr>
          <p:cNvSpPr txBox="1"/>
          <p:nvPr/>
        </p:nvSpPr>
        <p:spPr>
          <a:xfrm>
            <a:off x="139612" y="4569404"/>
            <a:ext cx="4568160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1.2  OPERASI BILANGAN BERPANGKAT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1.2.1 PERKALIAN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1.2.2 PEMBAGIAN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1.2.3 OPERASI CAMPURAN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A206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Box 2">
            <a:extLst>
              <a:ext uri="{FF2B5EF4-FFF2-40B4-BE49-F238E27FC236}">
                <a16:creationId xmlns:a16="http://schemas.microsoft.com/office/drawing/2014/main" id="{1A199B44-0276-3BEE-E470-66213FAD7B73}"/>
              </a:ext>
            </a:extLst>
          </p:cNvPr>
          <p:cNvSpPr txBox="1"/>
          <p:nvPr/>
        </p:nvSpPr>
        <p:spPr>
          <a:xfrm>
            <a:off x="131567" y="5839090"/>
            <a:ext cx="456816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1.3  PENERAPAN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A206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Box 2">
            <a:extLst>
              <a:ext uri="{FF2B5EF4-FFF2-40B4-BE49-F238E27FC236}">
                <a16:creationId xmlns:a16="http://schemas.microsoft.com/office/drawing/2014/main" id="{1794FFF0-E3E4-574A-3BFD-D16E7B10CE42}"/>
              </a:ext>
            </a:extLst>
          </p:cNvPr>
          <p:cNvSpPr txBox="1"/>
          <p:nvPr/>
        </p:nvSpPr>
        <p:spPr>
          <a:xfrm>
            <a:off x="7463045" y="4197949"/>
            <a:ext cx="4389534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1.1  KONSEP BENTUK AKAR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A206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Box 2">
            <a:extLst>
              <a:ext uri="{FF2B5EF4-FFF2-40B4-BE49-F238E27FC236}">
                <a16:creationId xmlns:a16="http://schemas.microsoft.com/office/drawing/2014/main" id="{02365AF6-F998-2AE8-C6AB-8A161604EC98}"/>
              </a:ext>
            </a:extLst>
          </p:cNvPr>
          <p:cNvSpPr txBox="1"/>
          <p:nvPr/>
        </p:nvSpPr>
        <p:spPr>
          <a:xfrm>
            <a:off x="7466668" y="4658331"/>
            <a:ext cx="4385911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1.2  OPERASI BENTUK AKAR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1.2.1 MENYEDERHANAKAN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</a:t>
            </a: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1.2.2 PENJUMLAHAN PENGURANGAN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0A206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1.2.3 MERASIONALKAN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A206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Box 5">
            <a:hlinkClick r:id="rId8" action="ppaction://hlinksldjump"/>
            <a:extLst>
              <a:ext uri="{FF2B5EF4-FFF2-40B4-BE49-F238E27FC236}">
                <a16:creationId xmlns:a16="http://schemas.microsoft.com/office/drawing/2014/main" id="{794EB697-5343-E886-57B7-5F9E78400A1D}"/>
              </a:ext>
            </a:extLst>
          </p:cNvPr>
          <p:cNvSpPr txBox="1"/>
          <p:nvPr/>
        </p:nvSpPr>
        <p:spPr>
          <a:xfrm>
            <a:off x="0" y="1533234"/>
            <a:ext cx="2844689" cy="3385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“</a:t>
            </a: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 PROFIL PENULIS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“ 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2850271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07323" y="679938"/>
            <a:ext cx="6236677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BAB 1  BILANGAN BERPANGKAT DAN BENTUK AKAR</a:t>
            </a:r>
          </a:p>
        </p:txBody>
      </p:sp>
      <p:sp>
        <p:nvSpPr>
          <p:cNvPr id="2" name="Kotak Teks 1">
            <a:extLst>
              <a:ext uri="{FF2B5EF4-FFF2-40B4-BE49-F238E27FC236}">
                <a16:creationId xmlns:a16="http://schemas.microsoft.com/office/drawing/2014/main" id="{AF2F7740-7203-8154-2D2C-2EB142ACD48E}"/>
              </a:ext>
            </a:extLst>
          </p:cNvPr>
          <p:cNvSpPr txBox="1"/>
          <p:nvPr/>
        </p:nvSpPr>
        <p:spPr>
          <a:xfrm>
            <a:off x="713010" y="1114451"/>
            <a:ext cx="11360170" cy="149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Kompetensi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Dasar :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marR="0" lvl="0" indent="-27051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3.1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Menjelaskan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melakukan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operasi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berpangkat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rasional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sifat-sifatnya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marR="0" lvl="0" indent="-27051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4.1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Menyelesaikan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berkaitan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sifat-sifat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operasi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berpangkat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bulat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akar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Kotak Teks 4">
            <a:extLst>
              <a:ext uri="{FF2B5EF4-FFF2-40B4-BE49-F238E27FC236}">
                <a16:creationId xmlns:a16="http://schemas.microsoft.com/office/drawing/2014/main" id="{1D8EA8B2-762E-FD8D-8830-7B4D6B23BDF1}"/>
              </a:ext>
            </a:extLst>
          </p:cNvPr>
          <p:cNvSpPr txBox="1"/>
          <p:nvPr/>
        </p:nvSpPr>
        <p:spPr>
          <a:xfrm>
            <a:off x="713010" y="2679211"/>
            <a:ext cx="11360170" cy="149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Tujuan Pencapaian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marR="0" lvl="0" indent="-27051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3.1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Menjelaskan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melakukan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operasi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berpangkat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rasional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sifat-sifatnya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marR="0" lvl="0" indent="-27051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4.1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Menyelesaikan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berkaitan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sifat-sifat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operasi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berpangkat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bulat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akar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479;p60"/>
          <p:cNvGrpSpPr/>
          <p:nvPr/>
        </p:nvGrpSpPr>
        <p:grpSpPr>
          <a:xfrm>
            <a:off x="9850381" y="5163610"/>
            <a:ext cx="1283897" cy="1640798"/>
            <a:chOff x="8046800" y="3388588"/>
            <a:chExt cx="1022075" cy="1228875"/>
          </a:xfrm>
        </p:grpSpPr>
        <p:sp>
          <p:nvSpPr>
            <p:cNvPr id="13" name="Google Shape;1480;p60"/>
            <p:cNvSpPr/>
            <p:nvPr/>
          </p:nvSpPr>
          <p:spPr>
            <a:xfrm>
              <a:off x="8127350" y="3388613"/>
              <a:ext cx="929350" cy="1148550"/>
            </a:xfrm>
            <a:custGeom>
              <a:avLst/>
              <a:gdLst/>
              <a:ahLst/>
              <a:cxnLst/>
              <a:rect l="l" t="t" r="r" b="b"/>
              <a:pathLst>
                <a:path w="37174" h="45942" extrusionOk="0">
                  <a:moveTo>
                    <a:pt x="6991" y="0"/>
                  </a:moveTo>
                  <a:lnTo>
                    <a:pt x="0" y="43618"/>
                  </a:lnTo>
                  <a:lnTo>
                    <a:pt x="25563" y="45928"/>
                  </a:lnTo>
                  <a:cubicBezTo>
                    <a:pt x="25655" y="45937"/>
                    <a:pt x="25747" y="45941"/>
                    <a:pt x="25838" y="45941"/>
                  </a:cubicBezTo>
                  <a:cubicBezTo>
                    <a:pt x="27289" y="45941"/>
                    <a:pt x="28653" y="44831"/>
                    <a:pt x="28967" y="43344"/>
                  </a:cubicBezTo>
                  <a:lnTo>
                    <a:pt x="36840" y="5866"/>
                  </a:lnTo>
                  <a:cubicBezTo>
                    <a:pt x="37174" y="4286"/>
                    <a:pt x="36171" y="2888"/>
                    <a:pt x="34621" y="2766"/>
                  </a:cubicBezTo>
                  <a:lnTo>
                    <a:pt x="6991" y="0"/>
                  </a:lnTo>
                  <a:close/>
                </a:path>
              </a:pathLst>
            </a:custGeom>
            <a:solidFill>
              <a:srgbClr val="FFBBBB"/>
            </a:solidFill>
            <a:ln w="28575" cap="flat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14" name="Google Shape;1481;p60"/>
            <p:cNvSpPr/>
            <p:nvPr/>
          </p:nvSpPr>
          <p:spPr>
            <a:xfrm>
              <a:off x="8127350" y="3400013"/>
              <a:ext cx="941525" cy="1217450"/>
            </a:xfrm>
            <a:custGeom>
              <a:avLst/>
              <a:gdLst/>
              <a:ahLst/>
              <a:cxnLst/>
              <a:rect l="l" t="t" r="r" b="b"/>
              <a:pathLst>
                <a:path w="37661" h="48698" extrusionOk="0">
                  <a:moveTo>
                    <a:pt x="9058" y="0"/>
                  </a:moveTo>
                  <a:lnTo>
                    <a:pt x="0" y="43162"/>
                  </a:lnTo>
                  <a:lnTo>
                    <a:pt x="25988" y="48633"/>
                  </a:lnTo>
                  <a:cubicBezTo>
                    <a:pt x="26194" y="48676"/>
                    <a:pt x="26398" y="48697"/>
                    <a:pt x="26600" y="48697"/>
                  </a:cubicBezTo>
                  <a:cubicBezTo>
                    <a:pt x="27951" y="48697"/>
                    <a:pt x="29163" y="47759"/>
                    <a:pt x="29453" y="46384"/>
                  </a:cubicBezTo>
                  <a:lnTo>
                    <a:pt x="37326" y="8906"/>
                  </a:lnTo>
                  <a:cubicBezTo>
                    <a:pt x="37660" y="7325"/>
                    <a:pt x="36627" y="5775"/>
                    <a:pt x="35077" y="5471"/>
                  </a:cubicBezTo>
                  <a:lnTo>
                    <a:pt x="9058" y="0"/>
                  </a:lnTo>
                  <a:close/>
                </a:path>
              </a:pathLst>
            </a:custGeom>
            <a:solidFill>
              <a:srgbClr val="FFD378"/>
            </a:solidFill>
            <a:ln w="28575" cap="flat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15" name="Google Shape;1482;p60"/>
            <p:cNvSpPr/>
            <p:nvPr/>
          </p:nvSpPr>
          <p:spPr>
            <a:xfrm>
              <a:off x="8046800" y="3388588"/>
              <a:ext cx="307000" cy="1090475"/>
            </a:xfrm>
            <a:custGeom>
              <a:avLst/>
              <a:gdLst/>
              <a:ahLst/>
              <a:cxnLst/>
              <a:rect l="l" t="t" r="r" b="b"/>
              <a:pathLst>
                <a:path w="12280" h="43619" extrusionOk="0">
                  <a:moveTo>
                    <a:pt x="9929" y="1"/>
                  </a:moveTo>
                  <a:cubicBezTo>
                    <a:pt x="9334" y="1"/>
                    <a:pt x="8794" y="404"/>
                    <a:pt x="8663" y="1035"/>
                  </a:cubicBezTo>
                  <a:lnTo>
                    <a:pt x="152" y="41643"/>
                  </a:lnTo>
                  <a:cubicBezTo>
                    <a:pt x="0" y="42342"/>
                    <a:pt x="456" y="43041"/>
                    <a:pt x="1155" y="43193"/>
                  </a:cubicBezTo>
                  <a:lnTo>
                    <a:pt x="3222" y="43619"/>
                  </a:lnTo>
                  <a:lnTo>
                    <a:pt x="12280" y="457"/>
                  </a:lnTo>
                  <a:lnTo>
                    <a:pt x="10213" y="32"/>
                  </a:lnTo>
                  <a:cubicBezTo>
                    <a:pt x="10118" y="11"/>
                    <a:pt x="10023" y="1"/>
                    <a:pt x="9929" y="1"/>
                  </a:cubicBezTo>
                  <a:close/>
                </a:path>
              </a:pathLst>
            </a:custGeom>
            <a:solidFill>
              <a:srgbClr val="FFBBBB"/>
            </a:solidFill>
            <a:ln w="28575" cap="flat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16" name="Google Shape;1483;p60"/>
            <p:cNvSpPr/>
            <p:nvPr/>
          </p:nvSpPr>
          <p:spPr>
            <a:xfrm>
              <a:off x="8404700" y="3717638"/>
              <a:ext cx="476475" cy="195325"/>
            </a:xfrm>
            <a:custGeom>
              <a:avLst/>
              <a:gdLst/>
              <a:ahLst/>
              <a:cxnLst/>
              <a:rect l="l" t="t" r="r" b="b"/>
              <a:pathLst>
                <a:path w="19059" h="7813" extrusionOk="0">
                  <a:moveTo>
                    <a:pt x="852" y="0"/>
                  </a:moveTo>
                  <a:lnTo>
                    <a:pt x="0" y="4013"/>
                  </a:lnTo>
                  <a:lnTo>
                    <a:pt x="18208" y="7812"/>
                  </a:lnTo>
                  <a:lnTo>
                    <a:pt x="19059" y="3830"/>
                  </a:lnTo>
                  <a:lnTo>
                    <a:pt x="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17" name="Google Shape;1484;p60"/>
            <p:cNvSpPr/>
            <p:nvPr/>
          </p:nvSpPr>
          <p:spPr>
            <a:xfrm>
              <a:off x="8397100" y="4140138"/>
              <a:ext cx="337425" cy="86650"/>
            </a:xfrm>
            <a:custGeom>
              <a:avLst/>
              <a:gdLst/>
              <a:ahLst/>
              <a:cxnLst/>
              <a:rect l="l" t="t" r="r" b="b"/>
              <a:pathLst>
                <a:path w="13497" h="3466" extrusionOk="0">
                  <a:moveTo>
                    <a:pt x="122" y="0"/>
                  </a:moveTo>
                  <a:lnTo>
                    <a:pt x="1" y="639"/>
                  </a:lnTo>
                  <a:lnTo>
                    <a:pt x="13344" y="3465"/>
                  </a:lnTo>
                  <a:lnTo>
                    <a:pt x="13496" y="2797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352A53"/>
            </a:solidFill>
            <a:ln w="9525" cap="flat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18" name="Google Shape;1485;p60"/>
            <p:cNvSpPr/>
            <p:nvPr/>
          </p:nvSpPr>
          <p:spPr>
            <a:xfrm>
              <a:off x="8368975" y="4270838"/>
              <a:ext cx="338175" cy="87400"/>
            </a:xfrm>
            <a:custGeom>
              <a:avLst/>
              <a:gdLst/>
              <a:ahLst/>
              <a:cxnLst/>
              <a:rect l="l" t="t" r="r" b="b"/>
              <a:pathLst>
                <a:path w="13527" h="3496" extrusionOk="0">
                  <a:moveTo>
                    <a:pt x="153" y="0"/>
                  </a:moveTo>
                  <a:lnTo>
                    <a:pt x="1" y="669"/>
                  </a:lnTo>
                  <a:lnTo>
                    <a:pt x="13375" y="3496"/>
                  </a:lnTo>
                  <a:lnTo>
                    <a:pt x="13527" y="2827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352A53"/>
            </a:solidFill>
            <a:ln w="9525" cap="flat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19" name="Google Shape;1486;p60"/>
            <p:cNvSpPr/>
            <p:nvPr/>
          </p:nvSpPr>
          <p:spPr>
            <a:xfrm>
              <a:off x="8448025" y="4219163"/>
              <a:ext cx="207475" cy="59300"/>
            </a:xfrm>
            <a:custGeom>
              <a:avLst/>
              <a:gdLst/>
              <a:ahLst/>
              <a:cxnLst/>
              <a:rect l="l" t="t" r="r" b="b"/>
              <a:pathLst>
                <a:path w="8299" h="2372" extrusionOk="0">
                  <a:moveTo>
                    <a:pt x="152" y="0"/>
                  </a:moveTo>
                  <a:lnTo>
                    <a:pt x="0" y="669"/>
                  </a:lnTo>
                  <a:lnTo>
                    <a:pt x="8176" y="2371"/>
                  </a:lnTo>
                  <a:lnTo>
                    <a:pt x="8298" y="1703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52A53"/>
            </a:solidFill>
            <a:ln w="9525" cap="flat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</p:grpSp>
      <p:grpSp>
        <p:nvGrpSpPr>
          <p:cNvPr id="20" name="Google Shape;702;p42"/>
          <p:cNvGrpSpPr/>
          <p:nvPr/>
        </p:nvGrpSpPr>
        <p:grpSpPr>
          <a:xfrm>
            <a:off x="5425984" y="1491743"/>
            <a:ext cx="747550" cy="877349"/>
            <a:chOff x="6723350" y="2220250"/>
            <a:chExt cx="1420946" cy="1461032"/>
          </a:xfrm>
        </p:grpSpPr>
        <p:sp>
          <p:nvSpPr>
            <p:cNvPr id="21" name="Google Shape;703;p42"/>
            <p:cNvSpPr/>
            <p:nvPr/>
          </p:nvSpPr>
          <p:spPr>
            <a:xfrm>
              <a:off x="7474955" y="2220250"/>
              <a:ext cx="669333" cy="395909"/>
            </a:xfrm>
            <a:custGeom>
              <a:avLst/>
              <a:gdLst/>
              <a:ahLst/>
              <a:cxnLst/>
              <a:rect l="l" t="t" r="r" b="b"/>
              <a:pathLst>
                <a:path w="10041" h="5939" extrusionOk="0">
                  <a:moveTo>
                    <a:pt x="0" y="1"/>
                  </a:moveTo>
                  <a:lnTo>
                    <a:pt x="1601" y="2602"/>
                  </a:lnTo>
                  <a:lnTo>
                    <a:pt x="10041" y="59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99CE"/>
            </a:solidFill>
            <a:ln w="28575" cap="flat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22" name="Google Shape;704;p42"/>
            <p:cNvSpPr/>
            <p:nvPr/>
          </p:nvSpPr>
          <p:spPr>
            <a:xfrm>
              <a:off x="7474955" y="2220250"/>
              <a:ext cx="669333" cy="395909"/>
            </a:xfrm>
            <a:custGeom>
              <a:avLst/>
              <a:gdLst/>
              <a:ahLst/>
              <a:cxnLst/>
              <a:rect l="l" t="t" r="r" b="b"/>
              <a:pathLst>
                <a:path w="10041" h="5939" fill="none" extrusionOk="0">
                  <a:moveTo>
                    <a:pt x="0" y="1"/>
                  </a:moveTo>
                  <a:lnTo>
                    <a:pt x="10041" y="5938"/>
                  </a:lnTo>
                  <a:lnTo>
                    <a:pt x="1601" y="2602"/>
                  </a:lnTo>
                  <a:close/>
                </a:path>
              </a:pathLst>
            </a:custGeom>
            <a:solidFill>
              <a:srgbClr val="AC99CE"/>
            </a:solidFill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23" name="Google Shape;705;p42"/>
            <p:cNvSpPr/>
            <p:nvPr/>
          </p:nvSpPr>
          <p:spPr>
            <a:xfrm>
              <a:off x="7581680" y="2393704"/>
              <a:ext cx="562610" cy="740554"/>
            </a:xfrm>
            <a:custGeom>
              <a:avLst/>
              <a:gdLst/>
              <a:ahLst/>
              <a:cxnLst/>
              <a:rect l="l" t="t" r="r" b="b"/>
              <a:pathLst>
                <a:path w="8440" h="11109" extrusionOk="0">
                  <a:moveTo>
                    <a:pt x="0" y="0"/>
                  </a:moveTo>
                  <a:lnTo>
                    <a:pt x="5237" y="11108"/>
                  </a:lnTo>
                  <a:lnTo>
                    <a:pt x="8440" y="3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78"/>
            </a:solidFill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25" name="Google Shape;706;p42"/>
            <p:cNvSpPr/>
            <p:nvPr/>
          </p:nvSpPr>
          <p:spPr>
            <a:xfrm>
              <a:off x="7581680" y="2393704"/>
              <a:ext cx="562610" cy="740554"/>
            </a:xfrm>
            <a:custGeom>
              <a:avLst/>
              <a:gdLst/>
              <a:ahLst/>
              <a:cxnLst/>
              <a:rect l="l" t="t" r="r" b="b"/>
              <a:pathLst>
                <a:path w="8440" h="11109" fill="none" extrusionOk="0">
                  <a:moveTo>
                    <a:pt x="8440" y="3336"/>
                  </a:moveTo>
                  <a:lnTo>
                    <a:pt x="0" y="0"/>
                  </a:lnTo>
                  <a:lnTo>
                    <a:pt x="5237" y="11108"/>
                  </a:lnTo>
                  <a:close/>
                </a:path>
              </a:pathLst>
            </a:custGeom>
            <a:noFill/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5" name="Google Shape;707;p42"/>
            <p:cNvSpPr/>
            <p:nvPr/>
          </p:nvSpPr>
          <p:spPr>
            <a:xfrm>
              <a:off x="7930784" y="2616087"/>
              <a:ext cx="213512" cy="807216"/>
            </a:xfrm>
            <a:custGeom>
              <a:avLst/>
              <a:gdLst/>
              <a:ahLst/>
              <a:cxnLst/>
              <a:rect l="l" t="t" r="r" b="b"/>
              <a:pathLst>
                <a:path w="3203" h="12109" extrusionOk="0">
                  <a:moveTo>
                    <a:pt x="3203" y="0"/>
                  </a:moveTo>
                  <a:lnTo>
                    <a:pt x="0" y="7772"/>
                  </a:lnTo>
                  <a:lnTo>
                    <a:pt x="1435" y="12109"/>
                  </a:lnTo>
                  <a:lnTo>
                    <a:pt x="3203" y="0"/>
                  </a:lnTo>
                  <a:close/>
                </a:path>
              </a:pathLst>
            </a:custGeom>
            <a:solidFill>
              <a:srgbClr val="AC99CE"/>
            </a:solidFill>
            <a:ln w="28575" cap="flat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6" name="Google Shape;708;p42"/>
            <p:cNvSpPr/>
            <p:nvPr/>
          </p:nvSpPr>
          <p:spPr>
            <a:xfrm>
              <a:off x="6832274" y="2220250"/>
              <a:ext cx="749458" cy="278049"/>
            </a:xfrm>
            <a:custGeom>
              <a:avLst/>
              <a:gdLst/>
              <a:ahLst/>
              <a:cxnLst/>
              <a:rect l="l" t="t" r="r" b="b"/>
              <a:pathLst>
                <a:path w="11243" h="4171" extrusionOk="0">
                  <a:moveTo>
                    <a:pt x="9641" y="1"/>
                  </a:moveTo>
                  <a:lnTo>
                    <a:pt x="1" y="4170"/>
                  </a:lnTo>
                  <a:lnTo>
                    <a:pt x="11242" y="2602"/>
                  </a:lnTo>
                  <a:lnTo>
                    <a:pt x="9641" y="1"/>
                  </a:lnTo>
                  <a:close/>
                </a:path>
              </a:pathLst>
            </a:custGeom>
            <a:solidFill>
              <a:srgbClr val="80A4E7"/>
            </a:solidFill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7" name="Google Shape;709;p42"/>
            <p:cNvSpPr/>
            <p:nvPr/>
          </p:nvSpPr>
          <p:spPr>
            <a:xfrm>
              <a:off x="7930784" y="2616087"/>
              <a:ext cx="213512" cy="807216"/>
            </a:xfrm>
            <a:custGeom>
              <a:avLst/>
              <a:gdLst/>
              <a:ahLst/>
              <a:cxnLst/>
              <a:rect l="l" t="t" r="r" b="b"/>
              <a:pathLst>
                <a:path w="3203" h="12109" fill="none" extrusionOk="0">
                  <a:moveTo>
                    <a:pt x="3203" y="0"/>
                  </a:moveTo>
                  <a:lnTo>
                    <a:pt x="0" y="7772"/>
                  </a:lnTo>
                  <a:lnTo>
                    <a:pt x="1435" y="12109"/>
                  </a:lnTo>
                  <a:close/>
                </a:path>
              </a:pathLst>
            </a:custGeom>
            <a:noFill/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8" name="Google Shape;710;p42"/>
            <p:cNvSpPr/>
            <p:nvPr/>
          </p:nvSpPr>
          <p:spPr>
            <a:xfrm>
              <a:off x="6832274" y="2393704"/>
              <a:ext cx="749458" cy="649359"/>
            </a:xfrm>
            <a:custGeom>
              <a:avLst/>
              <a:gdLst/>
              <a:ahLst/>
              <a:cxnLst/>
              <a:rect l="l" t="t" r="r" b="b"/>
              <a:pathLst>
                <a:path w="11243" h="9741" extrusionOk="0">
                  <a:moveTo>
                    <a:pt x="11242" y="0"/>
                  </a:moveTo>
                  <a:lnTo>
                    <a:pt x="1" y="1568"/>
                  </a:lnTo>
                  <a:lnTo>
                    <a:pt x="4337" y="9741"/>
                  </a:lnTo>
                  <a:lnTo>
                    <a:pt x="11242" y="0"/>
                  </a:lnTo>
                  <a:close/>
                </a:path>
              </a:pathLst>
            </a:custGeom>
            <a:solidFill>
              <a:srgbClr val="AC99CE"/>
            </a:solidFill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9" name="Google Shape;711;p42"/>
            <p:cNvSpPr/>
            <p:nvPr/>
          </p:nvSpPr>
          <p:spPr>
            <a:xfrm>
              <a:off x="6832274" y="2220250"/>
              <a:ext cx="749458" cy="278049"/>
            </a:xfrm>
            <a:custGeom>
              <a:avLst/>
              <a:gdLst/>
              <a:ahLst/>
              <a:cxnLst/>
              <a:rect l="l" t="t" r="r" b="b"/>
              <a:pathLst>
                <a:path w="11243" h="4171" fill="none" extrusionOk="0">
                  <a:moveTo>
                    <a:pt x="9641" y="1"/>
                  </a:moveTo>
                  <a:lnTo>
                    <a:pt x="1" y="4170"/>
                  </a:lnTo>
                  <a:lnTo>
                    <a:pt x="11242" y="2602"/>
                  </a:lnTo>
                  <a:close/>
                </a:path>
              </a:pathLst>
            </a:custGeom>
            <a:solidFill>
              <a:srgbClr val="FFBBBB"/>
            </a:solidFill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0" name="Google Shape;712;p42"/>
            <p:cNvSpPr/>
            <p:nvPr/>
          </p:nvSpPr>
          <p:spPr>
            <a:xfrm>
              <a:off x="6832274" y="2393704"/>
              <a:ext cx="749458" cy="649359"/>
            </a:xfrm>
            <a:custGeom>
              <a:avLst/>
              <a:gdLst/>
              <a:ahLst/>
              <a:cxnLst/>
              <a:rect l="l" t="t" r="r" b="b"/>
              <a:pathLst>
                <a:path w="11243" h="9741" fill="none" extrusionOk="0">
                  <a:moveTo>
                    <a:pt x="11242" y="0"/>
                  </a:moveTo>
                  <a:lnTo>
                    <a:pt x="4337" y="9741"/>
                  </a:lnTo>
                  <a:lnTo>
                    <a:pt x="1" y="1568"/>
                  </a:lnTo>
                  <a:close/>
                </a:path>
              </a:pathLst>
            </a:custGeom>
            <a:noFill/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1" name="Google Shape;713;p42"/>
            <p:cNvSpPr/>
            <p:nvPr/>
          </p:nvSpPr>
          <p:spPr>
            <a:xfrm>
              <a:off x="7121384" y="2393704"/>
              <a:ext cx="809452" cy="740554"/>
            </a:xfrm>
            <a:custGeom>
              <a:avLst/>
              <a:gdLst/>
              <a:ahLst/>
              <a:cxnLst/>
              <a:rect l="l" t="t" r="r" b="b"/>
              <a:pathLst>
                <a:path w="12143" h="11109" extrusionOk="0">
                  <a:moveTo>
                    <a:pt x="6905" y="0"/>
                  </a:moveTo>
                  <a:lnTo>
                    <a:pt x="0" y="9741"/>
                  </a:lnTo>
                  <a:lnTo>
                    <a:pt x="12142" y="11108"/>
                  </a:lnTo>
                  <a:lnTo>
                    <a:pt x="6905" y="0"/>
                  </a:lnTo>
                  <a:close/>
                </a:path>
              </a:pathLst>
            </a:custGeom>
            <a:solidFill>
              <a:srgbClr val="FFBBBB"/>
            </a:solidFill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2" name="Google Shape;714;p42"/>
            <p:cNvSpPr/>
            <p:nvPr/>
          </p:nvSpPr>
          <p:spPr>
            <a:xfrm>
              <a:off x="7121384" y="2393704"/>
              <a:ext cx="809452" cy="740554"/>
            </a:xfrm>
            <a:custGeom>
              <a:avLst/>
              <a:gdLst/>
              <a:ahLst/>
              <a:cxnLst/>
              <a:rect l="l" t="t" r="r" b="b"/>
              <a:pathLst>
                <a:path w="12143" h="11109" fill="none" extrusionOk="0">
                  <a:moveTo>
                    <a:pt x="0" y="9741"/>
                  </a:moveTo>
                  <a:lnTo>
                    <a:pt x="12142" y="11108"/>
                  </a:lnTo>
                  <a:lnTo>
                    <a:pt x="6905" y="0"/>
                  </a:lnTo>
                  <a:close/>
                </a:path>
              </a:pathLst>
            </a:custGeom>
            <a:noFill/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3" name="Google Shape;715;p42"/>
            <p:cNvSpPr/>
            <p:nvPr/>
          </p:nvSpPr>
          <p:spPr>
            <a:xfrm>
              <a:off x="6723350" y="2498229"/>
              <a:ext cx="398094" cy="785018"/>
            </a:xfrm>
            <a:custGeom>
              <a:avLst/>
              <a:gdLst/>
              <a:ahLst/>
              <a:cxnLst/>
              <a:rect l="l" t="t" r="r" b="b"/>
              <a:pathLst>
                <a:path w="5972" h="11776" extrusionOk="0">
                  <a:moveTo>
                    <a:pt x="1635" y="0"/>
                  </a:moveTo>
                  <a:lnTo>
                    <a:pt x="0" y="11775"/>
                  </a:lnTo>
                  <a:lnTo>
                    <a:pt x="0" y="11775"/>
                  </a:lnTo>
                  <a:lnTo>
                    <a:pt x="5971" y="8173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rgbClr val="FFBBBB"/>
            </a:solidFill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4" name="Google Shape;716;p42"/>
            <p:cNvSpPr/>
            <p:nvPr/>
          </p:nvSpPr>
          <p:spPr>
            <a:xfrm>
              <a:off x="6723350" y="2498229"/>
              <a:ext cx="398094" cy="785018"/>
            </a:xfrm>
            <a:custGeom>
              <a:avLst/>
              <a:gdLst/>
              <a:ahLst/>
              <a:cxnLst/>
              <a:rect l="l" t="t" r="r" b="b"/>
              <a:pathLst>
                <a:path w="5972" h="11776" fill="none" extrusionOk="0">
                  <a:moveTo>
                    <a:pt x="1635" y="0"/>
                  </a:moveTo>
                  <a:lnTo>
                    <a:pt x="0" y="11775"/>
                  </a:lnTo>
                  <a:lnTo>
                    <a:pt x="5971" y="8173"/>
                  </a:lnTo>
                  <a:close/>
                </a:path>
              </a:pathLst>
            </a:custGeom>
            <a:noFill/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5" name="Google Shape;717;p42"/>
            <p:cNvSpPr/>
            <p:nvPr/>
          </p:nvSpPr>
          <p:spPr>
            <a:xfrm>
              <a:off x="7121384" y="3042989"/>
              <a:ext cx="809452" cy="638293"/>
            </a:xfrm>
            <a:custGeom>
              <a:avLst/>
              <a:gdLst/>
              <a:ahLst/>
              <a:cxnLst/>
              <a:rect l="l" t="t" r="r" b="b"/>
              <a:pathLst>
                <a:path w="12143" h="9575" extrusionOk="0">
                  <a:moveTo>
                    <a:pt x="0" y="1"/>
                  </a:moveTo>
                  <a:lnTo>
                    <a:pt x="4203" y="9574"/>
                  </a:lnTo>
                  <a:lnTo>
                    <a:pt x="12142" y="13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6" name="Google Shape;718;p42"/>
            <p:cNvSpPr/>
            <p:nvPr/>
          </p:nvSpPr>
          <p:spPr>
            <a:xfrm>
              <a:off x="7121384" y="3042989"/>
              <a:ext cx="809452" cy="638293"/>
            </a:xfrm>
            <a:custGeom>
              <a:avLst/>
              <a:gdLst/>
              <a:ahLst/>
              <a:cxnLst/>
              <a:rect l="l" t="t" r="r" b="b"/>
              <a:pathLst>
                <a:path w="12143" h="9575" fill="none" extrusionOk="0">
                  <a:moveTo>
                    <a:pt x="12142" y="1368"/>
                  </a:moveTo>
                  <a:lnTo>
                    <a:pt x="4203" y="9574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7" name="Google Shape;719;p42"/>
            <p:cNvSpPr/>
            <p:nvPr/>
          </p:nvSpPr>
          <p:spPr>
            <a:xfrm>
              <a:off x="7401561" y="3134182"/>
              <a:ext cx="624871" cy="547099"/>
            </a:xfrm>
            <a:custGeom>
              <a:avLst/>
              <a:gdLst/>
              <a:ahLst/>
              <a:cxnLst/>
              <a:rect l="l" t="t" r="r" b="b"/>
              <a:pathLst>
                <a:path w="9374" h="8207" extrusionOk="0">
                  <a:moveTo>
                    <a:pt x="7939" y="0"/>
                  </a:moveTo>
                  <a:lnTo>
                    <a:pt x="0" y="8206"/>
                  </a:lnTo>
                  <a:lnTo>
                    <a:pt x="9374" y="4337"/>
                  </a:lnTo>
                  <a:lnTo>
                    <a:pt x="7939" y="0"/>
                  </a:lnTo>
                  <a:close/>
                </a:path>
              </a:pathLst>
            </a:custGeom>
            <a:solidFill>
              <a:srgbClr val="80A4E7"/>
            </a:solidFill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8" name="Google Shape;720;p42"/>
            <p:cNvSpPr/>
            <p:nvPr/>
          </p:nvSpPr>
          <p:spPr>
            <a:xfrm>
              <a:off x="7401561" y="3134182"/>
              <a:ext cx="624871" cy="547099"/>
            </a:xfrm>
            <a:custGeom>
              <a:avLst/>
              <a:gdLst/>
              <a:ahLst/>
              <a:cxnLst/>
              <a:rect l="l" t="t" r="r" b="b"/>
              <a:pathLst>
                <a:path w="9374" h="8207" fill="none" extrusionOk="0">
                  <a:moveTo>
                    <a:pt x="9374" y="4337"/>
                  </a:moveTo>
                  <a:lnTo>
                    <a:pt x="7939" y="0"/>
                  </a:lnTo>
                  <a:lnTo>
                    <a:pt x="0" y="8206"/>
                  </a:lnTo>
                  <a:close/>
                </a:path>
              </a:pathLst>
            </a:custGeom>
            <a:noFill/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9" name="Google Shape;721;p42"/>
            <p:cNvSpPr/>
            <p:nvPr/>
          </p:nvSpPr>
          <p:spPr>
            <a:xfrm>
              <a:off x="6723350" y="3042989"/>
              <a:ext cx="678265" cy="638293"/>
            </a:xfrm>
            <a:custGeom>
              <a:avLst/>
              <a:gdLst/>
              <a:ahLst/>
              <a:cxnLst/>
              <a:rect l="l" t="t" r="r" b="b"/>
              <a:pathLst>
                <a:path w="10175" h="9575" extrusionOk="0">
                  <a:moveTo>
                    <a:pt x="5971" y="1"/>
                  </a:moveTo>
                  <a:lnTo>
                    <a:pt x="0" y="3603"/>
                  </a:lnTo>
                  <a:lnTo>
                    <a:pt x="10174" y="9574"/>
                  </a:lnTo>
                  <a:lnTo>
                    <a:pt x="5971" y="1"/>
                  </a:lnTo>
                  <a:close/>
                </a:path>
              </a:pathLst>
            </a:custGeom>
            <a:solidFill>
              <a:srgbClr val="FFD378"/>
            </a:solidFill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50" name="Google Shape;722;p42"/>
            <p:cNvSpPr/>
            <p:nvPr/>
          </p:nvSpPr>
          <p:spPr>
            <a:xfrm>
              <a:off x="6723350" y="3042989"/>
              <a:ext cx="678265" cy="638293"/>
            </a:xfrm>
            <a:custGeom>
              <a:avLst/>
              <a:gdLst/>
              <a:ahLst/>
              <a:cxnLst/>
              <a:rect l="l" t="t" r="r" b="b"/>
              <a:pathLst>
                <a:path w="10175" h="9575" fill="none" extrusionOk="0">
                  <a:moveTo>
                    <a:pt x="5971" y="1"/>
                  </a:moveTo>
                  <a:lnTo>
                    <a:pt x="0" y="3603"/>
                  </a:lnTo>
                  <a:lnTo>
                    <a:pt x="10174" y="9574"/>
                  </a:lnTo>
                  <a:close/>
                </a:path>
              </a:pathLst>
            </a:custGeom>
            <a:noFill/>
            <a:ln w="28575" cap="rnd" cmpd="sng">
              <a:solidFill>
                <a:srgbClr val="352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323123" y="683417"/>
            <a:ext cx="5058346" cy="28007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1.1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Memahami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Konsep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Bilangan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Berpangkat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Ayo Kita Amati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Contoh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1.1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alligraphy" pitchFamily="66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Amatilah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pola-pola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berpangkat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berikut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 x 2 x 2  =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 x 3 x 3 x 3 x 3 x 3 = 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…..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 x 5 x 5 x 5 x 5 x 5 x 5 = 5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…..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Jika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dibalik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GB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2 x 2 x 2 x 2 x 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en-GB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…………………………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GB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10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……………………………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146842" y="416136"/>
            <a:ext cx="5224635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Berpikir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kritis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!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Bagaimana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cara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penulisan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perkalian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faktor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yang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sama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Untuk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real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bulat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maka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Penulisan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perkaliah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berulang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sebanyak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faktor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disebut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berpangkat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disebut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pokok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 basis 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n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disebut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pangkat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(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eksponen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</a:t>
            </a:r>
          </a:p>
        </p:txBody>
      </p:sp>
      <p:grpSp>
        <p:nvGrpSpPr>
          <p:cNvPr id="53" name="Group 52"/>
          <p:cNvGrpSpPr>
            <a:grpSpLocks/>
          </p:cNvGrpSpPr>
          <p:nvPr/>
        </p:nvGrpSpPr>
        <p:grpSpPr bwMode="auto">
          <a:xfrm>
            <a:off x="6953835" y="1874094"/>
            <a:ext cx="2190750" cy="815803"/>
            <a:chOff x="2888" y="11296"/>
            <a:chExt cx="3450" cy="964"/>
          </a:xfrm>
          <a:solidFill>
            <a:srgbClr val="FFFF00"/>
          </a:solidFill>
        </p:grpSpPr>
        <p:sp>
          <p:nvSpPr>
            <p:cNvPr id="54" name="Text Box 1699"/>
            <p:cNvSpPr txBox="1">
              <a:spLocks noChangeArrowheads="1"/>
            </p:cNvSpPr>
            <p:nvPr/>
          </p:nvSpPr>
          <p:spPr bwMode="auto">
            <a:xfrm>
              <a:off x="2888" y="11296"/>
              <a:ext cx="3450" cy="450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65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a</a:t>
              </a:r>
              <a:r>
                <a:rPr kumimoji="0" lang="en-US" sz="1400" b="0" i="1" u="none" strike="noStrike" kern="1200" cap="none" spc="-65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Symbol"/>
                  <a:ea typeface="Calibri"/>
                  <a:cs typeface="Times New Roman"/>
                </a:rPr>
                <a:t>´</a:t>
              </a:r>
              <a:r>
                <a:rPr kumimoji="0" lang="en-US" sz="1400" b="0" i="0" u="none" strike="noStrike" kern="1200" cap="none" spc="-6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Times New Roman"/>
                  <a:ea typeface="Calibri"/>
                  <a:cs typeface="Times New Roman"/>
                </a:rPr>
                <a:t>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a</a:t>
              </a:r>
              <a:r>
                <a:rPr kumimoji="0" lang="en-US" sz="1400" b="0" i="1" u="none" strike="noStrike" kern="1200" cap="none" spc="-65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Symbol"/>
                  <a:ea typeface="Calibri"/>
                  <a:cs typeface="Times New Roman"/>
                </a:rPr>
                <a:t>´</a:t>
              </a:r>
              <a:r>
                <a:rPr kumimoji="0" lang="en-US" sz="1400" b="0" i="0" u="none" strike="noStrike" kern="1200" cap="none" spc="-6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Times New Roman"/>
                  <a:ea typeface="Calibri"/>
                  <a:cs typeface="Times New Roman"/>
                </a:rPr>
                <a:t>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a</a:t>
              </a:r>
              <a:r>
                <a:rPr kumimoji="0" lang="en-US" sz="1400" b="0" i="1" u="none" strike="noStrike" kern="1200" cap="none" spc="-7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Symbol"/>
                  <a:ea typeface="Calibri"/>
                  <a:cs typeface="Times New Roman"/>
                </a:rPr>
                <a:t>´</a:t>
              </a:r>
              <a:r>
                <a:rPr kumimoji="0" lang="en-US" sz="1400" b="0" i="0" u="none" strike="noStrike" kern="1200" cap="none" spc="-105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Times New Roman"/>
                  <a:ea typeface="Calibri"/>
                  <a:cs typeface="Times New Roman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...</a:t>
              </a:r>
              <a:r>
                <a:rPr kumimoji="0" lang="en-US" sz="1400" b="0" i="0" u="none" strike="noStrike" kern="1200" cap="none" spc="-13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Symbol"/>
                  <a:ea typeface="Calibri"/>
                  <a:cs typeface="Times New Roman"/>
                </a:rPr>
                <a:t>´</a:t>
              </a:r>
              <a:r>
                <a:rPr kumimoji="0" lang="en-US" sz="1400" b="0" i="0" u="none" strike="noStrike" kern="1200" cap="none" spc="-6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Times New Roman"/>
                  <a:ea typeface="Calibri"/>
                  <a:cs typeface="Times New Roman"/>
                </a:rPr>
                <a:t>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a   </a:t>
              </a:r>
              <a:r>
                <a:rPr kumimoji="0" lang="en-US" sz="1400" b="0" i="1" u="none" strike="noStrike" kern="1200" cap="none" spc="0" normalizeH="0" baseline="0" noProof="0" dirty="0" err="1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ditulis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  </a:t>
              </a:r>
              <a:r>
                <a:rPr kumimoji="0" lang="en-US" sz="1400" b="0" i="1" u="none" strike="noStrike" kern="1200" cap="none" spc="15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a</a:t>
              </a:r>
              <a:r>
                <a:rPr kumimoji="0" lang="en-US" sz="1400" b="0" i="1" u="none" strike="noStrike" kern="1200" cap="none" spc="15" normalizeH="0" baseline="3000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 n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endParaRPr>
            </a:p>
          </p:txBody>
        </p:sp>
        <p:grpSp>
          <p:nvGrpSpPr>
            <p:cNvPr id="55" name="Group 54"/>
            <p:cNvGrpSpPr>
              <a:grpSpLocks/>
            </p:cNvGrpSpPr>
            <p:nvPr/>
          </p:nvGrpSpPr>
          <p:grpSpPr bwMode="auto">
            <a:xfrm>
              <a:off x="3039" y="11579"/>
              <a:ext cx="1929" cy="681"/>
              <a:chOff x="3039" y="11579"/>
              <a:chExt cx="1929" cy="681"/>
            </a:xfrm>
            <a:grpFill/>
          </p:grpSpPr>
          <p:sp>
            <p:nvSpPr>
              <p:cNvPr id="56" name="AutoShape 1701"/>
              <p:cNvSpPr>
                <a:spLocks/>
              </p:cNvSpPr>
              <p:nvPr/>
            </p:nvSpPr>
            <p:spPr bwMode="auto">
              <a:xfrm rot="5400000">
                <a:off x="3846" y="10842"/>
                <a:ext cx="215" cy="1690"/>
              </a:xfrm>
              <a:prstGeom prst="rightBrace">
                <a:avLst>
                  <a:gd name="adj1" fmla="val 65504"/>
                  <a:gd name="adj2" fmla="val 51028"/>
                </a:avLst>
              </a:prstGeom>
              <a:ln>
                <a:headEnd/>
                <a:tailEnd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solidFill>
                      <a:prstClr val="white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7" name="Text Box 1702"/>
              <p:cNvSpPr txBox="1">
                <a:spLocks noChangeArrowheads="1"/>
              </p:cNvSpPr>
              <p:nvPr/>
            </p:nvSpPr>
            <p:spPr bwMode="auto">
              <a:xfrm>
                <a:off x="3039" y="11878"/>
                <a:ext cx="1929" cy="382"/>
              </a:xfrm>
              <a:prstGeom prst="rect">
                <a:avLst/>
              </a:prstGeom>
              <a:ln/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65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1" u="none" strike="noStrike" kern="1200" cap="none" spc="15" normalizeH="0" baseline="0" noProof="0" dirty="0" err="1">
                    <a:ln>
                      <a:noFill/>
                    </a:ln>
                    <a:solidFill>
                      <a:srgbClr val="010202"/>
                    </a:solidFill>
                    <a:effectLst/>
                    <a:uLnTx/>
                    <a:uFillTx/>
                    <a:latin typeface="Times New Roman"/>
                    <a:ea typeface="Calibri"/>
                    <a:cs typeface="Times New Roman"/>
                  </a:rPr>
                  <a:t>sebanyak</a:t>
                </a:r>
                <a:r>
                  <a:rPr kumimoji="0" lang="en-US" sz="1200" b="0" i="1" u="none" strike="noStrike" kern="1200" cap="none" spc="15" normalizeH="0" baseline="0" noProof="0" dirty="0">
                    <a:ln>
                      <a:noFill/>
                    </a:ln>
                    <a:solidFill>
                      <a:srgbClr val="010202"/>
                    </a:solidFill>
                    <a:effectLst/>
                    <a:uLnTx/>
                    <a:uFillTx/>
                    <a:latin typeface="Times New Roman"/>
                    <a:ea typeface="Calibri"/>
                    <a:cs typeface="Times New Roman"/>
                  </a:rPr>
                  <a:t>  n  </a:t>
                </a:r>
                <a:r>
                  <a:rPr kumimoji="0" lang="en-US" sz="1200" b="0" i="1" u="none" strike="noStrike" kern="1200" cap="none" spc="15" normalizeH="0" baseline="0" noProof="0" dirty="0" err="1">
                    <a:ln>
                      <a:noFill/>
                    </a:ln>
                    <a:solidFill>
                      <a:srgbClr val="010202"/>
                    </a:solidFill>
                    <a:effectLst/>
                    <a:uLnTx/>
                    <a:uFillTx/>
                    <a:latin typeface="Times New Roman"/>
                    <a:ea typeface="Calibri"/>
                    <a:cs typeface="Times New Roman"/>
                  </a:rPr>
                  <a:t>faktor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</p:grpSp>
      </p:grpSp>
      <p:grpSp>
        <p:nvGrpSpPr>
          <p:cNvPr id="58" name="Group 57"/>
          <p:cNvGrpSpPr>
            <a:grpSpLocks/>
          </p:cNvGrpSpPr>
          <p:nvPr/>
        </p:nvGrpSpPr>
        <p:grpSpPr bwMode="auto">
          <a:xfrm>
            <a:off x="9485221" y="1889865"/>
            <a:ext cx="1708785" cy="629920"/>
            <a:chOff x="2888" y="11296"/>
            <a:chExt cx="2691" cy="992"/>
          </a:xfrm>
          <a:solidFill>
            <a:srgbClr val="FFFF00"/>
          </a:solidFill>
        </p:grpSpPr>
        <p:sp>
          <p:nvSpPr>
            <p:cNvPr id="59" name="Text Box 1699"/>
            <p:cNvSpPr txBox="1">
              <a:spLocks noChangeArrowheads="1"/>
            </p:cNvSpPr>
            <p:nvPr/>
          </p:nvSpPr>
          <p:spPr bwMode="auto">
            <a:xfrm>
              <a:off x="2888" y="11296"/>
              <a:ext cx="2691" cy="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65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15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a</a:t>
              </a:r>
              <a:r>
                <a:rPr kumimoji="0" lang="en-US" sz="1600" b="0" i="1" u="none" strike="noStrike" kern="1200" cap="none" spc="15" normalizeH="0" baseline="3000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n</a:t>
              </a:r>
              <a:r>
                <a:rPr kumimoji="0" lang="en-US" sz="1400" b="0" i="1" u="none" strike="noStrike" kern="1200" cap="none" spc="5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Symbol"/>
                  <a:ea typeface="Calibri"/>
                  <a:cs typeface="Times New Roman"/>
                </a:rPr>
                <a:t>=</a:t>
              </a:r>
              <a:r>
                <a:rPr kumimoji="0" lang="en-US" sz="1400" b="0" i="0" u="none" strike="noStrike" kern="1200" cap="none" spc="25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Times New Roman"/>
                  <a:ea typeface="Calibri"/>
                  <a:cs typeface="Times New Roman"/>
                </a:rPr>
                <a:t>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a</a:t>
              </a:r>
              <a:r>
                <a:rPr kumimoji="0" lang="en-US" sz="1400" b="0" i="1" u="none" strike="noStrike" kern="1200" cap="none" spc="-65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Symbol"/>
                  <a:ea typeface="Calibri"/>
                  <a:cs typeface="Times New Roman"/>
                </a:rPr>
                <a:t>´</a:t>
              </a:r>
              <a:r>
                <a:rPr kumimoji="0" lang="en-US" sz="1400" b="0" i="0" u="none" strike="noStrike" kern="1200" cap="none" spc="-6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Times New Roman"/>
                  <a:ea typeface="Calibri"/>
                  <a:cs typeface="Times New Roman"/>
                </a:rPr>
                <a:t>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a</a:t>
              </a:r>
              <a:r>
                <a:rPr kumimoji="0" lang="en-US" sz="1400" b="0" i="1" u="none" strike="noStrike" kern="1200" cap="none" spc="-65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Symbol"/>
                  <a:ea typeface="Calibri"/>
                  <a:cs typeface="Times New Roman"/>
                </a:rPr>
                <a:t>´</a:t>
              </a:r>
              <a:r>
                <a:rPr kumimoji="0" lang="en-US" sz="1400" b="0" i="0" u="none" strike="noStrike" kern="1200" cap="none" spc="-6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Times New Roman"/>
                  <a:ea typeface="Calibri"/>
                  <a:cs typeface="Times New Roman"/>
                </a:rPr>
                <a:t>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a</a:t>
              </a:r>
              <a:r>
                <a:rPr kumimoji="0" lang="en-US" sz="1400" b="0" i="1" u="none" strike="noStrike" kern="1200" cap="none" spc="-7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Symbol"/>
                  <a:ea typeface="Calibri"/>
                  <a:cs typeface="Times New Roman"/>
                </a:rPr>
                <a:t>´</a:t>
              </a:r>
              <a:r>
                <a:rPr kumimoji="0" lang="en-US" sz="1400" b="0" i="0" u="none" strike="noStrike" kern="1200" cap="none" spc="-105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Times New Roman"/>
                  <a:ea typeface="Calibri"/>
                  <a:cs typeface="Times New Roman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...</a:t>
              </a:r>
              <a:r>
                <a:rPr kumimoji="0" lang="en-US" sz="1400" b="0" i="0" u="none" strike="noStrike" kern="1200" cap="none" spc="-13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Symbol"/>
                  <a:ea typeface="Calibri"/>
                  <a:cs typeface="Times New Roman"/>
                </a:rPr>
                <a:t>´</a:t>
              </a:r>
              <a:r>
                <a:rPr kumimoji="0" lang="en-US" sz="1400" b="0" i="0" u="none" strike="noStrike" kern="1200" cap="none" spc="-6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Times New Roman"/>
                  <a:ea typeface="Calibri"/>
                  <a:cs typeface="Times New Roman"/>
                </a:rPr>
                <a:t>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10202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rPr>
                <a:t>a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Times New Roman"/>
              </a:endParaRPr>
            </a:p>
          </p:txBody>
        </p:sp>
        <p:grpSp>
          <p:nvGrpSpPr>
            <p:cNvPr id="60" name="Group 59"/>
            <p:cNvGrpSpPr>
              <a:grpSpLocks/>
            </p:cNvGrpSpPr>
            <p:nvPr/>
          </p:nvGrpSpPr>
          <p:grpSpPr bwMode="auto">
            <a:xfrm>
              <a:off x="3544" y="11663"/>
              <a:ext cx="1910" cy="625"/>
              <a:chOff x="3544" y="11663"/>
              <a:chExt cx="1910" cy="625"/>
            </a:xfrm>
            <a:grpFill/>
          </p:grpSpPr>
          <p:sp>
            <p:nvSpPr>
              <p:cNvPr id="61" name="AutoShape 1701"/>
              <p:cNvSpPr>
                <a:spLocks/>
              </p:cNvSpPr>
              <p:nvPr/>
            </p:nvSpPr>
            <p:spPr bwMode="auto">
              <a:xfrm rot="5400000">
                <a:off x="4386" y="10926"/>
                <a:ext cx="215" cy="1690"/>
              </a:xfrm>
              <a:prstGeom prst="rightBrace">
                <a:avLst>
                  <a:gd name="adj1" fmla="val 65504"/>
                  <a:gd name="adj2" fmla="val 51028"/>
                </a:avLst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2" name="Text Box 1702"/>
              <p:cNvSpPr txBox="1">
                <a:spLocks noChangeArrowheads="1"/>
              </p:cNvSpPr>
              <p:nvPr/>
            </p:nvSpPr>
            <p:spPr bwMode="auto">
              <a:xfrm>
                <a:off x="3544" y="11906"/>
                <a:ext cx="1910" cy="38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65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1" u="none" strike="noStrike" kern="1200" cap="none" spc="15" normalizeH="0" baseline="0" noProof="0" dirty="0" err="1">
                    <a:ln>
                      <a:noFill/>
                    </a:ln>
                    <a:solidFill>
                      <a:srgbClr val="010202"/>
                    </a:solidFill>
                    <a:effectLst/>
                    <a:uLnTx/>
                    <a:uFillTx/>
                    <a:latin typeface="Times New Roman"/>
                    <a:ea typeface="Calibri"/>
                    <a:cs typeface="Times New Roman"/>
                  </a:rPr>
                  <a:t>sebanyak</a:t>
                </a:r>
                <a:r>
                  <a:rPr kumimoji="0" lang="en-US" sz="1200" b="0" i="1" u="none" strike="noStrike" kern="1200" cap="none" spc="15" normalizeH="0" baseline="0" noProof="0" dirty="0">
                    <a:ln>
                      <a:noFill/>
                    </a:ln>
                    <a:solidFill>
                      <a:srgbClr val="010202"/>
                    </a:solidFill>
                    <a:effectLst/>
                    <a:uLnTx/>
                    <a:uFillTx/>
                    <a:latin typeface="Times New Roman"/>
                    <a:ea typeface="Calibri"/>
                    <a:cs typeface="Times New Roman"/>
                  </a:rPr>
                  <a:t>  n  </a:t>
                </a:r>
                <a:r>
                  <a:rPr kumimoji="0" lang="en-US" sz="1200" b="0" i="1" u="none" strike="noStrike" kern="1200" cap="none" spc="15" normalizeH="0" baseline="0" noProof="0" dirty="0" err="1">
                    <a:ln>
                      <a:noFill/>
                    </a:ln>
                    <a:solidFill>
                      <a:srgbClr val="010202"/>
                    </a:solidFill>
                    <a:effectLst/>
                    <a:uLnTx/>
                    <a:uFillTx/>
                    <a:latin typeface="Times New Roman"/>
                    <a:ea typeface="Calibri"/>
                    <a:cs typeface="Times New Roman"/>
                  </a:rPr>
                  <a:t>faktor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Times New Roman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93054" y="3992791"/>
                <a:ext cx="8422690" cy="270003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1.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pokok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pangkat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dari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(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3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4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 </m:t>
                    </m:r>
                    <m:sSup>
                      <m:sSup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8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adalah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… 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Jawab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pokoknya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.....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pangkatnya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.....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2.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Bentuk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dari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(-5) x (-5) x (-5) x (-5) x (-5) x (-5)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adalah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… 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Jawab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(-5) x (-5) x (-5) x (-5) x (-5) x (-5) = ......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3.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Hasil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dari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2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5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adalah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… 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Jawab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	2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5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…………………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054" y="3992791"/>
                <a:ext cx="8422690" cy="2700035"/>
              </a:xfrm>
              <a:prstGeom prst="rect">
                <a:avLst/>
              </a:prstGeom>
              <a:blipFill rotWithShape="1">
                <a:blip r:embed="rId4"/>
                <a:stretch>
                  <a:fillRect l="-652" b="-2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44379" y="319208"/>
            <a:ext cx="338777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gerian" pitchFamily="82" charset="0"/>
                <a:ea typeface="+mn-ea"/>
                <a:cs typeface="+mn-cs"/>
              </a:rPr>
              <a:t>A. BILANGAN BERPANGKAT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70157" y="1619727"/>
            <a:ext cx="394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49425" y="1884657"/>
            <a:ext cx="394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5909" y="2797500"/>
            <a:ext cx="256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 x 4 x 4 x 4 x 4 x 4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8309" y="3054892"/>
            <a:ext cx="391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 x 5 x 5 x 5 x 5 x 5 x 5 x 5 x 5 x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443683" y="4527120"/>
                <a:ext cx="394258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3</m:t>
                          </m:r>
                        </m:num>
                        <m:den>
                          <m:r>
                            <a:rPr kumimoji="0" lang="en-US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683" y="4527120"/>
                <a:ext cx="394258" cy="495649"/>
              </a:xfrm>
              <a:prstGeom prst="rect">
                <a:avLst/>
              </a:prstGeom>
              <a:blipFill rotWithShape="1">
                <a:blip r:embed="rId5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/>
          <p:cNvSpPr txBox="1"/>
          <p:nvPr/>
        </p:nvSpPr>
        <p:spPr>
          <a:xfrm>
            <a:off x="5530701" y="4578578"/>
            <a:ext cx="39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5042146" y="5418293"/>
                <a:ext cx="9553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(−5)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146" y="5418293"/>
                <a:ext cx="955318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/>
          <p:cNvSpPr txBox="1"/>
          <p:nvPr/>
        </p:nvSpPr>
        <p:spPr>
          <a:xfrm>
            <a:off x="2924508" y="6258921"/>
            <a:ext cx="2061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 x 2 x 2 x 2 x 2 = 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32181" y="6231637"/>
            <a:ext cx="46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23236" y="155976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atau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3124" y="683417"/>
                <a:ext cx="6649176" cy="581582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1.2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Nol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dan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Negatif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Perhatikan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Pola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dari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hasil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berikut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( 2 )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= ……….............		(3)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……….............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( 2 )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= ……….............		(3)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= ……….............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( 2 )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1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= ……….............		(3)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1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= ……….............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( 2 )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= ……….............		(3)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= ……….............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( 2 )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-1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……….............		(3)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-1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……….............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( 2 )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-2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……….............		(3)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-2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……….............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( 2 )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-3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……….............		(3)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-3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……….............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Perhatikan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hasil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nol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tersebut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!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0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…., 3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0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…,  4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0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….,   12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0 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= …  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jadi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a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0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...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Perhatikan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hasil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negatif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tersebut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!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-1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;  2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-2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; 2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-3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…..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-1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;  3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-2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; 3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-3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…..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-1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;  a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-2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;  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-3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US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;   a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-4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.   jadi  a</a:t>
                </a:r>
                <a:r>
                  <a:rPr kumimoji="0" lang="pt-BR" sz="24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-n</a:t>
                </a:r>
                <a:r>
                  <a: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….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24" y="683417"/>
                <a:ext cx="6649176" cy="5815823"/>
              </a:xfrm>
              <a:prstGeom prst="rect">
                <a:avLst/>
              </a:prstGeom>
              <a:blipFill rotWithShape="1">
                <a:blip r:embed="rId2"/>
                <a:stretch>
                  <a:fillRect l="-733"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57546" y="610164"/>
                <a:ext cx="4553676" cy="369364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Calligraphy" pitchFamily="66" charset="0"/>
                    <a:ea typeface="+mn-ea"/>
                    <a:cs typeface="+mn-cs"/>
                  </a:rPr>
                  <a:t>Ayo Kita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Calligraphy" pitchFamily="66" charset="0"/>
                    <a:ea typeface="+mn-ea"/>
                    <a:cs typeface="+mn-cs"/>
                  </a:rPr>
                  <a:t>Simpulkan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Calligraphy" pitchFamily="66" charset="0"/>
                    <a:ea typeface="+mn-ea"/>
                    <a:cs typeface="+mn-cs"/>
                  </a:rPr>
                  <a:t> !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PANGKAT NOL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Untuk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setiap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dipangkatkan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nol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,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pasti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bernilai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1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atau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ditulis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	 </a:t>
                </a:r>
                <a:r>
                  <a: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</a:t>
                </a:r>
                <a:r>
                  <a:rPr kumimoji="0" lang="en-US" sz="2000" b="0" i="1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0 </a:t>
                </a:r>
                <a:r>
                  <a: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= 1</a:t>
                </a:r>
                <a:r>
                  <a:rPr kumimoji="0" lang="en-US" sz="1800" b="0" i="1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untuk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real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≠ 0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 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PANGKAT NEGATIF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Untuk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setiap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 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real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tak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nol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n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bulat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,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berlaku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: 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 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         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≠ 0,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 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real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n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bulat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546" y="610164"/>
                <a:ext cx="4553676" cy="3693640"/>
              </a:xfrm>
              <a:prstGeom prst="rect">
                <a:avLst/>
              </a:prstGeom>
              <a:blipFill rotWithShape="1">
                <a:blip r:embed="rId3"/>
                <a:stretch>
                  <a:fillRect l="-1071" t="-825" r="-268" b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190228" y="1477438"/>
            <a:ext cx="40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0228" y="1725168"/>
            <a:ext cx="40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227" y="2011152"/>
            <a:ext cx="40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8093" y="2307426"/>
            <a:ext cx="40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21621" y="2484010"/>
                <a:ext cx="433620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621" y="2484010"/>
                <a:ext cx="433620" cy="55335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15769" y="2792255"/>
                <a:ext cx="433620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769" y="2792255"/>
                <a:ext cx="433620" cy="55335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221621" y="3025170"/>
                <a:ext cx="433620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621" y="3025170"/>
                <a:ext cx="433620" cy="55335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 15"/>
          <p:cNvSpPr/>
          <p:nvPr/>
        </p:nvSpPr>
        <p:spPr>
          <a:xfrm>
            <a:off x="1574924" y="1590004"/>
            <a:ext cx="157655" cy="319830"/>
          </a:xfrm>
          <a:custGeom>
            <a:avLst/>
            <a:gdLst>
              <a:gd name="connsiteX0" fmla="*/ 15765 w 196167"/>
              <a:gd name="connsiteY0" fmla="*/ 0 h 662151"/>
              <a:gd name="connsiteX1" fmla="*/ 94593 w 196167"/>
              <a:gd name="connsiteY1" fmla="*/ 15765 h 662151"/>
              <a:gd name="connsiteX2" fmla="*/ 126124 w 196167"/>
              <a:gd name="connsiteY2" fmla="*/ 110358 h 662151"/>
              <a:gd name="connsiteX3" fmla="*/ 157655 w 196167"/>
              <a:gd name="connsiteY3" fmla="*/ 157655 h 662151"/>
              <a:gd name="connsiteX4" fmla="*/ 173420 w 196167"/>
              <a:gd name="connsiteY4" fmla="*/ 504496 h 662151"/>
              <a:gd name="connsiteX5" fmla="*/ 157655 w 196167"/>
              <a:gd name="connsiteY5" fmla="*/ 551793 h 662151"/>
              <a:gd name="connsiteX6" fmla="*/ 110358 w 196167"/>
              <a:gd name="connsiteY6" fmla="*/ 583324 h 662151"/>
              <a:gd name="connsiteX7" fmla="*/ 78827 w 196167"/>
              <a:gd name="connsiteY7" fmla="*/ 630620 h 662151"/>
              <a:gd name="connsiteX8" fmla="*/ 31531 w 196167"/>
              <a:gd name="connsiteY8" fmla="*/ 646386 h 662151"/>
              <a:gd name="connsiteX9" fmla="*/ 0 w 196167"/>
              <a:gd name="connsiteY9" fmla="*/ 662151 h 662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167" h="662151">
                <a:moveTo>
                  <a:pt x="15765" y="0"/>
                </a:moveTo>
                <a:cubicBezTo>
                  <a:pt x="42041" y="5255"/>
                  <a:pt x="75645" y="-3183"/>
                  <a:pt x="94593" y="15765"/>
                </a:cubicBezTo>
                <a:cubicBezTo>
                  <a:pt x="118095" y="39267"/>
                  <a:pt x="107688" y="82703"/>
                  <a:pt x="126124" y="110358"/>
                </a:cubicBezTo>
                <a:lnTo>
                  <a:pt x="157655" y="157655"/>
                </a:lnTo>
                <a:cubicBezTo>
                  <a:pt x="212168" y="321193"/>
                  <a:pt x="200535" y="246903"/>
                  <a:pt x="173420" y="504496"/>
                </a:cubicBezTo>
                <a:cubicBezTo>
                  <a:pt x="171680" y="521023"/>
                  <a:pt x="168036" y="538816"/>
                  <a:pt x="157655" y="551793"/>
                </a:cubicBezTo>
                <a:cubicBezTo>
                  <a:pt x="145818" y="566589"/>
                  <a:pt x="126124" y="572814"/>
                  <a:pt x="110358" y="583324"/>
                </a:cubicBezTo>
                <a:cubicBezTo>
                  <a:pt x="99848" y="599089"/>
                  <a:pt x="93623" y="618783"/>
                  <a:pt x="78827" y="630620"/>
                </a:cubicBezTo>
                <a:cubicBezTo>
                  <a:pt x="65850" y="641001"/>
                  <a:pt x="46961" y="640214"/>
                  <a:pt x="31531" y="646386"/>
                </a:cubicBezTo>
                <a:cubicBezTo>
                  <a:pt x="20621" y="650750"/>
                  <a:pt x="10510" y="656896"/>
                  <a:pt x="0" y="662151"/>
                </a:cubicBezTo>
              </a:path>
            </a:pathLst>
          </a:cu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1655241" y="1884918"/>
            <a:ext cx="157655" cy="319830"/>
          </a:xfrm>
          <a:custGeom>
            <a:avLst/>
            <a:gdLst>
              <a:gd name="connsiteX0" fmla="*/ 15765 w 196167"/>
              <a:gd name="connsiteY0" fmla="*/ 0 h 662151"/>
              <a:gd name="connsiteX1" fmla="*/ 94593 w 196167"/>
              <a:gd name="connsiteY1" fmla="*/ 15765 h 662151"/>
              <a:gd name="connsiteX2" fmla="*/ 126124 w 196167"/>
              <a:gd name="connsiteY2" fmla="*/ 110358 h 662151"/>
              <a:gd name="connsiteX3" fmla="*/ 157655 w 196167"/>
              <a:gd name="connsiteY3" fmla="*/ 157655 h 662151"/>
              <a:gd name="connsiteX4" fmla="*/ 173420 w 196167"/>
              <a:gd name="connsiteY4" fmla="*/ 504496 h 662151"/>
              <a:gd name="connsiteX5" fmla="*/ 157655 w 196167"/>
              <a:gd name="connsiteY5" fmla="*/ 551793 h 662151"/>
              <a:gd name="connsiteX6" fmla="*/ 110358 w 196167"/>
              <a:gd name="connsiteY6" fmla="*/ 583324 h 662151"/>
              <a:gd name="connsiteX7" fmla="*/ 78827 w 196167"/>
              <a:gd name="connsiteY7" fmla="*/ 630620 h 662151"/>
              <a:gd name="connsiteX8" fmla="*/ 31531 w 196167"/>
              <a:gd name="connsiteY8" fmla="*/ 646386 h 662151"/>
              <a:gd name="connsiteX9" fmla="*/ 0 w 196167"/>
              <a:gd name="connsiteY9" fmla="*/ 662151 h 662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167" h="662151">
                <a:moveTo>
                  <a:pt x="15765" y="0"/>
                </a:moveTo>
                <a:cubicBezTo>
                  <a:pt x="42041" y="5255"/>
                  <a:pt x="75645" y="-3183"/>
                  <a:pt x="94593" y="15765"/>
                </a:cubicBezTo>
                <a:cubicBezTo>
                  <a:pt x="118095" y="39267"/>
                  <a:pt x="107688" y="82703"/>
                  <a:pt x="126124" y="110358"/>
                </a:cubicBezTo>
                <a:lnTo>
                  <a:pt x="157655" y="157655"/>
                </a:lnTo>
                <a:cubicBezTo>
                  <a:pt x="212168" y="321193"/>
                  <a:pt x="200535" y="246903"/>
                  <a:pt x="173420" y="504496"/>
                </a:cubicBezTo>
                <a:cubicBezTo>
                  <a:pt x="171680" y="521023"/>
                  <a:pt x="168036" y="538816"/>
                  <a:pt x="157655" y="551793"/>
                </a:cubicBezTo>
                <a:cubicBezTo>
                  <a:pt x="145818" y="566589"/>
                  <a:pt x="126124" y="572814"/>
                  <a:pt x="110358" y="583324"/>
                </a:cubicBezTo>
                <a:cubicBezTo>
                  <a:pt x="99848" y="599089"/>
                  <a:pt x="93623" y="618783"/>
                  <a:pt x="78827" y="630620"/>
                </a:cubicBezTo>
                <a:cubicBezTo>
                  <a:pt x="65850" y="641001"/>
                  <a:pt x="46961" y="640214"/>
                  <a:pt x="31531" y="646386"/>
                </a:cubicBezTo>
                <a:cubicBezTo>
                  <a:pt x="20621" y="650750"/>
                  <a:pt x="10510" y="656896"/>
                  <a:pt x="0" y="662151"/>
                </a:cubicBezTo>
              </a:path>
            </a:pathLst>
          </a:cu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1537996" y="2164286"/>
            <a:ext cx="157655" cy="319830"/>
          </a:xfrm>
          <a:custGeom>
            <a:avLst/>
            <a:gdLst>
              <a:gd name="connsiteX0" fmla="*/ 15765 w 196167"/>
              <a:gd name="connsiteY0" fmla="*/ 0 h 662151"/>
              <a:gd name="connsiteX1" fmla="*/ 94593 w 196167"/>
              <a:gd name="connsiteY1" fmla="*/ 15765 h 662151"/>
              <a:gd name="connsiteX2" fmla="*/ 126124 w 196167"/>
              <a:gd name="connsiteY2" fmla="*/ 110358 h 662151"/>
              <a:gd name="connsiteX3" fmla="*/ 157655 w 196167"/>
              <a:gd name="connsiteY3" fmla="*/ 157655 h 662151"/>
              <a:gd name="connsiteX4" fmla="*/ 173420 w 196167"/>
              <a:gd name="connsiteY4" fmla="*/ 504496 h 662151"/>
              <a:gd name="connsiteX5" fmla="*/ 157655 w 196167"/>
              <a:gd name="connsiteY5" fmla="*/ 551793 h 662151"/>
              <a:gd name="connsiteX6" fmla="*/ 110358 w 196167"/>
              <a:gd name="connsiteY6" fmla="*/ 583324 h 662151"/>
              <a:gd name="connsiteX7" fmla="*/ 78827 w 196167"/>
              <a:gd name="connsiteY7" fmla="*/ 630620 h 662151"/>
              <a:gd name="connsiteX8" fmla="*/ 31531 w 196167"/>
              <a:gd name="connsiteY8" fmla="*/ 646386 h 662151"/>
              <a:gd name="connsiteX9" fmla="*/ 0 w 196167"/>
              <a:gd name="connsiteY9" fmla="*/ 662151 h 662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167" h="662151">
                <a:moveTo>
                  <a:pt x="15765" y="0"/>
                </a:moveTo>
                <a:cubicBezTo>
                  <a:pt x="42041" y="5255"/>
                  <a:pt x="75645" y="-3183"/>
                  <a:pt x="94593" y="15765"/>
                </a:cubicBezTo>
                <a:cubicBezTo>
                  <a:pt x="118095" y="39267"/>
                  <a:pt x="107688" y="82703"/>
                  <a:pt x="126124" y="110358"/>
                </a:cubicBezTo>
                <a:lnTo>
                  <a:pt x="157655" y="157655"/>
                </a:lnTo>
                <a:cubicBezTo>
                  <a:pt x="212168" y="321193"/>
                  <a:pt x="200535" y="246903"/>
                  <a:pt x="173420" y="504496"/>
                </a:cubicBezTo>
                <a:cubicBezTo>
                  <a:pt x="171680" y="521023"/>
                  <a:pt x="168036" y="538816"/>
                  <a:pt x="157655" y="551793"/>
                </a:cubicBezTo>
                <a:cubicBezTo>
                  <a:pt x="145818" y="566589"/>
                  <a:pt x="126124" y="572814"/>
                  <a:pt x="110358" y="583324"/>
                </a:cubicBezTo>
                <a:cubicBezTo>
                  <a:pt x="99848" y="599089"/>
                  <a:pt x="93623" y="618783"/>
                  <a:pt x="78827" y="630620"/>
                </a:cubicBezTo>
                <a:cubicBezTo>
                  <a:pt x="65850" y="641001"/>
                  <a:pt x="46961" y="640214"/>
                  <a:pt x="31531" y="646386"/>
                </a:cubicBezTo>
                <a:cubicBezTo>
                  <a:pt x="20621" y="650750"/>
                  <a:pt x="10510" y="656896"/>
                  <a:pt x="0" y="662151"/>
                </a:cubicBezTo>
              </a:path>
            </a:pathLst>
          </a:cu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74332" y="1524736"/>
            <a:ext cx="72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: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7979" y="1477438"/>
            <a:ext cx="58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116" y="1785124"/>
            <a:ext cx="40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115" y="2051614"/>
            <a:ext cx="40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942" y="2303015"/>
            <a:ext cx="40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715607" y="2519213"/>
                <a:ext cx="433620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607" y="2519213"/>
                <a:ext cx="433620" cy="55335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872757" y="2760723"/>
                <a:ext cx="433620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757" y="2760723"/>
                <a:ext cx="433620" cy="553357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640043" y="3041703"/>
                <a:ext cx="433620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𝟐𝟕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043" y="3041703"/>
                <a:ext cx="433620" cy="55335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 29"/>
          <p:cNvSpPr/>
          <p:nvPr/>
        </p:nvSpPr>
        <p:spPr>
          <a:xfrm>
            <a:off x="5162724" y="1584695"/>
            <a:ext cx="157655" cy="319830"/>
          </a:xfrm>
          <a:custGeom>
            <a:avLst/>
            <a:gdLst>
              <a:gd name="connsiteX0" fmla="*/ 15765 w 196167"/>
              <a:gd name="connsiteY0" fmla="*/ 0 h 662151"/>
              <a:gd name="connsiteX1" fmla="*/ 94593 w 196167"/>
              <a:gd name="connsiteY1" fmla="*/ 15765 h 662151"/>
              <a:gd name="connsiteX2" fmla="*/ 126124 w 196167"/>
              <a:gd name="connsiteY2" fmla="*/ 110358 h 662151"/>
              <a:gd name="connsiteX3" fmla="*/ 157655 w 196167"/>
              <a:gd name="connsiteY3" fmla="*/ 157655 h 662151"/>
              <a:gd name="connsiteX4" fmla="*/ 173420 w 196167"/>
              <a:gd name="connsiteY4" fmla="*/ 504496 h 662151"/>
              <a:gd name="connsiteX5" fmla="*/ 157655 w 196167"/>
              <a:gd name="connsiteY5" fmla="*/ 551793 h 662151"/>
              <a:gd name="connsiteX6" fmla="*/ 110358 w 196167"/>
              <a:gd name="connsiteY6" fmla="*/ 583324 h 662151"/>
              <a:gd name="connsiteX7" fmla="*/ 78827 w 196167"/>
              <a:gd name="connsiteY7" fmla="*/ 630620 h 662151"/>
              <a:gd name="connsiteX8" fmla="*/ 31531 w 196167"/>
              <a:gd name="connsiteY8" fmla="*/ 646386 h 662151"/>
              <a:gd name="connsiteX9" fmla="*/ 0 w 196167"/>
              <a:gd name="connsiteY9" fmla="*/ 662151 h 662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167" h="662151">
                <a:moveTo>
                  <a:pt x="15765" y="0"/>
                </a:moveTo>
                <a:cubicBezTo>
                  <a:pt x="42041" y="5255"/>
                  <a:pt x="75645" y="-3183"/>
                  <a:pt x="94593" y="15765"/>
                </a:cubicBezTo>
                <a:cubicBezTo>
                  <a:pt x="118095" y="39267"/>
                  <a:pt x="107688" y="82703"/>
                  <a:pt x="126124" y="110358"/>
                </a:cubicBezTo>
                <a:lnTo>
                  <a:pt x="157655" y="157655"/>
                </a:lnTo>
                <a:cubicBezTo>
                  <a:pt x="212168" y="321193"/>
                  <a:pt x="200535" y="246903"/>
                  <a:pt x="173420" y="504496"/>
                </a:cubicBezTo>
                <a:cubicBezTo>
                  <a:pt x="171680" y="521023"/>
                  <a:pt x="168036" y="538816"/>
                  <a:pt x="157655" y="551793"/>
                </a:cubicBezTo>
                <a:cubicBezTo>
                  <a:pt x="145818" y="566589"/>
                  <a:pt x="126124" y="572814"/>
                  <a:pt x="110358" y="583324"/>
                </a:cubicBezTo>
                <a:cubicBezTo>
                  <a:pt x="99848" y="599089"/>
                  <a:pt x="93623" y="618783"/>
                  <a:pt x="78827" y="630620"/>
                </a:cubicBezTo>
                <a:cubicBezTo>
                  <a:pt x="65850" y="641001"/>
                  <a:pt x="46961" y="640214"/>
                  <a:pt x="31531" y="646386"/>
                </a:cubicBezTo>
                <a:cubicBezTo>
                  <a:pt x="20621" y="650750"/>
                  <a:pt x="10510" y="656896"/>
                  <a:pt x="0" y="662151"/>
                </a:cubicBezTo>
              </a:path>
            </a:pathLst>
          </a:cu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69441" y="1568030"/>
            <a:ext cx="72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: 3</a:t>
            </a:r>
          </a:p>
        </p:txBody>
      </p:sp>
      <p:sp>
        <p:nvSpPr>
          <p:cNvPr id="32" name="Freeform 31"/>
          <p:cNvSpPr/>
          <p:nvPr/>
        </p:nvSpPr>
        <p:spPr>
          <a:xfrm>
            <a:off x="5249917" y="1909834"/>
            <a:ext cx="157655" cy="319830"/>
          </a:xfrm>
          <a:custGeom>
            <a:avLst/>
            <a:gdLst>
              <a:gd name="connsiteX0" fmla="*/ 15765 w 196167"/>
              <a:gd name="connsiteY0" fmla="*/ 0 h 662151"/>
              <a:gd name="connsiteX1" fmla="*/ 94593 w 196167"/>
              <a:gd name="connsiteY1" fmla="*/ 15765 h 662151"/>
              <a:gd name="connsiteX2" fmla="*/ 126124 w 196167"/>
              <a:gd name="connsiteY2" fmla="*/ 110358 h 662151"/>
              <a:gd name="connsiteX3" fmla="*/ 157655 w 196167"/>
              <a:gd name="connsiteY3" fmla="*/ 157655 h 662151"/>
              <a:gd name="connsiteX4" fmla="*/ 173420 w 196167"/>
              <a:gd name="connsiteY4" fmla="*/ 504496 h 662151"/>
              <a:gd name="connsiteX5" fmla="*/ 157655 w 196167"/>
              <a:gd name="connsiteY5" fmla="*/ 551793 h 662151"/>
              <a:gd name="connsiteX6" fmla="*/ 110358 w 196167"/>
              <a:gd name="connsiteY6" fmla="*/ 583324 h 662151"/>
              <a:gd name="connsiteX7" fmla="*/ 78827 w 196167"/>
              <a:gd name="connsiteY7" fmla="*/ 630620 h 662151"/>
              <a:gd name="connsiteX8" fmla="*/ 31531 w 196167"/>
              <a:gd name="connsiteY8" fmla="*/ 646386 h 662151"/>
              <a:gd name="connsiteX9" fmla="*/ 0 w 196167"/>
              <a:gd name="connsiteY9" fmla="*/ 662151 h 662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167" h="662151">
                <a:moveTo>
                  <a:pt x="15765" y="0"/>
                </a:moveTo>
                <a:cubicBezTo>
                  <a:pt x="42041" y="5255"/>
                  <a:pt x="75645" y="-3183"/>
                  <a:pt x="94593" y="15765"/>
                </a:cubicBezTo>
                <a:cubicBezTo>
                  <a:pt x="118095" y="39267"/>
                  <a:pt x="107688" y="82703"/>
                  <a:pt x="126124" y="110358"/>
                </a:cubicBezTo>
                <a:lnTo>
                  <a:pt x="157655" y="157655"/>
                </a:lnTo>
                <a:cubicBezTo>
                  <a:pt x="212168" y="321193"/>
                  <a:pt x="200535" y="246903"/>
                  <a:pt x="173420" y="504496"/>
                </a:cubicBezTo>
                <a:cubicBezTo>
                  <a:pt x="171680" y="521023"/>
                  <a:pt x="168036" y="538816"/>
                  <a:pt x="157655" y="551793"/>
                </a:cubicBezTo>
                <a:cubicBezTo>
                  <a:pt x="145818" y="566589"/>
                  <a:pt x="126124" y="572814"/>
                  <a:pt x="110358" y="583324"/>
                </a:cubicBezTo>
                <a:cubicBezTo>
                  <a:pt x="99848" y="599089"/>
                  <a:pt x="93623" y="618783"/>
                  <a:pt x="78827" y="630620"/>
                </a:cubicBezTo>
                <a:cubicBezTo>
                  <a:pt x="65850" y="641001"/>
                  <a:pt x="46961" y="640214"/>
                  <a:pt x="31531" y="646386"/>
                </a:cubicBezTo>
                <a:cubicBezTo>
                  <a:pt x="20621" y="650750"/>
                  <a:pt x="10510" y="656896"/>
                  <a:pt x="0" y="662151"/>
                </a:cubicBezTo>
              </a:path>
            </a:pathLst>
          </a:cu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8141" y="3949468"/>
            <a:ext cx="40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05881" y="3949468"/>
            <a:ext cx="40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5926" y="3949468"/>
            <a:ext cx="40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0255" y="3949468"/>
            <a:ext cx="40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089768" y="4794738"/>
                <a:ext cx="433620" cy="568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e>
                            <m:sup>
                              <m: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8" y="4794738"/>
                <a:ext cx="433620" cy="56829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089768" y="5363035"/>
                <a:ext cx="433620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𝟑</m:t>
                              </m:r>
                            </m:e>
                            <m:sup>
                              <m: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8" y="5363035"/>
                <a:ext cx="433620" cy="55496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253381" y="5857321"/>
                <a:ext cx="433620" cy="569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  <m:sup>
                              <m: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381" y="5857321"/>
                <a:ext cx="433620" cy="56990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076160" y="4379993"/>
                <a:ext cx="4635062" cy="2393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Perhatikan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contoh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soal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1.2 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1.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Ubahlah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menjadi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positif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  a. 4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-2	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= ……    		b. 6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-3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= ….. 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2.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Hitunglah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!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a. 9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0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+  </a:t>
                </a:r>
                <a14:m>
                  <m:oMath xmlns:m="http://schemas.openxmlformats.org/officeDocument/2006/math">
                    <m:r>
                      <a:rPr kumimoji="0" lang="en-GB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(</m:t>
                    </m:r>
                    <m:sSup>
                      <m:sSup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f>
                          <m:f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GB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num>
                          <m:den>
                            <m:r>
                              <a:rPr kumimoji="0" lang="en-GB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3</m:t>
                            </m:r>
                          </m:den>
                        </m:f>
                        <m:r>
                          <a:rPr kumimoji="0" lang="en-GB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GB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+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GB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GB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−2</m:t>
                        </m:r>
                      </m:sup>
                    </m:sSup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160" y="4379993"/>
                <a:ext cx="4635062" cy="2393669"/>
              </a:xfrm>
              <a:prstGeom prst="rect">
                <a:avLst/>
              </a:prstGeom>
              <a:blipFill rotWithShape="1">
                <a:blip r:embed="rId13"/>
                <a:stretch>
                  <a:fillRect l="-1184" t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9355554" y="5699276"/>
                <a:ext cx="1475354" cy="44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1 + 1 +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kumimoji="0" lang="en-US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𝟓</m:t>
                            </m:r>
                          </m:e>
                          <m:sup>
                            <m:r>
                              <a:rPr kumimoji="0" lang="en-US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554" y="5699276"/>
                <a:ext cx="1475354" cy="446982"/>
              </a:xfrm>
              <a:prstGeom prst="rect">
                <a:avLst/>
              </a:prstGeom>
              <a:blipFill rotWithShape="1">
                <a:blip r:embed="rId14"/>
                <a:stretch>
                  <a:fillRect l="-2479" b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9082272" y="6040868"/>
                <a:ext cx="1475354" cy="44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= 2  +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𝟐𝟓</m:t>
                        </m:r>
                      </m:den>
                    </m:f>
                  </m:oMath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272" y="6040868"/>
                <a:ext cx="1475354" cy="446982"/>
              </a:xfrm>
              <a:prstGeom prst="rect">
                <a:avLst/>
              </a:prstGeom>
              <a:blipFill rotWithShape="1">
                <a:blip r:embed="rId15"/>
                <a:stretch>
                  <a:fillRect l="-2479" b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0124763" y="6061741"/>
                <a:ext cx="991880" cy="44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=  2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𝟐𝟓</m:t>
                        </m:r>
                      </m:den>
                    </m:f>
                  </m:oMath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4763" y="6061741"/>
                <a:ext cx="991880" cy="446982"/>
              </a:xfrm>
              <a:prstGeom prst="rect">
                <a:avLst/>
              </a:prstGeom>
              <a:blipFill rotWithShape="1">
                <a:blip r:embed="rId16"/>
                <a:stretch>
                  <a:fillRect l="-3681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8266113" y="5006927"/>
                <a:ext cx="433620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𝟒</m:t>
                              </m:r>
                            </m:e>
                            <m:sup>
                              <m: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113" y="5006927"/>
                <a:ext cx="433620" cy="553357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8699732" y="5031588"/>
                <a:ext cx="734651" cy="569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𝟏𝟔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9732" y="5031588"/>
                <a:ext cx="734651" cy="569900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0746088" y="5038459"/>
                <a:ext cx="433620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𝟔</m:t>
                              </m:r>
                            </m:e>
                            <m:sup>
                              <m: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088" y="5038459"/>
                <a:ext cx="433620" cy="554960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1179707" y="5031588"/>
                <a:ext cx="734651" cy="569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𝟐𝟏𝟔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707" y="5031588"/>
                <a:ext cx="734651" cy="569900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ounded Rectangle 48"/>
          <p:cNvSpPr/>
          <p:nvPr/>
        </p:nvSpPr>
        <p:spPr>
          <a:xfrm>
            <a:off x="7253210" y="3426160"/>
            <a:ext cx="1573523" cy="539074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125847" y="1749919"/>
            <a:ext cx="1267844" cy="369332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1627053" y="2456984"/>
            <a:ext cx="157655" cy="319830"/>
          </a:xfrm>
          <a:custGeom>
            <a:avLst/>
            <a:gdLst>
              <a:gd name="connsiteX0" fmla="*/ 15765 w 196167"/>
              <a:gd name="connsiteY0" fmla="*/ 0 h 662151"/>
              <a:gd name="connsiteX1" fmla="*/ 94593 w 196167"/>
              <a:gd name="connsiteY1" fmla="*/ 15765 h 662151"/>
              <a:gd name="connsiteX2" fmla="*/ 126124 w 196167"/>
              <a:gd name="connsiteY2" fmla="*/ 110358 h 662151"/>
              <a:gd name="connsiteX3" fmla="*/ 157655 w 196167"/>
              <a:gd name="connsiteY3" fmla="*/ 157655 h 662151"/>
              <a:gd name="connsiteX4" fmla="*/ 173420 w 196167"/>
              <a:gd name="connsiteY4" fmla="*/ 504496 h 662151"/>
              <a:gd name="connsiteX5" fmla="*/ 157655 w 196167"/>
              <a:gd name="connsiteY5" fmla="*/ 551793 h 662151"/>
              <a:gd name="connsiteX6" fmla="*/ 110358 w 196167"/>
              <a:gd name="connsiteY6" fmla="*/ 583324 h 662151"/>
              <a:gd name="connsiteX7" fmla="*/ 78827 w 196167"/>
              <a:gd name="connsiteY7" fmla="*/ 630620 h 662151"/>
              <a:gd name="connsiteX8" fmla="*/ 31531 w 196167"/>
              <a:gd name="connsiteY8" fmla="*/ 646386 h 662151"/>
              <a:gd name="connsiteX9" fmla="*/ 0 w 196167"/>
              <a:gd name="connsiteY9" fmla="*/ 662151 h 662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167" h="662151">
                <a:moveTo>
                  <a:pt x="15765" y="0"/>
                </a:moveTo>
                <a:cubicBezTo>
                  <a:pt x="42041" y="5255"/>
                  <a:pt x="75645" y="-3183"/>
                  <a:pt x="94593" y="15765"/>
                </a:cubicBezTo>
                <a:cubicBezTo>
                  <a:pt x="118095" y="39267"/>
                  <a:pt x="107688" y="82703"/>
                  <a:pt x="126124" y="110358"/>
                </a:cubicBezTo>
                <a:lnTo>
                  <a:pt x="157655" y="157655"/>
                </a:lnTo>
                <a:cubicBezTo>
                  <a:pt x="212168" y="321193"/>
                  <a:pt x="200535" y="246903"/>
                  <a:pt x="173420" y="504496"/>
                </a:cubicBezTo>
                <a:cubicBezTo>
                  <a:pt x="171680" y="521023"/>
                  <a:pt x="168036" y="538816"/>
                  <a:pt x="157655" y="551793"/>
                </a:cubicBezTo>
                <a:cubicBezTo>
                  <a:pt x="145818" y="566589"/>
                  <a:pt x="126124" y="572814"/>
                  <a:pt x="110358" y="583324"/>
                </a:cubicBezTo>
                <a:cubicBezTo>
                  <a:pt x="99848" y="599089"/>
                  <a:pt x="93623" y="618783"/>
                  <a:pt x="78827" y="630620"/>
                </a:cubicBezTo>
                <a:cubicBezTo>
                  <a:pt x="65850" y="641001"/>
                  <a:pt x="46961" y="640214"/>
                  <a:pt x="31531" y="646386"/>
                </a:cubicBezTo>
                <a:cubicBezTo>
                  <a:pt x="20621" y="650750"/>
                  <a:pt x="10510" y="656896"/>
                  <a:pt x="0" y="662151"/>
                </a:cubicBezTo>
              </a:path>
            </a:pathLst>
          </a:cu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5320241" y="2156771"/>
            <a:ext cx="157655" cy="319830"/>
          </a:xfrm>
          <a:custGeom>
            <a:avLst/>
            <a:gdLst>
              <a:gd name="connsiteX0" fmla="*/ 15765 w 196167"/>
              <a:gd name="connsiteY0" fmla="*/ 0 h 662151"/>
              <a:gd name="connsiteX1" fmla="*/ 94593 w 196167"/>
              <a:gd name="connsiteY1" fmla="*/ 15765 h 662151"/>
              <a:gd name="connsiteX2" fmla="*/ 126124 w 196167"/>
              <a:gd name="connsiteY2" fmla="*/ 110358 h 662151"/>
              <a:gd name="connsiteX3" fmla="*/ 157655 w 196167"/>
              <a:gd name="connsiteY3" fmla="*/ 157655 h 662151"/>
              <a:gd name="connsiteX4" fmla="*/ 173420 w 196167"/>
              <a:gd name="connsiteY4" fmla="*/ 504496 h 662151"/>
              <a:gd name="connsiteX5" fmla="*/ 157655 w 196167"/>
              <a:gd name="connsiteY5" fmla="*/ 551793 h 662151"/>
              <a:gd name="connsiteX6" fmla="*/ 110358 w 196167"/>
              <a:gd name="connsiteY6" fmla="*/ 583324 h 662151"/>
              <a:gd name="connsiteX7" fmla="*/ 78827 w 196167"/>
              <a:gd name="connsiteY7" fmla="*/ 630620 h 662151"/>
              <a:gd name="connsiteX8" fmla="*/ 31531 w 196167"/>
              <a:gd name="connsiteY8" fmla="*/ 646386 h 662151"/>
              <a:gd name="connsiteX9" fmla="*/ 0 w 196167"/>
              <a:gd name="connsiteY9" fmla="*/ 662151 h 662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167" h="662151">
                <a:moveTo>
                  <a:pt x="15765" y="0"/>
                </a:moveTo>
                <a:cubicBezTo>
                  <a:pt x="42041" y="5255"/>
                  <a:pt x="75645" y="-3183"/>
                  <a:pt x="94593" y="15765"/>
                </a:cubicBezTo>
                <a:cubicBezTo>
                  <a:pt x="118095" y="39267"/>
                  <a:pt x="107688" y="82703"/>
                  <a:pt x="126124" y="110358"/>
                </a:cubicBezTo>
                <a:lnTo>
                  <a:pt x="157655" y="157655"/>
                </a:lnTo>
                <a:cubicBezTo>
                  <a:pt x="212168" y="321193"/>
                  <a:pt x="200535" y="246903"/>
                  <a:pt x="173420" y="504496"/>
                </a:cubicBezTo>
                <a:cubicBezTo>
                  <a:pt x="171680" y="521023"/>
                  <a:pt x="168036" y="538816"/>
                  <a:pt x="157655" y="551793"/>
                </a:cubicBezTo>
                <a:cubicBezTo>
                  <a:pt x="145818" y="566589"/>
                  <a:pt x="126124" y="572814"/>
                  <a:pt x="110358" y="583324"/>
                </a:cubicBezTo>
                <a:cubicBezTo>
                  <a:pt x="99848" y="599089"/>
                  <a:pt x="93623" y="618783"/>
                  <a:pt x="78827" y="630620"/>
                </a:cubicBezTo>
                <a:cubicBezTo>
                  <a:pt x="65850" y="641001"/>
                  <a:pt x="46961" y="640214"/>
                  <a:pt x="31531" y="646386"/>
                </a:cubicBezTo>
                <a:cubicBezTo>
                  <a:pt x="20621" y="650750"/>
                  <a:pt x="10510" y="656896"/>
                  <a:pt x="0" y="662151"/>
                </a:cubicBezTo>
              </a:path>
            </a:pathLst>
          </a:cu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583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1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5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6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6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1" dur="5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5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7" dur="500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8" dur="500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>
                      <p:stCondLst>
                        <p:cond delay="indefinite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3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4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9" dur="500" fill="hold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0" dur="500" fill="hold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1" fill="hold">
                      <p:stCondLst>
                        <p:cond delay="indefinite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indefinite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7" fill="hold">
                      <p:stCondLst>
                        <p:cond delay="indefinite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id="6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9" grpId="0"/>
      <p:bldP spid="10" grpId="0"/>
      <p:bldP spid="11" grpId="0"/>
      <p:bldP spid="12" grpId="0"/>
      <p:bldP spid="16" grpId="0" animBg="1"/>
      <p:bldP spid="17" grpId="0" animBg="1"/>
      <p:bldP spid="18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 animBg="1"/>
      <p:bldP spid="31" grpId="0"/>
      <p:bldP spid="32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1" grpId="0"/>
      <p:bldP spid="42" grpId="0"/>
      <p:bldP spid="43" grpId="0"/>
      <p:bldP spid="45" grpId="0"/>
      <p:bldP spid="46" grpId="0"/>
      <p:bldP spid="47" grpId="0"/>
      <p:bldP spid="48" grpId="0"/>
      <p:bldP spid="49" grpId="0" animBg="1"/>
      <p:bldP spid="50" grpId="0" animBg="1"/>
      <p:bldP spid="51" grpId="0" animBg="1"/>
      <p:bldP spid="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457200"/>
            <a:ext cx="52387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1.3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Perkalian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pada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Perpangkatan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Ayo Kita Amati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contoh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1.3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berikut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1.  4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(4 x 4 x 4) x (4 x 4 x 4 x 4 x 4 )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            = 4 x 4 x 4 x 4 x 4 x 4 x 4 x 4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             = 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 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 + 5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Jadi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8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(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amati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pangkat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nya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2. ( - 2 )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( - 2 )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(-2) x (-2) x (-2) x (-2) x (-2)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   	  = ( - 2 )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Jadi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( -2)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(-2)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( -2 )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amati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pangkat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nya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41041" y="3539801"/>
                <a:ext cx="5293272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Calligraphy" pitchFamily="66" charset="0"/>
                    <a:ea typeface="+mn-ea"/>
                    <a:cs typeface="+mn-cs"/>
                  </a:rPr>
                  <a:t>Ayo Kita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Calligraphy" pitchFamily="66" charset="0"/>
                    <a:ea typeface="+mn-ea"/>
                    <a:cs typeface="+mn-cs"/>
                  </a:rPr>
                  <a:t>Simpulkan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Calligraphy" pitchFamily="66" charset="0"/>
                    <a:ea typeface="+mn-ea"/>
                    <a:cs typeface="+mn-cs"/>
                  </a:rPr>
                  <a:t> !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untuk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perkalian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dengan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pokok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sama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berlaku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sifat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Dimana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  :    a </a:t>
                </a:r>
                <a14:m>
                  <m:oMath xmlns:m="http://schemas.openxmlformats.org/officeDocument/2006/math">
                    <m:r>
                      <a:rPr kumimoji="0" lang="en-GB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∈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𝑅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  ;    </m:t>
                    </m:r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m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dan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n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bulat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Perkalian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dengan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pokok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sama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maka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,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pangkatnya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di .......................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41" y="3539801"/>
                <a:ext cx="5293272" cy="3139321"/>
              </a:xfrm>
              <a:prstGeom prst="rect">
                <a:avLst/>
              </a:prstGeom>
              <a:blipFill rotWithShape="1">
                <a:blip r:embed="rId3"/>
                <a:stretch>
                  <a:fillRect l="-1037" t="-971" b="-2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4" y="4537421"/>
            <a:ext cx="3057526" cy="919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079905" y="2516310"/>
            <a:ext cx="2962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Contoh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Soal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08480" y="392652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Contoh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1.4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Sederhanakan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operasi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perkalian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perpangkatan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dengan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basis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yang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sama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,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di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bawah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ini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1.  3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…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2.  p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p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7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 …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3.  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…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4.  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x 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…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70223" y="4680519"/>
            <a:ext cx="43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1480" y="4667141"/>
            <a:ext cx="285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2788" y="6279012"/>
            <a:ext cx="1888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jumlahkan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77439" y="2885642"/>
            <a:ext cx="55816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Hasil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dari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-3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....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A. 9	C.	81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B. 27	D.	162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sederhana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dari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....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A. 0	C.	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B. 1	D.	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Hasil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dari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(2a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 x (3a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 x (5b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4 )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....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A. 15a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C.30a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B. 20a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D.30a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9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499130" y="1174585"/>
                <a:ext cx="895350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130" y="1174585"/>
                <a:ext cx="895350" cy="37965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441980" y="1434408"/>
                <a:ext cx="895350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𝐩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𝟕</m:t>
                          </m:r>
                        </m:sup>
                      </m:sSup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1980" y="1434408"/>
                <a:ext cx="895350" cy="379656"/>
              </a:xfrm>
              <a:prstGeom prst="rect">
                <a:avLst/>
              </a:prstGeom>
              <a:blipFill rotWithShape="1">
                <a:blip r:embed="rId6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337330" y="1196237"/>
                <a:ext cx="54292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𝟗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330" y="1196237"/>
                <a:ext cx="542925" cy="37555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237317" y="1416188"/>
                <a:ext cx="54292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𝐩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𝟏𝟐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7" y="1416188"/>
                <a:ext cx="542925" cy="375552"/>
              </a:xfrm>
              <a:prstGeom prst="rect">
                <a:avLst/>
              </a:prstGeom>
              <a:blipFill rotWithShape="1">
                <a:blip r:embed="rId8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441980" y="1724189"/>
                <a:ext cx="54292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𝟏𝟎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1980" y="1724189"/>
                <a:ext cx="542925" cy="37555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441980" y="1982049"/>
                <a:ext cx="5429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𝐦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𝐧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1980" y="1982049"/>
                <a:ext cx="542925" cy="369332"/>
              </a:xfrm>
              <a:prstGeom prst="rect">
                <a:avLst/>
              </a:prstGeom>
              <a:blipFill rotWithShape="1">
                <a:blip r:embed="rId10"/>
                <a:stretch>
                  <a:fillRect r="-17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132498" y="2854866"/>
                <a:ext cx="1148995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+(−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)</m:t>
                          </m:r>
                        </m:sup>
                      </m:sSup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498" y="2854866"/>
                <a:ext cx="1148995" cy="38081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689421" y="4110752"/>
                <a:ext cx="1484832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+(−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)+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sup>
                      </m:sSup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421" y="4110752"/>
                <a:ext cx="1484832" cy="38081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132498" y="4934284"/>
                <a:ext cx="2843382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=(</m:t>
                      </m:r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𝟐𝐱𝟑𝐱𝟓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)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𝐱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𝐱</m:t>
                      </m:r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𝒃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498" y="4934284"/>
                <a:ext cx="2843382" cy="375552"/>
              </a:xfrm>
              <a:prstGeom prst="rect">
                <a:avLst/>
              </a:prstGeom>
              <a:blipFill rotWithShape="1">
                <a:blip r:embed="rId13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>
            <a:off x="5864772" y="0"/>
            <a:ext cx="0" cy="6679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0174253" y="2854866"/>
                <a:ext cx="701527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4253" y="2854866"/>
                <a:ext cx="701527" cy="37555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0686465" y="2849881"/>
                <a:ext cx="5453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𝟐𝟕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6465" y="2849881"/>
                <a:ext cx="545391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899706" y="4113381"/>
                <a:ext cx="786759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𝟎</m:t>
                          </m:r>
                        </m:sup>
                      </m:sSup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9706" y="4113381"/>
                <a:ext cx="786759" cy="37555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561625" y="4110752"/>
                <a:ext cx="430319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1625" y="4110752"/>
                <a:ext cx="430319" cy="37555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272926" y="4207901"/>
                <a:ext cx="4303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𝒙</m:t>
                      </m:r>
                    </m:oMath>
                  </m:oMathPara>
                </a14:m>
                <a:endParaRPr kumimoji="0" 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926" y="4207901"/>
                <a:ext cx="430319" cy="461665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259186" y="3365688"/>
                <a:ext cx="4303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𝒙</m:t>
                      </m:r>
                    </m:oMath>
                  </m:oMathPara>
                </a14:m>
                <a:endParaRPr kumimoji="0" 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186" y="3365688"/>
                <a:ext cx="430319" cy="46166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824240" y="4728296"/>
                <a:ext cx="4303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𝒙</m:t>
                      </m:r>
                    </m:oMath>
                  </m:oMathPara>
                </a14:m>
                <a:endParaRPr kumimoji="0" 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240" y="4728296"/>
                <a:ext cx="430319" cy="461665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121373" y="5348993"/>
                <a:ext cx="1754408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 </m:t>
                      </m:r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𝟑𝟎</m:t>
                      </m:r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  </m:t>
                      </m:r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𝒃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373" y="5348993"/>
                <a:ext cx="1754408" cy="379656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43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7356" y="216068"/>
            <a:ext cx="5410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1.4.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Memangkatkan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Suatu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Perpangkatan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(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berpangkat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di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pangkatkan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lagi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Ayo Kita Amati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contoh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berikut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	( 4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(4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 x (4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  	  = ( 4 x 4 x 4 ) x  (4 x 4 x 4 )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  = 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Jadi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( 4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        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amati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pangkatnya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2. ( 8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)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	= 8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8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8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x 8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= 8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(3 + 3 + 3 + 3 )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= 8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12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Jadi  ( 8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)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8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 x 4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8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12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3.  ( 7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………    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jawab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dg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cara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cepat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!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4.  (y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7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………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65456" y="3835894"/>
                <a:ext cx="5427625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Calligraphy" pitchFamily="66" charset="0"/>
                    <a:ea typeface="+mn-ea"/>
                    <a:cs typeface="+mn-cs"/>
                  </a:rPr>
                  <a:t>Ayo Kita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Calligraphy" pitchFamily="66" charset="0"/>
                    <a:ea typeface="+mn-ea"/>
                    <a:cs typeface="+mn-cs"/>
                  </a:rPr>
                  <a:t>Simpulkan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Calligraphy" pitchFamily="66" charset="0"/>
                    <a:ea typeface="+mn-ea"/>
                    <a:cs typeface="+mn-cs"/>
                  </a:rPr>
                  <a:t> !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untuk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operasi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di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pangkatkan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lagi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berlaku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sifat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: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27432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dengan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, a </a:t>
                </a:r>
                <a14:m>
                  <m:oMath xmlns:m="http://schemas.openxmlformats.org/officeDocument/2006/math">
                    <m:r>
                      <a:rPr kumimoji="0" lang="en-GB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∈</m:t>
                    </m:r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R ,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m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n 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bulat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positif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 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Operasi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bilangan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berpangkat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di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pangkatkan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lagi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maka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,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pangkatnya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.................................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56" y="3835894"/>
                <a:ext cx="5427625" cy="2585323"/>
              </a:xfrm>
              <a:prstGeom prst="rect">
                <a:avLst/>
              </a:prstGeom>
              <a:blipFill rotWithShape="1">
                <a:blip r:embed="rId2"/>
                <a:stretch>
                  <a:fillRect l="-898" t="-1179" r="-2581" b="-3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4756976"/>
            <a:ext cx="2722856" cy="870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6075325" y="0"/>
            <a:ext cx="0" cy="6679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280484" y="433137"/>
            <a:ext cx="31041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Asesmen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Formatif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1.4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Sederhanakan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365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a. ( 2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= …….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365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b. ( 3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= ……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2. (p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	= …...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Hitunglah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889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a. (2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2 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…….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889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b. ((4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1/2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= ………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88925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280484" y="3056021"/>
                <a:ext cx="5005137" cy="1555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4.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Nilai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dari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−2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adalah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....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88925" algn="l"/>
                    <a:tab pos="13716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	A. .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16</m:t>
                        </m:r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	C.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16</m:t>
                        </m:r>
                      </m:den>
                    </m:f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88925" algn="l"/>
                    <a:tab pos="1323975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	B.</a:t>
                </a:r>
                <a14:m>
                  <m:oMath xmlns:m="http://schemas.openxmlformats.org/officeDocument/2006/math">
                    <m:r>
                      <a:rPr kumimoji="0" lang="en-US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 .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256</m:t>
                        </m:r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	 D.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256</m:t>
                        </m:r>
                      </m:den>
                    </m:f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84" y="3056021"/>
                <a:ext cx="5005137" cy="1555362"/>
              </a:xfrm>
              <a:prstGeom prst="rect">
                <a:avLst/>
              </a:prstGeom>
              <a:blipFill rotWithShape="1">
                <a:blip r:embed="rId4"/>
                <a:stretch>
                  <a:fillRect l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47850" y="3206883"/>
                <a:ext cx="64920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𝟕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𝟐𝐱𝟓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850" y="3206883"/>
                <a:ext cx="649204" cy="37965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362200" y="3232623"/>
                <a:ext cx="649204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𝟕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𝟏𝟎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232623"/>
                <a:ext cx="649204" cy="375552"/>
              </a:xfrm>
              <a:prstGeom prst="rect">
                <a:avLst/>
              </a:prstGeom>
              <a:blipFill rotWithShape="1">
                <a:blip r:embed="rId6"/>
                <a:stretch>
                  <a:fillRect r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733550" y="3513388"/>
                <a:ext cx="64920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𝐲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𝟕𝐱𝟑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550" y="3513388"/>
                <a:ext cx="649204" cy="379656"/>
              </a:xfrm>
              <a:prstGeom prst="rect">
                <a:avLst/>
              </a:prstGeom>
              <a:blipFill rotWithShape="1">
                <a:blip r:embed="rId7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286000" y="3514785"/>
                <a:ext cx="649204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𝐲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𝟐𝟏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514785"/>
                <a:ext cx="649204" cy="375552"/>
              </a:xfrm>
              <a:prstGeom prst="rect">
                <a:avLst/>
              </a:prstGeom>
              <a:blipFill rotWithShape="1">
                <a:blip r:embed="rId8"/>
                <a:stretch>
                  <a:fillRect r="-12264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948362" y="960534"/>
                <a:ext cx="64920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𝟑𝐱𝟓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362" y="960534"/>
                <a:ext cx="649204" cy="37965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458450" y="960534"/>
                <a:ext cx="64920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450" y="960534"/>
                <a:ext cx="649204" cy="379656"/>
              </a:xfrm>
              <a:prstGeom prst="rect">
                <a:avLst/>
              </a:prstGeom>
              <a:blipFill rotWithShape="1">
                <a:blip r:embed="rId10"/>
                <a:stretch>
                  <a:fillRect r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948362" y="1245743"/>
                <a:ext cx="64920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𝟐𝐱𝟒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362" y="1245743"/>
                <a:ext cx="649204" cy="379656"/>
              </a:xfrm>
              <a:prstGeom prst="rect">
                <a:avLst/>
              </a:prstGeom>
              <a:blipFill rotWithShape="1">
                <a:blip r:embed="rId11"/>
                <a:stretch>
                  <a:fillRect r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528886" y="1249847"/>
                <a:ext cx="781050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𝟖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8886" y="1249847"/>
                <a:ext cx="781050" cy="375552"/>
              </a:xfrm>
              <a:prstGeom prst="rect">
                <a:avLst/>
              </a:prstGeom>
              <a:blipFill rotWithShape="1">
                <a:blip r:embed="rId12"/>
                <a:stretch>
                  <a:fillRect r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384632" y="1120773"/>
                <a:ext cx="864268" cy="629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𝟑</m:t>
                              </m:r>
                            </m:e>
                            <m:sup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𝟖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632" y="1120773"/>
                <a:ext cx="864268" cy="629596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507956" y="1511640"/>
                <a:ext cx="64920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𝐩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𝟐𝐱𝟓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956" y="1511640"/>
                <a:ext cx="649204" cy="379656"/>
              </a:xfrm>
              <a:prstGeom prst="rect">
                <a:avLst/>
              </a:prstGeom>
              <a:blipFill rotWithShape="1">
                <a:blip r:embed="rId1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18044" y="1511640"/>
                <a:ext cx="64920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𝐩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𝟏𝟎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8044" y="1511640"/>
                <a:ext cx="649204" cy="379656"/>
              </a:xfrm>
              <a:prstGeom prst="rect">
                <a:avLst/>
              </a:prstGeom>
              <a:blipFill rotWithShape="1">
                <a:blip r:embed="rId15"/>
                <a:stretch>
                  <a:fillRect r="-13084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16816" y="2062727"/>
                <a:ext cx="649204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e>
                            <m:sup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𝟓</m:t>
                              </m:r>
                            </m:sup>
                          </m:s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816" y="2062727"/>
                <a:ext cx="649204" cy="392993"/>
              </a:xfrm>
              <a:prstGeom prst="rect">
                <a:avLst/>
              </a:prstGeom>
              <a:blipFill rotWithShape="1">
                <a:blip r:embed="rId16"/>
                <a:stretch>
                  <a:fillRect l="-2830" r="-7547"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822154" y="2062727"/>
                <a:ext cx="64920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𝟏𝟎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154" y="2062727"/>
                <a:ext cx="649204" cy="379656"/>
              </a:xfrm>
              <a:prstGeom prst="rect">
                <a:avLst/>
              </a:prstGeom>
              <a:blipFill rotWithShape="1">
                <a:blip r:embed="rId17"/>
                <a:stretch>
                  <a:fillRect r="-1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9562596" y="2095114"/>
            <a:ext cx="95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= 1024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272964" y="2203580"/>
                <a:ext cx="1036972" cy="500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𝟐𝐱𝟓𝐱</m:t>
                          </m:r>
                          <m:f>
                            <m:f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num>
                            <m:den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2964" y="2203580"/>
                <a:ext cx="1036972" cy="500906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9060030" y="2342755"/>
                <a:ext cx="64920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030" y="2342755"/>
                <a:ext cx="649204" cy="379656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9709234" y="2380250"/>
            <a:ext cx="95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= 1024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921415" y="3332868"/>
                <a:ext cx="781050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𝟖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415" y="3332868"/>
                <a:ext cx="781050" cy="375552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9777161" y="3203794"/>
                <a:ext cx="864268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e>
                            <m:sup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𝟖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161" y="3203794"/>
                <a:ext cx="864268" cy="610936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0594059" y="3252893"/>
                <a:ext cx="864268" cy="627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𝟐𝟓𝟔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4059" y="3252893"/>
                <a:ext cx="864268" cy="627801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553452" y="4886739"/>
            <a:ext cx="49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0374" y="4861148"/>
            <a:ext cx="49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3356" y="6051885"/>
            <a:ext cx="12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dikalikan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6050" y="3757580"/>
            <a:ext cx="49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gerian" pitchFamily="82" charset="0"/>
                <a:ea typeface="+mn-ea"/>
                <a:cs typeface="+mn-cs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77638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9" grpId="0"/>
      <p:bldP spid="33" grpId="0"/>
      <p:bldP spid="34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90122"/>
            <a:ext cx="6496050" cy="657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1.5.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Memangkatkan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Suatu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Perkalian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Ayo Kita Amati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contoh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berikut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5715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  ( 3 x 5 )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	= ( 3 x 5 ) x ( 3 x 5 )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	=  3 x 3 x 5 x 5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	= 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5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Jadi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( 3 x 5 )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3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5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2.  ( 2 x p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	= ( 2 x p ) x (2 x p) x (2 x p) x (2 x p)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	=  2 x … x … x … x  p x …x …x 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	= …..  x  …..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Jadi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(2 x p)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….. x ….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5715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3.  ( a x b )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	= ………………………………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	= ………………………………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	= …..  x  …..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Jadi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(a x b)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….. x ….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Ayo Kita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Simpulkan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!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Secara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umum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dirumuskan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: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01" y="5502689"/>
            <a:ext cx="3489098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00850" y="590172"/>
            <a:ext cx="502920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Ayo Kita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kerjakan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soal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berikut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Tulislah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pemangkatan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perkalian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berikut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perpangkatan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a. ( 5 x 7 )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=…..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b. ( 3 x t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 ….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c. ( p x q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 …   …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d. ( 2 x a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 …  …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e. ( a x b 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 …  ….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34200" y="152022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Asesmen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Formatif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1.5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00850" y="3828672"/>
            <a:ext cx="48958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sederhana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dari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(a x b)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....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85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A. 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C. ab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85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B. 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	 	D. 5ab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3.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sederhana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dari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(p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x p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-6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....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A. p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    C. p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-12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B. p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    D. p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--6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418225" y="0"/>
            <a:ext cx="0" cy="6679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24099" y="3211447"/>
                <a:ext cx="561975" cy="374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099" y="3211447"/>
                <a:ext cx="561975" cy="37484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767012" y="2628900"/>
            <a:ext cx="23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5650" y="2628900"/>
            <a:ext cx="23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0950" y="2628900"/>
            <a:ext cx="23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199" y="2609850"/>
            <a:ext cx="23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17232"/>
            <a:ext cx="23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09850"/>
            <a:ext cx="23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433637" y="2934928"/>
                <a:ext cx="561975" cy="374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637" y="2934928"/>
                <a:ext cx="561975" cy="37484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33712" y="2934928"/>
                <a:ext cx="561975" cy="374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𝒑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12" y="2934928"/>
                <a:ext cx="561975" cy="374846"/>
              </a:xfrm>
              <a:prstGeom prst="rect">
                <a:avLst/>
              </a:prstGeom>
              <a:blipFill rotWithShape="1">
                <a:blip r:embed="rId5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895599" y="3211447"/>
                <a:ext cx="561975" cy="374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𝒑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599" y="3211447"/>
                <a:ext cx="561975" cy="374846"/>
              </a:xfrm>
              <a:prstGeom prst="rect">
                <a:avLst/>
              </a:prstGeom>
              <a:blipFill rotWithShape="1"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362198" y="4000500"/>
                <a:ext cx="56197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98" y="4000500"/>
                <a:ext cx="561975" cy="39299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033712" y="4000500"/>
                <a:ext cx="56197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𝒃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12" y="4000500"/>
                <a:ext cx="561975" cy="392993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2276474" y="3434776"/>
            <a:ext cx="1019176" cy="376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(a x b)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343147" y="4307999"/>
                <a:ext cx="56197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147" y="4307999"/>
                <a:ext cx="561975" cy="392993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924173" y="4307999"/>
                <a:ext cx="56197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𝒃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173" y="4307999"/>
                <a:ext cx="561975" cy="392993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114672" y="3453826"/>
            <a:ext cx="103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(a x b) 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8585" y="3441510"/>
            <a:ext cx="1119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(a x b)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7736" y="3453826"/>
            <a:ext cx="1128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(a x b) 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5460" y="3453826"/>
            <a:ext cx="1062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(a x b)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8861" y="3704512"/>
            <a:ext cx="2177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 a x a x a x a x a)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4573" y="3704512"/>
            <a:ext cx="2177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x (b x b x b x b x b)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5612" y="5497368"/>
            <a:ext cx="365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5166" y="5507391"/>
            <a:ext cx="365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</a:t>
            </a:r>
          </a:p>
        </p:txBody>
      </p:sp>
      <p:sp>
        <p:nvSpPr>
          <p:cNvPr id="29" name="Freeform 28"/>
          <p:cNvSpPr/>
          <p:nvPr/>
        </p:nvSpPr>
        <p:spPr>
          <a:xfrm>
            <a:off x="1790590" y="5643448"/>
            <a:ext cx="609710" cy="185852"/>
          </a:xfrm>
          <a:custGeom>
            <a:avLst/>
            <a:gdLst>
              <a:gd name="connsiteX0" fmla="*/ 609710 w 609710"/>
              <a:gd name="connsiteY0" fmla="*/ 52502 h 185852"/>
              <a:gd name="connsiteX1" fmla="*/ 514460 w 609710"/>
              <a:gd name="connsiteY1" fmla="*/ 14402 h 185852"/>
              <a:gd name="connsiteX2" fmla="*/ 95360 w 609710"/>
              <a:gd name="connsiteY2" fmla="*/ 71552 h 185852"/>
              <a:gd name="connsiteX3" fmla="*/ 57260 w 609710"/>
              <a:gd name="connsiteY3" fmla="*/ 128702 h 185852"/>
              <a:gd name="connsiteX4" fmla="*/ 110 w 609710"/>
              <a:gd name="connsiteY4" fmla="*/ 185852 h 185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710" h="185852">
                <a:moveTo>
                  <a:pt x="609710" y="52502"/>
                </a:moveTo>
                <a:cubicBezTo>
                  <a:pt x="577960" y="39802"/>
                  <a:pt x="548626" y="15826"/>
                  <a:pt x="514460" y="14402"/>
                </a:cubicBezTo>
                <a:cubicBezTo>
                  <a:pt x="180875" y="503"/>
                  <a:pt x="243328" y="-27093"/>
                  <a:pt x="95360" y="71552"/>
                </a:cubicBezTo>
                <a:cubicBezTo>
                  <a:pt x="82660" y="90602"/>
                  <a:pt x="73449" y="112513"/>
                  <a:pt x="57260" y="128702"/>
                </a:cubicBezTo>
                <a:cubicBezTo>
                  <a:pt x="-5174" y="191136"/>
                  <a:pt x="110" y="138135"/>
                  <a:pt x="110" y="185852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solidFill>
                  <a:srgbClr val="0070C0"/>
                </a:solidFill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2238374" y="5681548"/>
            <a:ext cx="276225" cy="185852"/>
          </a:xfrm>
          <a:custGeom>
            <a:avLst/>
            <a:gdLst>
              <a:gd name="connsiteX0" fmla="*/ 609710 w 609710"/>
              <a:gd name="connsiteY0" fmla="*/ 52502 h 185852"/>
              <a:gd name="connsiteX1" fmla="*/ 514460 w 609710"/>
              <a:gd name="connsiteY1" fmla="*/ 14402 h 185852"/>
              <a:gd name="connsiteX2" fmla="*/ 95360 w 609710"/>
              <a:gd name="connsiteY2" fmla="*/ 71552 h 185852"/>
              <a:gd name="connsiteX3" fmla="*/ 57260 w 609710"/>
              <a:gd name="connsiteY3" fmla="*/ 128702 h 185852"/>
              <a:gd name="connsiteX4" fmla="*/ 110 w 609710"/>
              <a:gd name="connsiteY4" fmla="*/ 185852 h 185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710" h="185852">
                <a:moveTo>
                  <a:pt x="609710" y="52502"/>
                </a:moveTo>
                <a:cubicBezTo>
                  <a:pt x="577960" y="39802"/>
                  <a:pt x="548626" y="15826"/>
                  <a:pt x="514460" y="14402"/>
                </a:cubicBezTo>
                <a:cubicBezTo>
                  <a:pt x="180875" y="503"/>
                  <a:pt x="243328" y="-27093"/>
                  <a:pt x="95360" y="71552"/>
                </a:cubicBezTo>
                <a:cubicBezTo>
                  <a:pt x="82660" y="90602"/>
                  <a:pt x="73449" y="112513"/>
                  <a:pt x="57260" y="128702"/>
                </a:cubicBezTo>
                <a:cubicBezTo>
                  <a:pt x="-5174" y="191136"/>
                  <a:pt x="110" y="138135"/>
                  <a:pt x="110" y="185852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solidFill>
                  <a:srgbClr val="0070C0"/>
                </a:solidFill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8172449" y="1660049"/>
                <a:ext cx="781051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</m:sup>
                    </m:sSup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lack" pitchFamily="34" charset="0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itchFamily="34" charset="0"/>
                  </a:rPr>
                  <a:t>x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449" y="1660049"/>
                <a:ext cx="781051" cy="379656"/>
              </a:xfrm>
              <a:prstGeom prst="rect">
                <a:avLst/>
              </a:prstGeom>
              <a:blipFill rotWithShape="1">
                <a:blip r:embed="rId11"/>
                <a:stretch>
                  <a:fillRect t="-6349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8753475" y="1679099"/>
                <a:ext cx="561975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𝟕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475" y="1679099"/>
                <a:ext cx="561975" cy="379656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172449" y="2117260"/>
                <a:ext cx="781051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𝟔</m:t>
                        </m:r>
                      </m:sup>
                    </m:sSup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lack" pitchFamily="34" charset="0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itchFamily="34" charset="0"/>
                  </a:rPr>
                  <a:t>x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449" y="2117260"/>
                <a:ext cx="781051" cy="375552"/>
              </a:xfrm>
              <a:prstGeom prst="rect">
                <a:avLst/>
              </a:prstGeom>
              <a:blipFill rotWithShape="1">
                <a:blip r:embed="rId13"/>
                <a:stretch>
                  <a:fillRect t="-8065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8753475" y="2136310"/>
                <a:ext cx="56197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𝒕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475" y="2136310"/>
                <a:ext cx="561975" cy="37555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243886" y="2556627"/>
                <a:ext cx="781051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𝒑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</m:sup>
                    </m:sSup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lack" pitchFamily="34" charset="0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itchFamily="34" charset="0"/>
                  </a:rPr>
                  <a:t>x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886" y="2556627"/>
                <a:ext cx="781051" cy="379656"/>
              </a:xfrm>
              <a:prstGeom prst="rect">
                <a:avLst/>
              </a:prstGeom>
              <a:blipFill rotWithShape="1">
                <a:blip r:embed="rId15"/>
                <a:stretch>
                  <a:fillRect t="-6349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8824912" y="2575677"/>
                <a:ext cx="561975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𝒒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912" y="2575677"/>
                <a:ext cx="561975" cy="379656"/>
              </a:xfrm>
              <a:prstGeom prst="rect">
                <a:avLst/>
              </a:prstGeom>
              <a:blipFill rotWithShape="1">
                <a:blip r:embed="rId1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8243885" y="2955333"/>
                <a:ext cx="7810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𝒎</m:t>
                        </m:r>
                      </m:sup>
                    </m:sSup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lack" pitchFamily="34" charset="0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itchFamily="34" charset="0"/>
                  </a:rPr>
                  <a:t>x</a:t>
                </a: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885" y="2955333"/>
                <a:ext cx="781051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1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8824911" y="2974383"/>
                <a:ext cx="5619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911" y="2974383"/>
                <a:ext cx="561975" cy="369332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8324849" y="3337699"/>
                <a:ext cx="7810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𝒂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𝒎</m:t>
                        </m:r>
                      </m:sup>
                    </m:sSup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lack" pitchFamily="34" charset="0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itchFamily="34" charset="0"/>
                  </a:rPr>
                  <a:t>x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849" y="3337699"/>
                <a:ext cx="781051" cy="369332"/>
              </a:xfrm>
              <a:prstGeom prst="rect">
                <a:avLst/>
              </a:prstGeom>
              <a:blipFill rotWithShape="1">
                <a:blip r:embed="rId19"/>
                <a:stretch>
                  <a:fillRect t="-1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905875" y="3356749"/>
                <a:ext cx="5619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𝒃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875" y="3356749"/>
                <a:ext cx="561975" cy="369332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9696449" y="4310698"/>
                <a:ext cx="781051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𝒂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</m:sup>
                    </m:sSup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lack" pitchFamily="34" charset="0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itchFamily="34" charset="0"/>
                  </a:rPr>
                  <a:t>x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449" y="4310698"/>
                <a:ext cx="781051" cy="379656"/>
              </a:xfrm>
              <a:prstGeom prst="rect">
                <a:avLst/>
              </a:prstGeom>
              <a:blipFill rotWithShape="1">
                <a:blip r:embed="rId21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0277475" y="4329748"/>
                <a:ext cx="561975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𝒃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475" y="4329748"/>
                <a:ext cx="561975" cy="379656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9696448" y="4671304"/>
                <a:ext cx="86201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𝒂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</m:sup>
                    </m:sSup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lack" pitchFamily="34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𝒃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</m:sup>
                    </m:sSup>
                  </m:oMath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448" y="4671304"/>
                <a:ext cx="862014" cy="379656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9267824" y="5639472"/>
                <a:ext cx="157162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𝒑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𝟐𝟒</m:t>
                        </m:r>
                      </m:sup>
                    </m:sSup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lack" pitchFamily="34" charset="0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itchFamily="34" charset="0"/>
                  </a:rPr>
                  <a:t>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𝒑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𝟏𝟖</m:t>
                        </m:r>
                      </m:sup>
                    </m:sSup>
                  </m:oMath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7824" y="5639472"/>
                <a:ext cx="1571625" cy="375552"/>
              </a:xfrm>
              <a:prstGeom prst="rect">
                <a:avLst/>
              </a:prstGeom>
              <a:blipFill rotWithShape="1">
                <a:blip r:embed="rId24"/>
                <a:stretch>
                  <a:fillRect t="-8065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3712" y="5678373"/>
                <a:ext cx="56197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𝒑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3712" y="5678373"/>
                <a:ext cx="561975" cy="375552"/>
              </a:xfrm>
              <a:prstGeom prst="rect">
                <a:avLst/>
              </a:prstGeom>
              <a:blipFill rotWithShape="1">
                <a:blip r:embed="rId25"/>
                <a:stretch>
                  <a:fillRect r="-13043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/>
          <p:cNvSpPr txBox="1"/>
          <p:nvPr/>
        </p:nvSpPr>
        <p:spPr>
          <a:xfrm>
            <a:off x="6934200" y="5932722"/>
            <a:ext cx="49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gerian" pitchFamily="82" charset="0"/>
                <a:ea typeface="+mn-ea"/>
                <a:cs typeface="+mn-cs"/>
              </a:rPr>
              <a:t>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1350" y="4291648"/>
            <a:ext cx="49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gerian" pitchFamily="82" charset="0"/>
                <a:ea typeface="+mn-ea"/>
                <a:cs typeface="+mn-cs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9245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9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0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5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6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indefinite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id="49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>
                      <p:stCondLst>
                        <p:cond delay="indefinite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8" fill="hold">
                      <p:stCondLst>
                        <p:cond delay="indefinite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6" fill="hold">
                      <p:stCondLst>
                        <p:cond delay="indefinite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id="59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4" fill="hold">
                      <p:stCondLst>
                        <p:cond delay="indefinite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indefinite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id="63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0" fill="hold">
                      <p:stCondLst>
                        <p:cond delay="indefinite"/>
                      </p:stCondLst>
                      <p:childTnLst>
                        <p:par>
                          <p:cTn id="651" fill="hold">
                            <p:stCondLst>
                              <p:cond delay="0"/>
                            </p:stCondLst>
                            <p:childTnLst>
                              <p:par>
                                <p:cTn id="65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8" fill="hold">
                      <p:stCondLst>
                        <p:cond delay="indefinite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id="67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6" fill="hold">
                      <p:stCondLst>
                        <p:cond delay="indefinite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id="68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4" fill="hold">
                      <p:stCondLst>
                        <p:cond delay="indefinite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id="7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0" fill="hold">
                      <p:stCondLst>
                        <p:cond delay="indefinite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id="7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8" fill="hold">
                      <p:stCondLst>
                        <p:cond delay="indefinite"/>
                      </p:stCondLst>
                      <p:childTnLst>
                        <p:par>
                          <p:cTn id="729" fill="hold">
                            <p:stCondLst>
                              <p:cond delay="0"/>
                            </p:stCondLst>
                            <p:childTnLst>
                              <p:par>
                                <p:cTn id="7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6" fill="hold">
                      <p:stCondLst>
                        <p:cond delay="indefinite"/>
                      </p:stCondLst>
                      <p:childTnLst>
                        <p:par>
                          <p:cTn id="747" fill="hold">
                            <p:stCondLst>
                              <p:cond delay="0"/>
                            </p:stCondLst>
                            <p:childTnLst>
                              <p:par>
                                <p:cTn id="74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4" fill="hold">
                      <p:stCondLst>
                        <p:cond delay="indefinite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id="76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2" fill="hold">
                      <p:stCondLst>
                        <p:cond delay="indefinite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id="78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0" fill="hold">
                      <p:stCondLst>
                        <p:cond delay="indefinite"/>
                      </p:stCondLst>
                      <p:childTnLst>
                        <p:par>
                          <p:cTn id="801" fill="hold">
                            <p:stCondLst>
                              <p:cond delay="0"/>
                            </p:stCondLst>
                            <p:childTnLst>
                              <p:par>
                                <p:cTn id="80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8" fill="hold">
                      <p:stCondLst>
                        <p:cond delay="indefinite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3" grpId="0"/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29" grpId="0" animBg="1"/>
      <p:bldP spid="33" grpId="0" animBg="1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8" grpId="0"/>
      <p:bldP spid="49" grpId="0"/>
      <p:bldP spid="50" grpId="0"/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6414" y="646461"/>
                <a:ext cx="5410200" cy="3311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Ayo Kita Amati </a:t>
                </a:r>
                <a:r>
                  <a:rPr kumimoji="0" lang="en-US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contoh</a:t>
                </a:r>
                <a:r>
                  <a:rPr kumimoji="0" lang="en-US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berikut</a:t>
                </a:r>
                <a:r>
                  <a:rPr kumimoji="0" lang="en-US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!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228600" marR="0" lvl="1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1.  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kumimoji="0" lang="it-IT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2 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2 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2 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2 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2 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2 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2 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2</m:t>
                        </m:r>
                      </m:num>
                      <m:den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2 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2 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2 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2 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2</m:t>
                        </m:r>
                      </m:den>
                    </m:f>
                  </m:oMath>
                </a14:m>
                <a:r>
                  <a:rPr kumimoji="0" lang="it-I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	     = 2 x 2 x  2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	     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= 2</a:t>
                </a:r>
                <a:r>
                  <a:rPr kumimoji="0" lang="en-GB" sz="20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(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amati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pangkatnya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)</a:t>
                </a:r>
                <a:r>
                  <a:rPr kumimoji="0" lang="it-IT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85750" algn="l"/>
                  </a:tabLst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	</a:t>
                </a:r>
                <a:r>
                  <a:rPr kumimoji="0" lang="en-GB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Jadi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it-IT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= 2</a:t>
                </a:r>
                <a:r>
                  <a:rPr kumimoji="0" lang="en-GB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8-5</a:t>
                </a:r>
                <a:r>
                  <a:rPr kumimoji="0" lang="it-I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</a:t>
                </a:r>
                <a:r>
                  <a:rPr kumimoji="0" lang="en-GB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</a:t>
                </a:r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85750" algn="l"/>
                  </a:tabLst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2.  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(−3)</m:t>
                            </m:r>
                          </m:e>
                          <m:sup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(−3)</m:t>
                            </m:r>
                          </m:e>
                          <m:sup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  </m:t>
                    </m:r>
                    <m:r>
                      <a:rPr kumimoji="0" lang="it-IT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−3</m:t>
                            </m:r>
                          </m:e>
                        </m:d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−3</m:t>
                            </m:r>
                          </m:e>
                        </m:d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−3</m:t>
                            </m:r>
                          </m:e>
                        </m:d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−3</m:t>
                            </m:r>
                          </m:e>
                        </m:d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(−3) </m:t>
                        </m:r>
                      </m:num>
                      <m:den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−3</m:t>
                            </m:r>
                          </m:e>
                        </m:d>
                        <m:r>
                          <a:rPr kumimoji="0" lang="it-IT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−3</m:t>
                            </m:r>
                          </m:e>
                        </m:d>
                      </m:den>
                    </m:f>
                  </m:oMath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	= (-3) x (-3)  x (-3) 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	= (-3)</a:t>
                </a:r>
                <a:r>
                  <a:rPr kumimoji="0" lang="en-GB" sz="20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     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Jadi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(−3)</m:t>
                            </m:r>
                          </m:e>
                          <m:sup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(−3)</m:t>
                            </m:r>
                          </m:e>
                          <m:sup>
                            <m:r>
                              <a:rPr kumimoji="0" lang="it-IT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it-IT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= (-3)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5-2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(-3)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(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amati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pangkatnya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14" y="646461"/>
                <a:ext cx="5410200" cy="3311484"/>
              </a:xfrm>
              <a:prstGeom prst="rect">
                <a:avLst/>
              </a:prstGeom>
              <a:blipFill rotWithShape="1">
                <a:blip r:embed="rId2"/>
                <a:stretch>
                  <a:fillRect l="-901" t="-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38677" y="3957945"/>
            <a:ext cx="42291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Ayo Kita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Simpulkan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itchFamily="66" charset="0"/>
                <a:ea typeface="+mn-ea"/>
                <a:cs typeface="+mn-cs"/>
              </a:rPr>
              <a:t> 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Secara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umum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Pembagian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berpangkat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maka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pangkatnya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di ........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77" y="4714413"/>
            <a:ext cx="3241037" cy="8321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324600" y="395604"/>
                <a:ext cx="5257800" cy="6476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1.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Tulislah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dengan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pangkat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tunggal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a. 	a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5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: a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….		c.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5</m:t>
                            </m:r>
                          </m:e>
                          <m:sup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9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5</m:t>
                            </m:r>
                          </m:e>
                          <m:sup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0" lang="id-ID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x</m:t>
                        </m:r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 5</m:t>
                            </m:r>
                          </m:e>
                          <m:sup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7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= …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b.	4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8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: 4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…. 		d.  (6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5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: 6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)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7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….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2.  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Sederhanakan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: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a. 	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y</m:t>
                            </m:r>
                          </m:e>
                          <m:sup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kumimoji="0" lang="id-ID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5</m:t>
                        </m:r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y</m:t>
                            </m:r>
                          </m:e>
                          <m:sup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	= …..		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b.	15a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8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7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c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5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: 3a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bc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d. 	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id-ID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a</m:t>
                            </m:r>
                          </m:e>
                          <m:sup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d-ID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𝑏</m:t>
                            </m:r>
                          </m:e>
                          <m:sup>
                            <m:r>
                              <a:rPr kumimoji="0" lang="id-ID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kumimoji="0" lang="id-ID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8</m:t>
                        </m:r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a</m:t>
                            </m:r>
                          </m:e>
                          <m:sup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b</m:t>
                            </m:r>
                          </m:e>
                          <m:sup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= …..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3.	</a:t>
                </a:r>
                <a:r>
                  <a:rPr kumimoji="0" lang="en-GB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Hitunglah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a. 	5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6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: 5</a:t>
                </a:r>
                <a:r>
                  <a:rPr kumimoji="0" lang="en-GB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4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=….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b. 	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</a:t>
                </a:r>
                <a:r>
                  <a:rPr kumimoji="0" lang="id-ID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5</a:t>
                </a:r>
                <a:r>
                  <a: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x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</a:t>
                </a:r>
                <a:r>
                  <a: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4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…..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 c.	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4</a:t>
                </a:r>
                <a:r>
                  <a:rPr kumimoji="0" lang="id-ID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5</a:t>
                </a:r>
                <a:r>
                  <a: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: 4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7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x 4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</a:t>
                </a: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……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36538" algn="l"/>
                    <a:tab pos="457200" algn="l"/>
                  </a:tabLst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	d.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4</m:t>
                            </m:r>
                          </m:e>
                          <m:sup>
                            <m:r>
                              <a:rPr kumimoji="0" lang="en-US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4</m:t>
                            </m:r>
                          </m:e>
                          <m:sup>
                            <m:r>
                              <a:rPr kumimoji="0" lang="en-US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0" lang="id-ID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x</m:t>
                        </m:r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id-ID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4</m:t>
                            </m:r>
                          </m:e>
                          <m:sup>
                            <m:r>
                              <a:rPr kumimoji="0" lang="en-US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… 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395604"/>
                <a:ext cx="5257800" cy="6476581"/>
              </a:xfrm>
              <a:prstGeom prst="rect">
                <a:avLst/>
              </a:prstGeom>
              <a:blipFill rotWithShape="1">
                <a:blip r:embed="rId4"/>
                <a:stretch>
                  <a:fillRect l="-1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934200" y="65531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Asesmen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Formatif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1.5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66812" y="4737737"/>
            <a:ext cx="49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9897" y="4723060"/>
            <a:ext cx="49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5214" y="5863287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kurangkan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113425" y="14008"/>
            <a:ext cx="0" cy="6679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06227" y="1012374"/>
                <a:ext cx="728411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227" y="1012374"/>
                <a:ext cx="728411" cy="37965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241597" y="1035528"/>
                <a:ext cx="75000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597" y="1035528"/>
                <a:ext cx="750003" cy="37555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706226" y="1543086"/>
                <a:ext cx="728411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𝟖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226" y="1543086"/>
                <a:ext cx="728411" cy="37965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241596" y="1547190"/>
                <a:ext cx="750003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596" y="1547190"/>
                <a:ext cx="750003" cy="392993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188223" y="849689"/>
                <a:ext cx="552450" cy="672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𝟓</m:t>
                              </m:r>
                            </m:e>
                            <m:sup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𝟓</m:t>
                              </m:r>
                            </m:e>
                            <m:sup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𝟏𝟎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8223" y="849689"/>
                <a:ext cx="552450" cy="67210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0550173" y="994440"/>
                <a:ext cx="1032227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0173" y="994440"/>
                <a:ext cx="1032227" cy="37555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0587616" y="1521907"/>
                <a:ext cx="994784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)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𝐱𝟕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616" y="1521907"/>
                <a:ext cx="994784" cy="38081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0374211" y="1756005"/>
                <a:ext cx="75000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𝟐𝟏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211" y="1756005"/>
                <a:ext cx="750003" cy="37555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504644" y="2378721"/>
                <a:ext cx="552450" cy="636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𝟏𝟎</m:t>
                          </m:r>
                        </m:num>
                        <m:den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644" y="2378721"/>
                <a:ext cx="552450" cy="63664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866595" y="2491940"/>
                <a:ext cx="75000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𝐲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𝟖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595" y="2491940"/>
                <a:ext cx="750003" cy="375552"/>
              </a:xfrm>
              <a:prstGeom prst="rect">
                <a:avLst/>
              </a:prstGeom>
              <a:blipFill rotWithShape="1">
                <a:blip r:embed="rId1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616597" y="2509269"/>
                <a:ext cx="75000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𝐲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597" y="2509269"/>
                <a:ext cx="750003" cy="375552"/>
              </a:xfrm>
              <a:prstGeom prst="rect">
                <a:avLst/>
              </a:prstGeom>
              <a:blipFill rotWithShape="1">
                <a:blip r:embed="rId15"/>
                <a:stretch>
                  <a:fillRect r="-8065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844798" y="2905110"/>
                <a:ext cx="552450" cy="636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𝟏𝟓</m:t>
                          </m:r>
                        </m:num>
                        <m:den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798" y="2905110"/>
                <a:ext cx="552450" cy="636649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233268" y="3038890"/>
                <a:ext cx="75000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𝟖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3268" y="3038890"/>
                <a:ext cx="750003" cy="37555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616598" y="3450406"/>
                <a:ext cx="78753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 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598" y="3450406"/>
                <a:ext cx="787535" cy="392993"/>
              </a:xfrm>
              <a:prstGeom prst="rect">
                <a:avLst/>
              </a:prstGeom>
              <a:blipFill rotWithShape="1">
                <a:blip r:embed="rId18"/>
                <a:stretch>
                  <a:fillRect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762484" y="3105635"/>
                <a:ext cx="75000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𝐛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𝟕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484" y="3105635"/>
                <a:ext cx="750003" cy="375552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0254984" y="3110444"/>
                <a:ext cx="750003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𝐜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4984" y="3110444"/>
                <a:ext cx="750003" cy="379656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404133" y="3461740"/>
                <a:ext cx="51241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𝐛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4133" y="3461740"/>
                <a:ext cx="512413" cy="375552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9794901" y="3461740"/>
                <a:ext cx="780650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𝐜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901" y="3461740"/>
                <a:ext cx="780650" cy="375552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9332044" y="3920510"/>
                <a:ext cx="55245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𝟖</m:t>
                          </m:r>
                        </m:num>
                        <m:den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044" y="3920510"/>
                <a:ext cx="552450" cy="610936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709927" y="3858341"/>
                <a:ext cx="552450" cy="6726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e>
                            <m:sup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927" y="3858341"/>
                <a:ext cx="552450" cy="672685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8158412" y="3858341"/>
                <a:ext cx="552450" cy="672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𝐚</m:t>
                              </m:r>
                            </m:e>
                            <m:sup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𝟒𝐱𝟑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𝐚</m:t>
                              </m:r>
                            </m:e>
                            <m:sup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412" y="3858341"/>
                <a:ext cx="552450" cy="672043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680818" y="3858341"/>
                <a:ext cx="552450" cy="655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𝐛</m:t>
                              </m:r>
                            </m:e>
                            <m:sup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𝟐𝐱𝟑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𝐛</m:t>
                              </m:r>
                            </m:e>
                            <m:sup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𝟒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818" y="3858341"/>
                <a:ext cx="552450" cy="655179"/>
              </a:xfrm>
              <a:prstGeom prst="rect">
                <a:avLst/>
              </a:prstGeom>
              <a:blipFill rotWithShape="1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9803525" y="4038202"/>
                <a:ext cx="750003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𝟏𝟐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525" y="4038202"/>
                <a:ext cx="750003" cy="379656"/>
              </a:xfrm>
              <a:prstGeom prst="rect">
                <a:avLst/>
              </a:prstGeom>
              <a:blipFill rotWithShape="1">
                <a:blip r:embed="rId27"/>
                <a:stretch>
                  <a:fillRect r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0575551" y="4059138"/>
                <a:ext cx="75000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𝐛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5551" y="4059138"/>
                <a:ext cx="750003" cy="375552"/>
              </a:xfrm>
              <a:prstGeom prst="rect">
                <a:avLst/>
              </a:prstGeom>
              <a:blipFill rotWithShape="1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9353390" y="4651105"/>
                <a:ext cx="787535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𝐚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𝟕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390" y="4651105"/>
                <a:ext cx="787535" cy="374270"/>
              </a:xfrm>
              <a:prstGeom prst="rect">
                <a:avLst/>
              </a:prstGeom>
              <a:blipFill rotWithShape="1">
                <a:blip r:embed="rId29"/>
                <a:stretch>
                  <a:fillRect r="-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0109393" y="4662439"/>
                <a:ext cx="51241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𝐛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393" y="4662439"/>
                <a:ext cx="512413" cy="375552"/>
              </a:xfrm>
              <a:prstGeom prst="rect">
                <a:avLst/>
              </a:prstGeom>
              <a:blipFill rotWithShape="1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7709927" y="4873571"/>
                <a:ext cx="75000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927" y="4873571"/>
                <a:ext cx="750003" cy="375552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304328" y="4922886"/>
                <a:ext cx="75000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328" y="4922886"/>
                <a:ext cx="750003" cy="375552"/>
              </a:xfrm>
              <a:prstGeom prst="rect">
                <a:avLst/>
              </a:prstGeom>
              <a:blipFill rotWithShape="1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8962622" y="4913091"/>
            <a:ext cx="750003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= 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8241597" y="5298438"/>
                <a:ext cx="994784" cy="387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e>
                        <m:sup>
                          <m:d>
                            <m:d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𝟓</m:t>
                              </m:r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e>
                          </m:d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597" y="5298438"/>
                <a:ext cx="994784" cy="387927"/>
              </a:xfrm>
              <a:prstGeom prst="rect">
                <a:avLst/>
              </a:prstGeom>
              <a:blipFill rotWithShape="1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190741" y="5329970"/>
                <a:ext cx="75000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741" y="5329970"/>
                <a:ext cx="750003" cy="375552"/>
              </a:xfrm>
              <a:prstGeom prst="rect">
                <a:avLst/>
              </a:prstGeom>
              <a:blipFill rotWithShape="1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9800170" y="5332139"/>
            <a:ext cx="750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itannic Bold" pitchFamily="34" charset="0"/>
                <a:ea typeface="+mn-ea"/>
                <a:cs typeface="+mn-cs"/>
              </a:rPr>
              <a:t>= 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8233639" y="5712051"/>
                <a:ext cx="994784" cy="387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e>
                        <m:sup>
                          <m:d>
                            <m:d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𝟓</m:t>
                              </m:r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𝟕</m:t>
                              </m:r>
                            </m:e>
                          </m:d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639" y="5712051"/>
                <a:ext cx="994784" cy="387927"/>
              </a:xfrm>
              <a:prstGeom prst="rect">
                <a:avLst/>
              </a:prstGeom>
              <a:blipFill rotWithShape="1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9182783" y="5743583"/>
                <a:ext cx="1072201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783" y="5743583"/>
                <a:ext cx="1072201" cy="375552"/>
              </a:xfrm>
              <a:prstGeom prst="rect">
                <a:avLst/>
              </a:prstGeom>
              <a:blipFill rotWithShape="1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10043584" y="5756721"/>
                <a:ext cx="1394177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𝟏𝟔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3584" y="5756721"/>
                <a:ext cx="1394177" cy="375552"/>
              </a:xfrm>
              <a:prstGeom prst="rect">
                <a:avLst/>
              </a:prstGeom>
              <a:blipFill rotWithShape="1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796462" y="6185893"/>
                <a:ext cx="552450" cy="6743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𝟒</m:t>
                              </m:r>
                            </m:e>
                            <m:sup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𝟓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𝟒</m:t>
                              </m:r>
                            </m:e>
                            <m:sup>
                              <m:r>
                                <a:rPr kumimoji="0" lang="en-US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itannic Bold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462" y="6185893"/>
                <a:ext cx="552450" cy="674352"/>
              </a:xfrm>
              <a:prstGeom prst="rect">
                <a:avLst/>
              </a:prstGeom>
              <a:blipFill rotWithShape="1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8305816" y="6391464"/>
                <a:ext cx="93056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𝟗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16" y="6391464"/>
                <a:ext cx="930565" cy="392993"/>
              </a:xfrm>
              <a:prstGeom prst="rect">
                <a:avLst/>
              </a:prstGeom>
              <a:blipFill rotWithShape="1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9225840" y="6344829"/>
                <a:ext cx="93056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e>
                        <m:sup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840" y="6344829"/>
                <a:ext cx="930565" cy="375552"/>
              </a:xfrm>
              <a:prstGeom prst="rect">
                <a:avLst/>
              </a:prstGeom>
              <a:blipFill rotWithShape="1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9940744" y="6277521"/>
                <a:ext cx="953681" cy="49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kumimoji="0" lang="en-US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𝟒</m:t>
                            </m:r>
                          </m:e>
                          <m:sup>
                            <m:r>
                              <a:rPr kumimoji="0" lang="en-US" sz="18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𝟒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ritannic Bold" pitchFamily="34" charset="0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0744" y="6277521"/>
                <a:ext cx="953681" cy="491096"/>
              </a:xfrm>
              <a:prstGeom prst="rect">
                <a:avLst/>
              </a:prstGeom>
              <a:blipFill rotWithShape="1">
                <a:blip r:embed="rId41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0435009" y="6309396"/>
                <a:ext cx="953681" cy="49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𝟐𝟓𝟔</m:t>
                        </m:r>
                      </m:den>
                    </m:f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ritannic Bold" pitchFamily="34" charset="0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009" y="6309396"/>
                <a:ext cx="953681" cy="491096"/>
              </a:xfrm>
              <a:prstGeom prst="rect">
                <a:avLst/>
              </a:prstGeom>
              <a:blipFill rotWithShape="1">
                <a:blip r:embed="rId42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638677" y="210938"/>
            <a:ext cx="408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1.6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Pembagian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pada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Perpangkatan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1959428" y="1058526"/>
            <a:ext cx="1229155" cy="20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1497250" y="1340213"/>
            <a:ext cx="1229155" cy="20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829427" y="2509269"/>
            <a:ext cx="9836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2367249" y="2790956"/>
            <a:ext cx="8589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7355541" y="6587960"/>
            <a:ext cx="630611" cy="105170"/>
          </a:xfrm>
          <a:prstGeom prst="straightConnector1">
            <a:avLst/>
          </a:prstGeom>
          <a:ln>
            <a:solidFill>
              <a:srgbClr val="00B0F0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63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0" fill="hold">
                      <p:stCondLst>
                        <p:cond delay="indefinite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indefinite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indefinite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fill="hold">
                      <p:stCondLst>
                        <p:cond delay="indefinite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>
                      <p:stCondLst>
                        <p:cond delay="indefinite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indefinite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3" grpId="0"/>
      <p:bldP spid="9" grpId="0"/>
      <p:bldP spid="12" grpId="0"/>
      <p:bldP spid="13" grpId="0"/>
      <p:bldP spid="14" grpId="0"/>
      <p:bldP spid="11" grpId="0"/>
      <p:bldP spid="16" grpId="0"/>
      <p:bldP spid="17" grpId="0"/>
      <p:bldP spid="18" grpId="0"/>
      <p:bldP spid="19" grpId="0"/>
      <p:bldP spid="20" grpId="0"/>
      <p:bldP spid="22" grpId="0"/>
      <p:bldP spid="23" grpId="0"/>
      <p:bldP spid="24" grpId="0"/>
      <p:bldP spid="25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0" grpId="0"/>
      <p:bldP spid="41" grpId="0"/>
      <p:bldP spid="42" grpId="0"/>
      <p:bldP spid="43" grpId="0"/>
      <p:bldP spid="44" grpId="0"/>
      <p:bldP spid="46" grpId="0"/>
      <p:bldP spid="47" grpId="0"/>
      <p:bldP spid="48" grpId="0"/>
      <p:bldP spid="49" grpId="0"/>
      <p:bldP spid="50" grpId="0"/>
      <p:bldP spid="52" grpId="0"/>
      <p:bldP spid="53" grpId="0"/>
      <p:bldP spid="54" grpId="0"/>
      <p:bldP spid="55" grpId="0"/>
      <p:bldP spid="56" grpId="0"/>
      <p:bldP spid="57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457200"/>
            <a:ext cx="569595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1.7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Penerapan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Berpangkat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Ayo Kita Amati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contoh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berikut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Tulislah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kembali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biasa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Kisaran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luas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total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daratan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Indonesia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1,8 x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= 1,8 x 1.000.000.000.000 m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                   = 1.800.000.000.000 m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.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Panjang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tembok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besar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(Great wall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) di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Tiongkok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2 x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7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m = 2 x 10.000.000 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         		= 20.000.000 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Kisaran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diameter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bumi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8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  = ....................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Kisaran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luas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samudra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pasifik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m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= ……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324600" y="609600"/>
                <a:ext cx="5619750" cy="2718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1.8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Operasi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Campuran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yang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Melibatkan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Perpangkatan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Contoh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4: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Hitungnilai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pada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operasi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campuran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perpangkatan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berikut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: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a.	4 +  2 x 6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2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4 + 2 x 36 = 4  +  72   = 76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b. 	3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4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: 27  - 2 =  81 : 27 – 2 = 3 – 2   = 1 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57200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c.	</a:t>
                </a:r>
                <a:r>
                  <a:rPr kumimoji="0" lang="id-ID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3</a:t>
                </a:r>
                <a:r>
                  <a:rPr kumimoji="0" lang="id-ID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-2</a:t>
                </a:r>
                <a:r>
                  <a:rPr kumimoji="0" lang="id-ID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+ 2</a:t>
                </a:r>
                <a:r>
                  <a:rPr kumimoji="0" lang="id-ID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-3</a:t>
                </a:r>
                <a:r>
                  <a:rPr kumimoji="0" lang="id-ID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+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9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 +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8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8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72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+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9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72</m:t>
                        </m:r>
                      </m:den>
                    </m:f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17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72</m:t>
                        </m:r>
                      </m:den>
                    </m:f>
                  </m:oMath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609600"/>
                <a:ext cx="5619750" cy="2718245"/>
              </a:xfrm>
              <a:prstGeom prst="rect">
                <a:avLst/>
              </a:prstGeom>
              <a:blipFill rotWithShape="1">
                <a:blip r:embed="rId2"/>
                <a:stretch>
                  <a:fillRect l="-977" t="-1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384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9100" y="133350"/>
            <a:ext cx="603885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1.9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Notasi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Ilmiah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Bentuk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Baku)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Penulisan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baku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lebih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dari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10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a x 10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dengan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 ≤  a &lt; 10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 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Basis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dari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perpangkatan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10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memiliki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pangkat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positif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memindahkan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tanda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koma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kekiri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sebanyak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n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angka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Contoh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1).   10.000  = 1 x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=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	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2).   34.500.000 	= 3,45 x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7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	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3).   57.430.000.000.000	 =  5,743 x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	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        13  	     	 =  5,74 x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pembulatan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dua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desimal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05600" y="457200"/>
            <a:ext cx="60388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1.9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Notasi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Ilmiah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Bentuk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Baku)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Penulisan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baku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kurang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dari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adalah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a x 10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- 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dengan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 ≤  a &lt; 10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 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Basis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dari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bentuk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perpangkatan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10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memiliki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pangkat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negatif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bila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memindahkan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tanda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koma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kekanan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sebanyak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n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angka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4).  0, 04350  	=  4,35 x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  - 2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5).  0,006075 	= 6,075 x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  - 3 	= 6,08  x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pembulatan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dua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desimal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6).  0,000005432   = 5,432 x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	- 6 	 = 5,43  x 10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-6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(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pembulatan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dua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desimal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1119187" y="3381692"/>
            <a:ext cx="576263" cy="218758"/>
          </a:xfrm>
          <a:custGeom>
            <a:avLst/>
            <a:gdLst>
              <a:gd name="T0" fmla="*/ 555 w 555"/>
              <a:gd name="T1" fmla="*/ 0 h 231"/>
              <a:gd name="T2" fmla="*/ 270 w 555"/>
              <a:gd name="T3" fmla="*/ 177 h 231"/>
              <a:gd name="T4" fmla="*/ 229 w 555"/>
              <a:gd name="T5" fmla="*/ 190 h 231"/>
              <a:gd name="T6" fmla="*/ 161 w 555"/>
              <a:gd name="T7" fmla="*/ 149 h 231"/>
              <a:gd name="T8" fmla="*/ 121 w 555"/>
              <a:gd name="T9" fmla="*/ 136 h 231"/>
              <a:gd name="T10" fmla="*/ 39 w 555"/>
              <a:gd name="T11" fmla="*/ 41 h 231"/>
              <a:gd name="T12" fmla="*/ 26 w 555"/>
              <a:gd name="T13" fmla="*/ 81 h 231"/>
              <a:gd name="T14" fmla="*/ 26 w 555"/>
              <a:gd name="T15" fmla="*/ 54 h 231"/>
              <a:gd name="T16" fmla="*/ 161 w 555"/>
              <a:gd name="T17" fmla="*/ 68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5" h="231">
                <a:moveTo>
                  <a:pt x="555" y="0"/>
                </a:moveTo>
                <a:cubicBezTo>
                  <a:pt x="518" y="152"/>
                  <a:pt x="404" y="157"/>
                  <a:pt x="270" y="177"/>
                </a:cubicBezTo>
                <a:cubicBezTo>
                  <a:pt x="256" y="181"/>
                  <a:pt x="243" y="190"/>
                  <a:pt x="229" y="190"/>
                </a:cubicBezTo>
                <a:cubicBezTo>
                  <a:pt x="178" y="190"/>
                  <a:pt x="197" y="171"/>
                  <a:pt x="161" y="149"/>
                </a:cubicBezTo>
                <a:cubicBezTo>
                  <a:pt x="149" y="142"/>
                  <a:pt x="134" y="140"/>
                  <a:pt x="121" y="136"/>
                </a:cubicBezTo>
                <a:cubicBezTo>
                  <a:pt x="75" y="106"/>
                  <a:pt x="57" y="93"/>
                  <a:pt x="39" y="41"/>
                </a:cubicBezTo>
                <a:cubicBezTo>
                  <a:pt x="35" y="54"/>
                  <a:pt x="29" y="67"/>
                  <a:pt x="26" y="81"/>
                </a:cubicBezTo>
                <a:cubicBezTo>
                  <a:pt x="12" y="138"/>
                  <a:pt x="0" y="231"/>
                  <a:pt x="26" y="54"/>
                </a:cubicBezTo>
                <a:cubicBezTo>
                  <a:pt x="96" y="78"/>
                  <a:pt x="52" y="68"/>
                  <a:pt x="161" y="68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119187" y="4019906"/>
            <a:ext cx="916782" cy="146355"/>
            <a:chOff x="2373" y="9715"/>
            <a:chExt cx="1241" cy="196"/>
          </a:xfrm>
        </p:grpSpPr>
        <p:sp>
          <p:nvSpPr>
            <p:cNvPr id="8" name="Arc 2034"/>
            <p:cNvSpPr>
              <a:spLocks/>
            </p:cNvSpPr>
            <p:nvPr/>
          </p:nvSpPr>
          <p:spPr bwMode="auto">
            <a:xfrm rot="5400000" flipV="1">
              <a:off x="2928" y="9225"/>
              <a:ext cx="173" cy="1199"/>
            </a:xfrm>
            <a:custGeom>
              <a:avLst/>
              <a:gdLst>
                <a:gd name="G0" fmla="+- 496 0 0"/>
                <a:gd name="G1" fmla="+- 21600 0 0"/>
                <a:gd name="G2" fmla="+- 21600 0 0"/>
                <a:gd name="T0" fmla="*/ 496 w 22096"/>
                <a:gd name="T1" fmla="*/ 0 h 43200"/>
                <a:gd name="T2" fmla="*/ 0 w 22096"/>
                <a:gd name="T3" fmla="*/ 43194 h 43200"/>
                <a:gd name="T4" fmla="*/ 496 w 2209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96" h="43200" fill="none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</a:path>
                <a:path w="22096" h="43200" stroke="0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  <a:lnTo>
                    <a:pt x="496" y="216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2373" y="9715"/>
              <a:ext cx="113" cy="120"/>
            </a:xfrm>
            <a:custGeom>
              <a:avLst/>
              <a:gdLst>
                <a:gd name="T0" fmla="*/ 4 w 113"/>
                <a:gd name="T1" fmla="*/ 120 h 120"/>
                <a:gd name="T2" fmla="*/ 18 w 113"/>
                <a:gd name="T3" fmla="*/ 12 h 120"/>
                <a:gd name="T4" fmla="*/ 59 w 113"/>
                <a:gd name="T5" fmla="*/ 25 h 120"/>
                <a:gd name="T6" fmla="*/ 113 w 113"/>
                <a:gd name="T7" fmla="*/ 1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" h="120">
                  <a:moveTo>
                    <a:pt x="4" y="120"/>
                  </a:moveTo>
                  <a:cubicBezTo>
                    <a:pt x="9" y="84"/>
                    <a:pt x="0" y="43"/>
                    <a:pt x="18" y="12"/>
                  </a:cubicBezTo>
                  <a:cubicBezTo>
                    <a:pt x="25" y="0"/>
                    <a:pt x="45" y="25"/>
                    <a:pt x="59" y="25"/>
                  </a:cubicBezTo>
                  <a:cubicBezTo>
                    <a:pt x="78" y="25"/>
                    <a:pt x="113" y="12"/>
                    <a:pt x="113" y="1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150214" y="4791420"/>
            <a:ext cx="1897786" cy="261853"/>
            <a:chOff x="2337" y="4986"/>
            <a:chExt cx="1834" cy="189"/>
          </a:xfrm>
        </p:grpSpPr>
        <p:sp>
          <p:nvSpPr>
            <p:cNvPr id="11" name="Arc 2031"/>
            <p:cNvSpPr>
              <a:spLocks/>
            </p:cNvSpPr>
            <p:nvPr/>
          </p:nvSpPr>
          <p:spPr bwMode="auto">
            <a:xfrm rot="5400000" flipV="1">
              <a:off x="3178" y="4181"/>
              <a:ext cx="180" cy="1807"/>
            </a:xfrm>
            <a:custGeom>
              <a:avLst/>
              <a:gdLst>
                <a:gd name="G0" fmla="+- 496 0 0"/>
                <a:gd name="G1" fmla="+- 21600 0 0"/>
                <a:gd name="G2" fmla="+- 21600 0 0"/>
                <a:gd name="T0" fmla="*/ 496 w 22096"/>
                <a:gd name="T1" fmla="*/ 0 h 43200"/>
                <a:gd name="T2" fmla="*/ 0 w 22096"/>
                <a:gd name="T3" fmla="*/ 43194 h 43200"/>
                <a:gd name="T4" fmla="*/ 496 w 2209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96" h="43200" fill="none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</a:path>
                <a:path w="22096" h="43200" stroke="0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  <a:lnTo>
                    <a:pt x="496" y="216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2337" y="4986"/>
              <a:ext cx="108" cy="149"/>
            </a:xfrm>
            <a:custGeom>
              <a:avLst/>
              <a:gdLst>
                <a:gd name="T0" fmla="*/ 54 w 108"/>
                <a:gd name="T1" fmla="*/ 149 h 149"/>
                <a:gd name="T2" fmla="*/ 0 w 108"/>
                <a:gd name="T3" fmla="*/ 40 h 149"/>
                <a:gd name="T4" fmla="*/ 108 w 108"/>
                <a:gd name="T5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149">
                  <a:moveTo>
                    <a:pt x="54" y="149"/>
                  </a:moveTo>
                  <a:cubicBezTo>
                    <a:pt x="23" y="56"/>
                    <a:pt x="47" y="88"/>
                    <a:pt x="0" y="40"/>
                  </a:cubicBezTo>
                  <a:cubicBezTo>
                    <a:pt x="36" y="15"/>
                    <a:pt x="62" y="0"/>
                    <a:pt x="108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7354441" y="2985833"/>
            <a:ext cx="462388" cy="209305"/>
            <a:chOff x="9224" y="12984"/>
            <a:chExt cx="722" cy="174"/>
          </a:xfrm>
        </p:grpSpPr>
        <p:sp>
          <p:nvSpPr>
            <p:cNvPr id="14" name="Arc 2137"/>
            <p:cNvSpPr>
              <a:spLocks/>
            </p:cNvSpPr>
            <p:nvPr/>
          </p:nvSpPr>
          <p:spPr bwMode="auto">
            <a:xfrm rot="5400000" flipV="1">
              <a:off x="9465" y="12752"/>
              <a:ext cx="165" cy="648"/>
            </a:xfrm>
            <a:custGeom>
              <a:avLst/>
              <a:gdLst>
                <a:gd name="G0" fmla="+- 496 0 0"/>
                <a:gd name="G1" fmla="+- 21600 0 0"/>
                <a:gd name="G2" fmla="+- 21600 0 0"/>
                <a:gd name="T0" fmla="*/ 496 w 22096"/>
                <a:gd name="T1" fmla="*/ 0 h 43200"/>
                <a:gd name="T2" fmla="*/ 0 w 22096"/>
                <a:gd name="T3" fmla="*/ 43194 h 43200"/>
                <a:gd name="T4" fmla="*/ 496 w 2209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96" h="43200" fill="none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</a:path>
                <a:path w="22096" h="43200" stroke="0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  <a:lnTo>
                    <a:pt x="496" y="216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9795" y="12984"/>
              <a:ext cx="151" cy="138"/>
            </a:xfrm>
            <a:custGeom>
              <a:avLst/>
              <a:gdLst>
                <a:gd name="T0" fmla="*/ 0 w 151"/>
                <a:gd name="T1" fmla="*/ 16 h 138"/>
                <a:gd name="T2" fmla="*/ 81 w 151"/>
                <a:gd name="T3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1" h="138">
                  <a:moveTo>
                    <a:pt x="0" y="16"/>
                  </a:moveTo>
                  <a:cubicBezTo>
                    <a:pt x="151" y="38"/>
                    <a:pt x="81" y="0"/>
                    <a:pt x="81" y="13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7334250" y="4072681"/>
            <a:ext cx="487112" cy="194810"/>
            <a:chOff x="9224" y="12984"/>
            <a:chExt cx="722" cy="174"/>
          </a:xfrm>
        </p:grpSpPr>
        <p:sp>
          <p:nvSpPr>
            <p:cNvPr id="17" name="Arc 2134"/>
            <p:cNvSpPr>
              <a:spLocks/>
            </p:cNvSpPr>
            <p:nvPr/>
          </p:nvSpPr>
          <p:spPr bwMode="auto">
            <a:xfrm rot="5400000" flipV="1">
              <a:off x="9465" y="12752"/>
              <a:ext cx="165" cy="648"/>
            </a:xfrm>
            <a:custGeom>
              <a:avLst/>
              <a:gdLst>
                <a:gd name="G0" fmla="+- 496 0 0"/>
                <a:gd name="G1" fmla="+- 21600 0 0"/>
                <a:gd name="G2" fmla="+- 21600 0 0"/>
                <a:gd name="T0" fmla="*/ 496 w 22096"/>
                <a:gd name="T1" fmla="*/ 0 h 43200"/>
                <a:gd name="T2" fmla="*/ 0 w 22096"/>
                <a:gd name="T3" fmla="*/ 43194 h 43200"/>
                <a:gd name="T4" fmla="*/ 496 w 2209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96" h="43200" fill="none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</a:path>
                <a:path w="22096" h="43200" stroke="0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  <a:lnTo>
                    <a:pt x="496" y="216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9795" y="12984"/>
              <a:ext cx="151" cy="138"/>
            </a:xfrm>
            <a:custGeom>
              <a:avLst/>
              <a:gdLst>
                <a:gd name="T0" fmla="*/ 0 w 151"/>
                <a:gd name="T1" fmla="*/ 16 h 138"/>
                <a:gd name="T2" fmla="*/ 81 w 151"/>
                <a:gd name="T3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1" h="138">
                  <a:moveTo>
                    <a:pt x="0" y="16"/>
                  </a:moveTo>
                  <a:cubicBezTo>
                    <a:pt x="151" y="38"/>
                    <a:pt x="81" y="0"/>
                    <a:pt x="81" y="13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7443262" y="5221605"/>
            <a:ext cx="767288" cy="110808"/>
            <a:chOff x="9224" y="12984"/>
            <a:chExt cx="722" cy="174"/>
          </a:xfrm>
        </p:grpSpPr>
        <p:sp>
          <p:nvSpPr>
            <p:cNvPr id="20" name="Arc 2131"/>
            <p:cNvSpPr>
              <a:spLocks/>
            </p:cNvSpPr>
            <p:nvPr/>
          </p:nvSpPr>
          <p:spPr bwMode="auto">
            <a:xfrm rot="5400000" flipV="1">
              <a:off x="9465" y="12752"/>
              <a:ext cx="165" cy="648"/>
            </a:xfrm>
            <a:custGeom>
              <a:avLst/>
              <a:gdLst>
                <a:gd name="G0" fmla="+- 496 0 0"/>
                <a:gd name="G1" fmla="+- 21600 0 0"/>
                <a:gd name="G2" fmla="+- 21600 0 0"/>
                <a:gd name="T0" fmla="*/ 496 w 22096"/>
                <a:gd name="T1" fmla="*/ 0 h 43200"/>
                <a:gd name="T2" fmla="*/ 0 w 22096"/>
                <a:gd name="T3" fmla="*/ 43194 h 43200"/>
                <a:gd name="T4" fmla="*/ 496 w 2209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96" h="43200" fill="none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</a:path>
                <a:path w="22096" h="43200" stroke="0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  <a:lnTo>
                    <a:pt x="496" y="216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9795" y="12984"/>
              <a:ext cx="151" cy="138"/>
            </a:xfrm>
            <a:custGeom>
              <a:avLst/>
              <a:gdLst>
                <a:gd name="T0" fmla="*/ 0 w 151"/>
                <a:gd name="T1" fmla="*/ 16 h 138"/>
                <a:gd name="T2" fmla="*/ 81 w 151"/>
                <a:gd name="T3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1" h="138">
                  <a:moveTo>
                    <a:pt x="0" y="16"/>
                  </a:moveTo>
                  <a:cubicBezTo>
                    <a:pt x="151" y="38"/>
                    <a:pt x="81" y="0"/>
                    <a:pt x="81" y="13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223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CE2400F-4A7E-D90A-AB3F-CABBDAE24B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7EFF40DA-0104-EB5E-34DF-9731646D4C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1741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980311" y="402850"/>
            <a:ext cx="8155994" cy="107157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SELAMAT  DATANG </a:t>
            </a:r>
            <a:b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</a:br>
            <a: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DI RUANG BELAJAR MANDIRI</a:t>
            </a:r>
          </a:p>
        </p:txBody>
      </p:sp>
      <p:pic>
        <p:nvPicPr>
          <p:cNvPr id="5" name="Picture 2" descr="G:\Gambar Animasi\bumi_rotasi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69064" y="25322"/>
            <a:ext cx="1422936" cy="13280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17" descr="D:\2. PERANGKAT MENGAJAR KUR 2013 PAIYO\BAHAN ANIMASI MEMBUAT PEMBELAJARAN PPT\Gambar Animasi untuk PPT\aniearth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2936" cy="130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itle 3"/>
          <p:cNvSpPr txBox="1">
            <a:spLocks/>
          </p:cNvSpPr>
          <p:nvPr/>
        </p:nvSpPr>
        <p:spPr>
          <a:xfrm>
            <a:off x="692932" y="1595443"/>
            <a:ext cx="10730753" cy="2295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latin typeface="Arial Black" panose="020B0A04020102020204" pitchFamily="34" charset="0"/>
              </a:rPr>
              <a:t>“ A A A MAT KEREN “ PAIYO</a:t>
            </a:r>
          </a:p>
          <a:p>
            <a:pPr marL="0" indent="0" algn="ctr">
              <a:buNone/>
            </a:pPr>
            <a:r>
              <a:rPr lang="en-US" sz="3600" b="1" dirty="0">
                <a:latin typeface="Book Antiqua" panose="02040602050305030304" pitchFamily="18" charset="0"/>
              </a:rPr>
              <a:t>“ASAH ASIH ASUH MATEMATIKA”</a:t>
            </a:r>
          </a:p>
          <a:p>
            <a:pPr marL="0" indent="0" algn="ctr">
              <a:buNone/>
            </a:pP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sz="2800" b="1" dirty="0">
                <a:latin typeface="Monotype Corsiva" panose="03010101010201010101" pitchFamily="66" charset="0"/>
              </a:rPr>
              <a:t>“ </a:t>
            </a:r>
            <a:r>
              <a:rPr lang="en-US" sz="28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onotype Corsiva" panose="03010101010201010101" pitchFamily="66" charset="0"/>
              </a:rPr>
              <a:t>KREAKTIF  EKSPLORATIF   REPRESENTATIF  EKSLEN  NO DROP “ 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9212" y="4708121"/>
            <a:ext cx="10192870" cy="1015663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id-ID" sz="2000" dirty="0">
                <a:latin typeface="Arial Black" panose="020B0A04020102020204" pitchFamily="34" charset="0"/>
              </a:rPr>
              <a:t>Melalui kegiatan </a:t>
            </a:r>
            <a:r>
              <a:rPr lang="en-US" sz="2000" dirty="0">
                <a:latin typeface="Arial Black" panose="020B0A04020102020204" pitchFamily="34" charset="0"/>
              </a:rPr>
              <a:t>melihat, menyimak dan menonton video </a:t>
            </a:r>
            <a:r>
              <a:rPr lang="id-ID" sz="2000" dirty="0">
                <a:latin typeface="Arial Black" panose="020B0A04020102020204" pitchFamily="34" charset="0"/>
              </a:rPr>
              <a:t>pembelajaran</a:t>
            </a:r>
            <a:r>
              <a:rPr lang="en-US" sz="2000" dirty="0">
                <a:latin typeface="Arial Black" panose="020B0A04020102020204" pitchFamily="34" charset="0"/>
              </a:rPr>
              <a:t> mandiri ini </a:t>
            </a:r>
            <a:r>
              <a:rPr lang="id-ID" sz="2000" dirty="0">
                <a:latin typeface="Arial Black" panose="020B0A04020102020204" pitchFamily="34" charset="0"/>
              </a:rPr>
              <a:t>diharapkan peserta didik dapat :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6075" lvl="1" indent="-346075"/>
            <a:r>
              <a:rPr lang="en-US" sz="2000" b="1" dirty="0">
                <a:solidFill>
                  <a:srgbClr val="0070C0"/>
                </a:solidFill>
                <a:latin typeface="Arial Black" panose="020B0A04020102020204" pitchFamily="34" charset="0"/>
              </a:rPr>
              <a:t>1.3 Menghitung hasil operasi campuran pada bilangan berpangkat</a:t>
            </a:r>
            <a:endParaRPr lang="en-US" sz="140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10" name="Picture 10" descr="D:\2. PERANGKAT MENGAJAR KUR 2013 PAIYO\BAHAN ANIMASI MEMBUAT PEMBELAJARAN PPT\Gambar Animasi untuk PPT\anibird2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81" y="1896271"/>
            <a:ext cx="1409825" cy="112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1" descr="D:\2. PERANGKAT MENGAJAR KUR 2013 PAIYO\BAHAN ANIMASI MEMBUAT PEMBELAJARAN PPT\Gambar Animasi untuk PPT\anibird3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151" y="1896271"/>
            <a:ext cx="1409825" cy="112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5"/>
          <p:cNvGrpSpPr>
            <a:grpSpLocks/>
          </p:cNvGrpSpPr>
          <p:nvPr/>
        </p:nvGrpSpPr>
        <p:grpSpPr bwMode="auto">
          <a:xfrm>
            <a:off x="2475812" y="3595680"/>
            <a:ext cx="7419670" cy="1112441"/>
            <a:chOff x="4166" y="1706"/>
            <a:chExt cx="1252" cy="1252"/>
          </a:xfrm>
        </p:grpSpPr>
        <p:sp>
          <p:nvSpPr>
            <p:cNvPr id="20" name="Oval 1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Oval 1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Oval 1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Oval 19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9" name="Text Box 38"/>
          <p:cNvSpPr txBox="1">
            <a:spLocks noChangeArrowheads="1"/>
          </p:cNvSpPr>
          <p:nvPr/>
        </p:nvSpPr>
        <p:spPr bwMode="gray">
          <a:xfrm>
            <a:off x="2940131" y="3574610"/>
            <a:ext cx="6239579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 w="50800"/>
                <a:solidFill>
                  <a:srgbClr val="0A2068">
                    <a:shade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BAB </a:t>
            </a:r>
            <a:r>
              <a:rPr lang="en-US" b="1" dirty="0">
                <a:ln w="50800"/>
                <a:solidFill>
                  <a:srgbClr val="0A2068">
                    <a:shade val="50000"/>
                  </a:srgbClr>
                </a:solidFill>
                <a:latin typeface="Arial"/>
              </a:rPr>
              <a:t>I</a:t>
            </a:r>
            <a:endParaRPr kumimoji="0" lang="en-US" sz="1800" b="1" i="0" u="none" strike="noStrike" kern="1200" cap="none" spc="0" normalizeH="0" baseline="0" noProof="0" dirty="0">
              <a:ln w="50800"/>
              <a:solidFill>
                <a:srgbClr val="0A2068">
                  <a:shade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1" i="0" u="none" strike="noStrike" kern="1200" cap="none" spc="0" normalizeH="0" baseline="0" noProof="0" dirty="0">
                <a:ln w="50800"/>
                <a:solidFill>
                  <a:srgbClr val="0A2068">
                    <a:shade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BILANGAN BERPANGKAT</a:t>
            </a:r>
            <a:endParaRPr kumimoji="0" lang="en-US" sz="1800" b="1" i="0" u="none" strike="noStrike" kern="1200" cap="none" spc="0" normalizeH="0" baseline="0" noProof="0" dirty="0">
              <a:ln w="50800"/>
              <a:solidFill>
                <a:srgbClr val="0A2068">
                  <a:shade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n w="50800"/>
                <a:solidFill>
                  <a:srgbClr val="0A2068">
                    <a:shade val="50000"/>
                  </a:srgbClr>
                </a:solidFill>
                <a:latin typeface="Arial"/>
              </a:rPr>
              <a:t>Subbab Operasi Campuran pada Bilangan Berpangkat</a:t>
            </a:r>
            <a:endParaRPr kumimoji="0" lang="en-US" sz="2800" b="1" i="0" u="none" strike="noStrike" kern="1200" cap="none" spc="0" normalizeH="0" baseline="0" noProof="0" dirty="0">
              <a:ln w="50800"/>
              <a:solidFill>
                <a:srgbClr val="0A2068">
                  <a:shade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68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0534" y="1097359"/>
            <a:ext cx="1016714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>
              <a:lnSpc>
                <a:spcPct val="150000"/>
              </a:lnSpc>
              <a:spcAft>
                <a:spcPts val="0"/>
              </a:spcAft>
              <a:tabLst>
                <a:tab pos="2970530" algn="r"/>
              </a:tabLst>
            </a:pPr>
            <a:r>
              <a:rPr lang="en-US" sz="2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Tentukan hasil dari </a:t>
            </a:r>
            <a:r>
              <a:rPr lang="en-US" sz="2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operasi campuran pada perpangkatan berikut !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081" y="244390"/>
            <a:ext cx="10189699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346075" lvl="1" indent="-346075"/>
            <a:r>
              <a:rPr lang="en-US" sz="2000" b="1" dirty="0">
                <a:solidFill>
                  <a:srgbClr val="0070C0"/>
                </a:solidFill>
                <a:latin typeface="Arial Black" panose="020B0A04020102020204" pitchFamily="34" charset="0"/>
              </a:rPr>
              <a:t>1.3 Menghitung hasil operasi campuran pada bilangan berpangkat</a:t>
            </a:r>
            <a:endParaRPr lang="en-US" sz="140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29101" y="749553"/>
            <a:ext cx="320632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Monotype Corsiva" panose="03010101010201010101" pitchFamily="66" charset="0"/>
              </a:rPr>
              <a:t>Ayo Kita Amati </a:t>
            </a:r>
            <a:r>
              <a:rPr lang="id-ID" sz="2400" b="1" dirty="0">
                <a:latin typeface="Monotype Corsiva" panose="03010101010201010101" pitchFamily="66" charset="0"/>
              </a:rPr>
              <a:t>Contoh 1.</a:t>
            </a:r>
            <a:r>
              <a:rPr lang="en-US" sz="2400" b="1" dirty="0">
                <a:latin typeface="Monotype Corsiva" panose="03010101010201010101" pitchFamily="66" charset="0"/>
              </a:rPr>
              <a:t>2</a:t>
            </a:r>
            <a:endParaRPr lang="en-US" sz="2400" dirty="0">
              <a:latin typeface="Monotype Corsiva" panose="030101010102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297849" y="5025189"/>
                <a:ext cx="1129710" cy="11312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92087" lvl="0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US" sz="2400" b="0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72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849" y="5025189"/>
                <a:ext cx="1129710" cy="113120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915566" y="3073643"/>
            <a:ext cx="1824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+ 2 x 36</a:t>
            </a:r>
            <a:endParaRPr lang="en-US" sz="2400" b="1" dirty="0">
              <a:latin typeface="Arial Black" panose="020B0A040201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48477" y="3568128"/>
            <a:ext cx="18229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4  +  72 </a:t>
            </a:r>
            <a:endParaRPr lang="en-US" sz="2400" b="1" dirty="0">
              <a:latin typeface="Arial Black" panose="020B0A040201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43491" y="3954243"/>
            <a:ext cx="10935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0500" lvl="0">
              <a:lnSpc>
                <a:spcPct val="150000"/>
              </a:lnSpc>
              <a:spcAft>
                <a:spcPts val="0"/>
              </a:spcAft>
              <a:tabLst>
                <a:tab pos="2970530" algn="r"/>
              </a:tabLst>
            </a:pPr>
            <a:r>
              <a:rPr lang="en-US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76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12" y="2997347"/>
            <a:ext cx="27683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2087" lvl="0">
              <a:lnSpc>
                <a:spcPct val="150000"/>
              </a:lnSpc>
              <a:spcAft>
                <a:spcPts val="0"/>
              </a:spcAft>
              <a:tabLst>
                <a:tab pos="2970530" algn="r"/>
              </a:tabLst>
            </a:pPr>
            <a:r>
              <a:rPr lang="en-US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4 + 2 x 6</a:t>
            </a:r>
            <a:r>
              <a:rPr lang="en-US" sz="2400" b="1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5057" y="4837950"/>
            <a:ext cx="2884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 3</a:t>
            </a:r>
            <a:r>
              <a:rPr lang="en-US" sz="2400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27  - 2 = 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3270958" y="4866861"/>
            <a:ext cx="1980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81 : 27 – 2 </a:t>
            </a:r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2866455" y="5328526"/>
            <a:ext cx="23887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    3      –  2 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2700913" y="5647602"/>
            <a:ext cx="9922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2087" lvl="0">
              <a:lnSpc>
                <a:spcPct val="150000"/>
              </a:lnSpc>
              <a:spcAft>
                <a:spcPts val="0"/>
              </a:spcAft>
              <a:tabLst>
                <a:tab pos="2970530" algn="r"/>
              </a:tabLst>
            </a:pPr>
            <a:r>
              <a:rPr lang="en-US" sz="24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1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0673" y="3207078"/>
            <a:ext cx="24032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id-ID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2400" b="1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id-ID" sz="2400" b="1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id-ID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+ 2 </a:t>
            </a:r>
            <a:r>
              <a:rPr lang="en-GB" sz="2400" b="1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id-ID" sz="2400" b="1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id-ID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831994" y="3012552"/>
                <a:ext cx="868253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US" sz="2400" b="1" i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400" b="1" i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994" y="3012552"/>
                <a:ext cx="868253" cy="7861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437622" y="3758455"/>
                <a:ext cx="1476173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400" b="0" i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+ 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622" y="3758455"/>
                <a:ext cx="1476173" cy="7861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437622" y="4461635"/>
                <a:ext cx="1748684" cy="7848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400" b="0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72</m:t>
                          </m:r>
                        </m:den>
                      </m:f>
                      <m:r>
                        <a:rPr lang="en-US" sz="2400" b="0" i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2400" b="0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72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622" y="4461635"/>
                <a:ext cx="1748684" cy="78489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5461163" y="2997347"/>
            <a:ext cx="28135" cy="3404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39630" y="1469327"/>
            <a:ext cx="24622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2087" lvl="0">
              <a:lnSpc>
                <a:spcPct val="150000"/>
              </a:lnSpc>
              <a:spcAft>
                <a:spcPts val="0"/>
              </a:spcAft>
              <a:tabLst>
                <a:tab pos="2970530" algn="r"/>
              </a:tabLst>
            </a:pPr>
            <a:r>
              <a:rPr lang="en-US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4 + 2 x 6</a:t>
            </a:r>
            <a:r>
              <a:rPr lang="en-US" sz="2400" b="1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7798" y="2072526"/>
            <a:ext cx="26805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 3</a:t>
            </a:r>
            <a:r>
              <a:rPr lang="en-US" sz="2400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27  - 2  </a:t>
            </a:r>
            <a:endParaRPr lang="en-US" sz="2400" dirty="0"/>
          </a:p>
        </p:txBody>
      </p:sp>
      <p:sp>
        <p:nvSpPr>
          <p:cNvPr id="24" name="Rectangle 23"/>
          <p:cNvSpPr/>
          <p:nvPr/>
        </p:nvSpPr>
        <p:spPr>
          <a:xfrm>
            <a:off x="4371412" y="1643257"/>
            <a:ext cx="21996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id-ID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2400" b="1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id-ID" sz="2400" b="1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id-ID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+ 2 </a:t>
            </a:r>
            <a:r>
              <a:rPr lang="en-GB" sz="2400" b="1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id-ID" sz="2400" b="1" baseline="30000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id-ID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400" b="1" dirty="0"/>
          </a:p>
        </p:txBody>
      </p:sp>
      <p:sp>
        <p:nvSpPr>
          <p:cNvPr id="25" name="Rectangle 24"/>
          <p:cNvSpPr/>
          <p:nvPr/>
        </p:nvSpPr>
        <p:spPr>
          <a:xfrm>
            <a:off x="505057" y="2550887"/>
            <a:ext cx="23230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i="1" dirty="0">
                <a:latin typeface="Arial" pitchFamily="34" charset="0"/>
                <a:cs typeface="Arial" pitchFamily="34" charset="0"/>
              </a:rPr>
              <a:t>Penyelesaian :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Curved Up Arrow 25"/>
          <p:cNvSpPr/>
          <p:nvPr/>
        </p:nvSpPr>
        <p:spPr>
          <a:xfrm flipV="1">
            <a:off x="2343491" y="2882177"/>
            <a:ext cx="2122285" cy="27117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Curved Up Arrow 26"/>
          <p:cNvSpPr/>
          <p:nvPr/>
        </p:nvSpPr>
        <p:spPr>
          <a:xfrm flipV="1">
            <a:off x="1314775" y="4729579"/>
            <a:ext cx="2122285" cy="13558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8600953" y="3021711"/>
                <a:ext cx="585353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400" b="1" i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953" y="3021711"/>
                <a:ext cx="585353" cy="78380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 flipH="1" flipV="1">
            <a:off x="8023895" y="3954243"/>
            <a:ext cx="676352" cy="389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023895" y="3954243"/>
            <a:ext cx="676352" cy="389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162262" y="4410162"/>
            <a:ext cx="425244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44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5" grpId="0"/>
      <p:bldP spid="26" grpId="0" animBg="1"/>
      <p:bldP spid="27" grpId="0" animBg="1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4944" y="434666"/>
            <a:ext cx="3999621" cy="5888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50000"/>
              </a:lnSpc>
              <a:spcAft>
                <a:spcPts val="0"/>
              </a:spcAft>
              <a:tabLst>
                <a:tab pos="180340" algn="r"/>
              </a:tabLst>
            </a:pPr>
            <a:r>
              <a:rPr lang="en-US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Hitunglah nilai dari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359221" y="2390379"/>
                <a:ext cx="1936107" cy="9715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lvl="1">
                  <a:lnSpc>
                    <a:spcPct val="150000"/>
                  </a:lnSpc>
                  <a:spcAft>
                    <a:spcPts val="0"/>
                  </a:spcAft>
                  <a:tabLst>
                    <a:tab pos="180340" algn="r"/>
                  </a:tabLst>
                </a:pPr>
                <a:r>
                  <a:rPr lang="en-US" sz="2400" dirty="0">
                    <a:latin typeface="Arial Black" panose="020B0A040201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400" dirty="0">
                    <a:effectLst/>
                    <a:latin typeface="Arial Black" panose="020B0A040201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𝟕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𝟕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 = 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221" y="2390379"/>
                <a:ext cx="1936107" cy="971548"/>
              </a:xfrm>
              <a:prstGeom prst="rect">
                <a:avLst/>
              </a:prstGeom>
              <a:blipFill rotWithShape="0">
                <a:blip r:embed="rId2"/>
                <a:stretch>
                  <a:fillRect l="-4717" r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70131" y="2692884"/>
                <a:ext cx="3956852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effectLst/>
                    <a:latin typeface="Arial Black" panose="020B0A040201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e>
                      <m:sup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 sz="2400" b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sSup>
                      <m:sSupPr>
                        <m:ctrlP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</m:e>
                      <m:sup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 sz="2400" b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effectLst/>
                    <a:latin typeface="Arial Black" panose="020B0A040201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= </a:t>
                </a:r>
                <a:endParaRPr lang="en-US" sz="2400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31" y="2692884"/>
                <a:ext cx="3956852" cy="470000"/>
              </a:xfrm>
              <a:prstGeom prst="rect">
                <a:avLst/>
              </a:prstGeom>
              <a:blipFill rotWithShape="0">
                <a:blip r:embed="rId3"/>
                <a:stretch>
                  <a:fillRect l="-2311" t="-7792" r="-1387" b="-29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338476" y="2506454"/>
                <a:ext cx="585353" cy="8428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476" y="2506454"/>
                <a:ext cx="585353" cy="84285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923829" y="2519068"/>
                <a:ext cx="933204" cy="8428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29" y="2519068"/>
                <a:ext cx="933204" cy="84285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832215" y="3548357"/>
                <a:ext cx="1597873" cy="8428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US" sz="2400" b="1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n-US" sz="2400" b="1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n-US" sz="2400" b="1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215" y="3548357"/>
                <a:ext cx="1597873" cy="84285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804716" y="4410309"/>
                <a:ext cx="1487395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𝟗</m:t>
                          </m:r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𝟏𝟔</m:t>
                          </m:r>
                        </m:num>
                        <m:den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716" y="4410309"/>
                <a:ext cx="1487395" cy="7861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749476" y="5234672"/>
                <a:ext cx="972189" cy="816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476" y="5234672"/>
                <a:ext cx="972189" cy="81612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4743624" y="5407808"/>
                <a:ext cx="7216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Arial Black" panose="020B0A04020102020204" pitchFamily="34" charset="0"/>
                  </a:rPr>
                  <a:t> 1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624" y="5407808"/>
                <a:ext cx="721672" cy="461665"/>
              </a:xfrm>
              <a:prstGeom prst="rect">
                <a:avLst/>
              </a:prstGeom>
              <a:blipFill rotWithShape="0">
                <a:blip r:embed="rId9"/>
                <a:stretch>
                  <a:fillRect t="-10526" r="-1176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8056671" y="2522466"/>
                <a:ext cx="1832425" cy="9147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𝟕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4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id-ID" sz="24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𝟕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671" y="2522466"/>
                <a:ext cx="1832425" cy="91473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785494" y="3616872"/>
                <a:ext cx="2177519" cy="8661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𝟕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4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id-ID" sz="24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sup>
                          </m:sSup>
                          <m: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sSup>
                            <m:sSupPr>
                              <m:ctrlP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𝟕</m:t>
                              </m:r>
                            </m:sup>
                          </m:sSup>
                          <m: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sSup>
                            <m:sSupPr>
                              <m:ctrlP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𝟕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494" y="3616872"/>
                <a:ext cx="2177519" cy="86613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8163491" y="3594381"/>
            <a:ext cx="457200" cy="4214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490702" y="4056062"/>
            <a:ext cx="457200" cy="4214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904912" y="4588035"/>
                <a:ext cx="1198213" cy="839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𝟕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912" y="4588035"/>
                <a:ext cx="1198213" cy="839461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7907480" y="5373808"/>
                <a:ext cx="900054" cy="839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480" y="5373808"/>
                <a:ext cx="900054" cy="839461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8690883" y="5373807"/>
                <a:ext cx="936988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𝟖𝟏</m:t>
                          </m:r>
                        </m:num>
                        <m:den>
                          <m: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883" y="5373807"/>
                <a:ext cx="936988" cy="783804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/>
          <p:cNvCxnSpPr/>
          <p:nvPr/>
        </p:nvCxnSpPr>
        <p:spPr>
          <a:xfrm>
            <a:off x="6229814" y="2344355"/>
            <a:ext cx="72742" cy="4150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975943" y="1250093"/>
                <a:ext cx="1732526" cy="9715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lvl="1">
                  <a:lnSpc>
                    <a:spcPct val="150000"/>
                  </a:lnSpc>
                  <a:spcAft>
                    <a:spcPts val="0"/>
                  </a:spcAft>
                  <a:tabLst>
                    <a:tab pos="180340" algn="r"/>
                  </a:tabLst>
                </a:pPr>
                <a:r>
                  <a:rPr lang="en-US" sz="2400" dirty="0">
                    <a:latin typeface="Arial Black" panose="020B0A040201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400" dirty="0">
                    <a:effectLst/>
                    <a:latin typeface="Arial Black" panose="020B0A040201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𝟕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𝟕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943" y="1250093"/>
                <a:ext cx="1732526" cy="971548"/>
              </a:xfrm>
              <a:prstGeom prst="rect">
                <a:avLst/>
              </a:prstGeom>
              <a:blipFill rotWithShape="0">
                <a:blip r:embed="rId15"/>
                <a:stretch>
                  <a:fillRect l="-5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975943" y="1059999"/>
                <a:ext cx="3753272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effectLst/>
                    <a:latin typeface="Arial Black" panose="020B0A040201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e>
                      <m:sup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 sz="2400" b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sSup>
                      <m:sSupPr>
                        <m:ctrlP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</m:e>
                      <m:sup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 sz="2400" b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effectLst/>
                    <a:latin typeface="Arial Black" panose="020B0A040201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lang="en-US" sz="2400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943" y="1059999"/>
                <a:ext cx="3753272" cy="470000"/>
              </a:xfrm>
              <a:prstGeom prst="rect">
                <a:avLst/>
              </a:prstGeom>
              <a:blipFill rotWithShape="0">
                <a:blip r:embed="rId16"/>
                <a:stretch>
                  <a:fillRect l="-2435" t="-7792" b="-29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554944" y="2122745"/>
            <a:ext cx="23230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i="1" dirty="0">
                <a:latin typeface="Arial" pitchFamily="34" charset="0"/>
                <a:cs typeface="Arial" pitchFamily="34" charset="0"/>
              </a:rPr>
              <a:t>Penyelesaian :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127025" y="729105"/>
                <a:ext cx="1460015" cy="9019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0"/>
                  </a:spcAft>
                  <a:buSzPts val="1200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 </m:t>
                    </m:r>
                    <m:f>
                      <m:f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a:rPr lang="id-ID" sz="24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id-ID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  <m:r>
                          <a:rPr lang="id-ID" sz="24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𝟐𝟓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025" y="729105"/>
                <a:ext cx="1460015" cy="901978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5104460" y="1650176"/>
                <a:ext cx="2445028" cy="719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𝒅</m:t>
                      </m:r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 </m:t>
                      </m:r>
                      <m:f>
                        <m:fPr>
                          <m:ctrlP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𝟏𝟏</m:t>
                              </m:r>
                            </m:sup>
                          </m:sSup>
                          <m:r>
                            <a:rPr lang="id-ID" sz="2000" b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r>
                            <a:rPr lang="id-ID" sz="20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𝟏𝟏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460" y="1650176"/>
                <a:ext cx="2445028" cy="719621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19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20" grpId="0"/>
      <p:bldP spid="21" grpId="0"/>
      <p:bldP spid="22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987262" y="2271788"/>
                <a:ext cx="1867691" cy="975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0"/>
                  </a:spcAft>
                  <a:buSzPts val="1200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  </m:t>
                    </m:r>
                    <m:f>
                      <m:f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a:rPr lang="id-ID" sz="24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id-ID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  <m:r>
                          <a:rPr lang="id-ID" sz="24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𝟐𝟓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sz="2400" b="1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62" y="2271788"/>
                <a:ext cx="1867691" cy="97558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646719" y="2271788"/>
                <a:ext cx="1218282" cy="10472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0"/>
                  </a:spcAft>
                  <a:buSzPts val="1200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p>
                        </m:sSup>
                      </m:num>
                      <m:den>
                        <m:r>
                          <a:rPr lang="id-ID" sz="24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  <m: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𝟐𝟓</m:t>
                            </m:r>
                            <m: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719" y="2271788"/>
                <a:ext cx="1218282" cy="10472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277533" y="3052994"/>
                <a:ext cx="2164888" cy="8258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0"/>
                  </a:spcAft>
                  <a:buSzPts val="1200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𝟏𝟎𝟎𝟎𝟎𝟎𝟎</m:t>
                        </m:r>
                      </m:num>
                      <m:den>
                        <m:r>
                          <a:rPr lang="id-ID" sz="24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𝟐𝟎𝟎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𝟐𝟎𝟎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𝟐𝟎𝟎</m:t>
                        </m:r>
                      </m:den>
                    </m:f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533" y="3052994"/>
                <a:ext cx="2164888" cy="82586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277533" y="3939426"/>
                <a:ext cx="1356975" cy="892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0"/>
                  </a:spcAft>
                  <a:buSzPts val="1200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id-ID" sz="24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533" y="3939426"/>
                <a:ext cx="1356975" cy="89255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279352" y="4584490"/>
                <a:ext cx="912942" cy="8260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0"/>
                  </a:spcAft>
                  <a:buSzPts val="1200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num>
                      <m:den>
                        <m:r>
                          <a:rPr lang="id-ID" sz="24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𝟖</m:t>
                        </m:r>
                      </m:den>
                    </m:f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352" y="4584490"/>
                <a:ext cx="912942" cy="8260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321831" y="5349786"/>
                <a:ext cx="827984" cy="633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0"/>
                  </a:spcAft>
                  <a:buSzPts val="1200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831" y="5349786"/>
                <a:ext cx="827984" cy="63357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524458" y="2453464"/>
                <a:ext cx="2445028" cy="719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𝒅</m:t>
                      </m:r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f>
                        <m:fPr>
                          <m:ctrlP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𝟏𝟏</m:t>
                              </m:r>
                            </m:sup>
                          </m:sSup>
                          <m:r>
                            <a:rPr lang="id-ID" sz="2000" b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r>
                            <a:rPr lang="id-ID" sz="20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𝟏𝟏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458" y="2453464"/>
                <a:ext cx="2445028" cy="71962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729263" y="2461590"/>
                <a:ext cx="1911421" cy="776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1" i="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b="1" i="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  <m:r>
                            <a:rPr lang="id-ID" sz="2000" b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id-ID" sz="20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sz="2000" b="1" i="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𝟏𝟏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d-ID" sz="2000" b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id-ID" sz="20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263" y="2461590"/>
                <a:ext cx="1911421" cy="77623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729263" y="3380366"/>
                <a:ext cx="1295675" cy="776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1" i="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𝟖</m:t>
                          </m:r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2000" b="1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en-US" sz="2000" b="1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𝟏𝟏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d-ID" sz="2000" b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id-ID" sz="20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263" y="3380366"/>
                <a:ext cx="1295675" cy="77623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729263" y="4242609"/>
                <a:ext cx="1474634" cy="734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2000" b="1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en-US" sz="2000" b="1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𝟏𝟏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263" y="4242609"/>
                <a:ext cx="1474634" cy="73456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784918" y="5424736"/>
                <a:ext cx="900055" cy="468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id-ID" sz="2400" b="1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918" y="5424736"/>
                <a:ext cx="900055" cy="46897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764411" y="5017637"/>
                <a:ext cx="1488934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id-ID" sz="2000" b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id-ID" sz="20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𝟏𝟏</m:t>
                          </m:r>
                          <m: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𝟏𝟎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411" y="5017637"/>
                <a:ext cx="1488934" cy="40709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8608323" y="5458940"/>
                <a:ext cx="9268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Arial Black" panose="020B0A04020102020204" pitchFamily="34" charset="0"/>
                  </a:rPr>
                  <a:t> 16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323" y="5458940"/>
                <a:ext cx="926857" cy="461665"/>
              </a:xfrm>
              <a:prstGeom prst="rect">
                <a:avLst/>
              </a:prstGeom>
              <a:blipFill rotWithShape="0">
                <a:blip r:embed="rId14"/>
                <a:stretch>
                  <a:fillRect t="-10526" r="-921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/>
          <p:cNvCxnSpPr/>
          <p:nvPr/>
        </p:nvCxnSpPr>
        <p:spPr>
          <a:xfrm flipH="1">
            <a:off x="5067861" y="2530114"/>
            <a:ext cx="7578" cy="37496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3334870" y="3274270"/>
            <a:ext cx="376518" cy="2354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2815776" y="3643447"/>
            <a:ext cx="376518" cy="2354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3912290" y="3250694"/>
            <a:ext cx="376518" cy="2354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3879689" y="3643447"/>
            <a:ext cx="376518" cy="2354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3621136" y="3251158"/>
            <a:ext cx="376518" cy="2354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290301" y="3627769"/>
            <a:ext cx="376518" cy="2354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rved Up Arrow 33"/>
          <p:cNvSpPr/>
          <p:nvPr/>
        </p:nvSpPr>
        <p:spPr>
          <a:xfrm flipV="1">
            <a:off x="8247017" y="2215510"/>
            <a:ext cx="1116135" cy="26894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urved Up Arrow 34"/>
          <p:cNvSpPr/>
          <p:nvPr/>
        </p:nvSpPr>
        <p:spPr>
          <a:xfrm flipV="1">
            <a:off x="8718309" y="2372781"/>
            <a:ext cx="644844" cy="15733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54944" y="434666"/>
            <a:ext cx="3999621" cy="5888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50000"/>
              </a:lnSpc>
              <a:spcAft>
                <a:spcPts val="0"/>
              </a:spcAft>
              <a:tabLst>
                <a:tab pos="180340" algn="r"/>
              </a:tabLst>
            </a:pPr>
            <a:r>
              <a:rPr lang="en-US" sz="2400" b="1" dirty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Hitunglah nilai dari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5104460" y="654048"/>
                <a:ext cx="1460015" cy="9019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0"/>
                  </a:spcAft>
                  <a:buSzPts val="1200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 </m:t>
                    </m:r>
                    <m:f>
                      <m:f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  <m:r>
                              <a:rPr lang="id-ID" sz="2400" b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a:rPr lang="id-ID" sz="24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id-ID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  <m:r>
                          <a:rPr lang="id-ID" sz="2400" b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𝟐𝟓</m:t>
                            </m:r>
                          </m:e>
                          <m:sup>
                            <m:r>
                              <a:rPr lang="id-ID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effectLst/>
                    <a:latin typeface="Arial Black" panose="020B0A0402010202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460" y="654048"/>
                <a:ext cx="1460015" cy="901978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5104460" y="1650176"/>
                <a:ext cx="2445028" cy="719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𝒅</m:t>
                      </m:r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 </m:t>
                      </m:r>
                      <m:f>
                        <m:fPr>
                          <m:ctrlP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𝟏𝟏</m:t>
                              </m:r>
                            </m:sup>
                          </m:sSup>
                          <m:r>
                            <a:rPr lang="id-ID" sz="2000" b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r>
                            <a:rPr lang="id-ID" sz="20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id-ID" sz="20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𝟏𝟏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id-ID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460" y="1650176"/>
                <a:ext cx="2445028" cy="719621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865454" y="1989782"/>
            <a:ext cx="23230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i="1" dirty="0">
                <a:latin typeface="Arial" pitchFamily="34" charset="0"/>
                <a:cs typeface="Arial" pitchFamily="34" charset="0"/>
              </a:rPr>
              <a:t>Penyelesaian :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2" name="Picture 96">
            <a:extLst>
              <a:ext uri="{FF2B5EF4-FFF2-40B4-BE49-F238E27FC236}">
                <a16:creationId xmlns:a16="http://schemas.microsoft.com/office/drawing/2014/main" id="{4825716C-9C5D-D333-19CC-4A84B8DE916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733" y="4009717"/>
            <a:ext cx="1439863" cy="251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oup 42"/>
          <p:cNvGrpSpPr/>
          <p:nvPr/>
        </p:nvGrpSpPr>
        <p:grpSpPr>
          <a:xfrm>
            <a:off x="4784664" y="4846178"/>
            <a:ext cx="3242899" cy="658511"/>
            <a:chOff x="5011271" y="2446813"/>
            <a:chExt cx="6853518" cy="1485087"/>
          </a:xfrm>
        </p:grpSpPr>
        <p:sp>
          <p:nvSpPr>
            <p:cNvPr id="44" name="Explosion 2 43"/>
            <p:cNvSpPr/>
            <p:nvPr/>
          </p:nvSpPr>
          <p:spPr>
            <a:xfrm>
              <a:off x="5011271" y="2446813"/>
              <a:ext cx="6853518" cy="1485087"/>
            </a:xfrm>
            <a:prstGeom prst="irregularSeal2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599965" y="2825800"/>
              <a:ext cx="5040086" cy="832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  <a:latin typeface="Monotype Corsiva" panose="03010101010201010101" pitchFamily="66" charset="0"/>
                </a:rPr>
                <a:t>Alhamdulillah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485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34" grpId="0" animBg="1"/>
      <p:bldP spid="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576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>
            <a:spLocks/>
          </p:cNvSpPr>
          <p:nvPr/>
        </p:nvSpPr>
        <p:spPr bwMode="auto">
          <a:xfrm>
            <a:off x="1317813" y="5095468"/>
            <a:ext cx="1398494" cy="218758"/>
          </a:xfrm>
          <a:custGeom>
            <a:avLst/>
            <a:gdLst>
              <a:gd name="T0" fmla="*/ 555 w 555"/>
              <a:gd name="T1" fmla="*/ 0 h 231"/>
              <a:gd name="T2" fmla="*/ 270 w 555"/>
              <a:gd name="T3" fmla="*/ 177 h 231"/>
              <a:gd name="T4" fmla="*/ 229 w 555"/>
              <a:gd name="T5" fmla="*/ 190 h 231"/>
              <a:gd name="T6" fmla="*/ 161 w 555"/>
              <a:gd name="T7" fmla="*/ 149 h 231"/>
              <a:gd name="T8" fmla="*/ 121 w 555"/>
              <a:gd name="T9" fmla="*/ 136 h 231"/>
              <a:gd name="T10" fmla="*/ 39 w 555"/>
              <a:gd name="T11" fmla="*/ 41 h 231"/>
              <a:gd name="T12" fmla="*/ 26 w 555"/>
              <a:gd name="T13" fmla="*/ 81 h 231"/>
              <a:gd name="T14" fmla="*/ 26 w 555"/>
              <a:gd name="T15" fmla="*/ 54 h 231"/>
              <a:gd name="T16" fmla="*/ 161 w 555"/>
              <a:gd name="T17" fmla="*/ 68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5" h="231">
                <a:moveTo>
                  <a:pt x="555" y="0"/>
                </a:moveTo>
                <a:cubicBezTo>
                  <a:pt x="518" y="152"/>
                  <a:pt x="404" y="157"/>
                  <a:pt x="270" y="177"/>
                </a:cubicBezTo>
                <a:cubicBezTo>
                  <a:pt x="256" y="181"/>
                  <a:pt x="243" y="190"/>
                  <a:pt x="229" y="190"/>
                </a:cubicBezTo>
                <a:cubicBezTo>
                  <a:pt x="178" y="190"/>
                  <a:pt x="197" y="171"/>
                  <a:pt x="161" y="149"/>
                </a:cubicBezTo>
                <a:cubicBezTo>
                  <a:pt x="149" y="142"/>
                  <a:pt x="134" y="140"/>
                  <a:pt x="121" y="136"/>
                </a:cubicBezTo>
                <a:cubicBezTo>
                  <a:pt x="75" y="106"/>
                  <a:pt x="57" y="93"/>
                  <a:pt x="39" y="41"/>
                </a:cubicBezTo>
                <a:cubicBezTo>
                  <a:pt x="35" y="54"/>
                  <a:pt x="29" y="67"/>
                  <a:pt x="26" y="81"/>
                </a:cubicBezTo>
                <a:cubicBezTo>
                  <a:pt x="12" y="138"/>
                  <a:pt x="0" y="231"/>
                  <a:pt x="26" y="54"/>
                </a:cubicBezTo>
                <a:cubicBezTo>
                  <a:pt x="96" y="78"/>
                  <a:pt x="52" y="68"/>
                  <a:pt x="161" y="68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357007" y="5884879"/>
            <a:ext cx="2582982" cy="148432"/>
            <a:chOff x="2337" y="4986"/>
            <a:chExt cx="1834" cy="189"/>
          </a:xfrm>
        </p:grpSpPr>
        <p:sp>
          <p:nvSpPr>
            <p:cNvPr id="11" name="Arc 2031"/>
            <p:cNvSpPr>
              <a:spLocks/>
            </p:cNvSpPr>
            <p:nvPr/>
          </p:nvSpPr>
          <p:spPr bwMode="auto">
            <a:xfrm rot="5400000" flipV="1">
              <a:off x="3178" y="4181"/>
              <a:ext cx="180" cy="1807"/>
            </a:xfrm>
            <a:custGeom>
              <a:avLst/>
              <a:gdLst>
                <a:gd name="G0" fmla="+- 496 0 0"/>
                <a:gd name="G1" fmla="+- 21600 0 0"/>
                <a:gd name="G2" fmla="+- 21600 0 0"/>
                <a:gd name="T0" fmla="*/ 496 w 22096"/>
                <a:gd name="T1" fmla="*/ 0 h 43200"/>
                <a:gd name="T2" fmla="*/ 0 w 22096"/>
                <a:gd name="T3" fmla="*/ 43194 h 43200"/>
                <a:gd name="T4" fmla="*/ 496 w 2209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96" h="43200" fill="none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</a:path>
                <a:path w="22096" h="43200" stroke="0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  <a:lnTo>
                    <a:pt x="496" y="216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2337" y="4986"/>
              <a:ext cx="108" cy="149"/>
            </a:xfrm>
            <a:custGeom>
              <a:avLst/>
              <a:gdLst>
                <a:gd name="T0" fmla="*/ 54 w 108"/>
                <a:gd name="T1" fmla="*/ 149 h 149"/>
                <a:gd name="T2" fmla="*/ 0 w 108"/>
                <a:gd name="T3" fmla="*/ 40 h 149"/>
                <a:gd name="T4" fmla="*/ 108 w 108"/>
                <a:gd name="T5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149">
                  <a:moveTo>
                    <a:pt x="54" y="149"/>
                  </a:moveTo>
                  <a:cubicBezTo>
                    <a:pt x="23" y="56"/>
                    <a:pt x="47" y="88"/>
                    <a:pt x="0" y="40"/>
                  </a:cubicBezTo>
                  <a:cubicBezTo>
                    <a:pt x="36" y="15"/>
                    <a:pt x="62" y="0"/>
                    <a:pt x="108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521406" y="360196"/>
            <a:ext cx="5638082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0" lvl="1"/>
            <a:r>
              <a:rPr lang="en-US" sz="2400" b="1" dirty="0">
                <a:latin typeface="Arial Black" panose="020B0A04020102020204" pitchFamily="34" charset="0"/>
              </a:rPr>
              <a:t>1.9  Notasi Ilmiah (Bentuk Baku)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9796" y="1006238"/>
            <a:ext cx="76157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Penulisan bentuk baku bilangan lebih dari 10 adalah :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611" y="1369354"/>
            <a:ext cx="46955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A04020102020204" pitchFamily="34" charset="0"/>
              </a:rPr>
              <a:t>a</a:t>
            </a:r>
            <a:r>
              <a:rPr lang="en-US" sz="2400" b="1" dirty="0">
                <a:latin typeface="Arial Black" panose="020B0A04020102020204" pitchFamily="34" charset="0"/>
              </a:rPr>
              <a:t> x 10</a:t>
            </a:r>
            <a:r>
              <a:rPr lang="en-US" sz="2400" b="1" baseline="30000" dirty="0">
                <a:latin typeface="Arial Black" panose="020B0A04020102020204" pitchFamily="34" charset="0"/>
              </a:rPr>
              <a:t> n</a:t>
            </a:r>
            <a:r>
              <a:rPr lang="en-US" sz="2400" b="1" dirty="0">
                <a:latin typeface="Arial Black" panose="020B0A04020102020204" pitchFamily="34" charset="0"/>
              </a:rPr>
              <a:t>  dengan </a:t>
            </a:r>
            <a:r>
              <a:rPr lang="en-US" sz="2400" b="1" dirty="0">
                <a:solidFill>
                  <a:srgbClr val="0070C0"/>
                </a:solidFill>
                <a:latin typeface="Arial Black" panose="020B0A04020102020204" pitchFamily="34" charset="0"/>
              </a:rPr>
              <a:t>1 ≤  a &lt; 10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21406" y="2025546"/>
            <a:ext cx="91802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Basis dari bentuk perpangkatan 10 memiliki pangkat </a:t>
            </a:r>
            <a:r>
              <a:rPr lang="en-US" sz="2000" b="1" i="1" dirty="0">
                <a:latin typeface="Arial Black" panose="020B0A04020102020204" pitchFamily="34" charset="0"/>
              </a:rPr>
              <a:t>positif  n</a:t>
            </a:r>
            <a:r>
              <a:rPr lang="en-US" sz="2000" dirty="0">
                <a:latin typeface="Arial Black" panose="020B0A04020102020204" pitchFamily="34" charset="0"/>
              </a:rPr>
              <a:t> bila memindahkan tanda koma</a:t>
            </a:r>
            <a:r>
              <a:rPr lang="en-US" sz="2000" i="1" dirty="0">
                <a:latin typeface="Arial Black" panose="020B0A04020102020204" pitchFamily="34" charset="0"/>
              </a:rPr>
              <a:t> </a:t>
            </a:r>
            <a:r>
              <a:rPr lang="en-US" sz="2000" b="1" i="1" dirty="0">
                <a:latin typeface="Arial Black" panose="020B0A04020102020204" pitchFamily="34" charset="0"/>
              </a:rPr>
              <a:t>kekiri  sebanyak n angka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837" y="2763896"/>
            <a:ext cx="320632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Monotype Corsiva" panose="03010101010201010101" pitchFamily="66" charset="0"/>
              </a:rPr>
              <a:t>Ayo Kita Amati </a:t>
            </a:r>
            <a:r>
              <a:rPr lang="id-ID" sz="2400" b="1" dirty="0">
                <a:latin typeface="Monotype Corsiva" panose="03010101010201010101" pitchFamily="66" charset="0"/>
              </a:rPr>
              <a:t>Contoh 1.</a:t>
            </a:r>
            <a:r>
              <a:rPr lang="en-US" sz="2400" b="1" dirty="0">
                <a:latin typeface="Monotype Corsiva" panose="03010101010201010101" pitchFamily="66" charset="0"/>
              </a:rPr>
              <a:t>2</a:t>
            </a:r>
            <a:endParaRPr lang="en-US" sz="2400" dirty="0">
              <a:latin typeface="Monotype Corsiva" panose="03010101010201010101" pitchFamily="66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21406" y="3257296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2000" dirty="0">
                <a:latin typeface="Arial Black" panose="020B0A04020102020204" pitchFamily="34" charset="0"/>
              </a:rPr>
              <a:t>1. Tulislah dalam bentuk notasi ilmiah !</a:t>
            </a:r>
          </a:p>
          <a:p>
            <a:pPr marL="800100" lvl="1" indent="-342900">
              <a:buAutoNum type="alphaLcPeriod"/>
            </a:pPr>
            <a:r>
              <a:rPr lang="en-US" sz="2000" dirty="0">
                <a:latin typeface="Arial Black" panose="020B0A04020102020204" pitchFamily="34" charset="0"/>
              </a:rPr>
              <a:t>45.000.000.000 </a:t>
            </a:r>
          </a:p>
          <a:p>
            <a:pPr marL="800100" lvl="1" indent="-342900">
              <a:buAutoNum type="alphaLcPeriod"/>
            </a:pPr>
            <a:r>
              <a:rPr lang="en-US" sz="2000" dirty="0">
                <a:latin typeface="Arial Black" panose="020B0A04020102020204" pitchFamily="34" charset="0"/>
              </a:rPr>
              <a:t>76.3273.000.000.000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297" y="4247178"/>
            <a:ext cx="23230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i="1" dirty="0">
                <a:latin typeface="Arial" pitchFamily="34" charset="0"/>
                <a:cs typeface="Arial" pitchFamily="34" charset="0"/>
              </a:rPr>
              <a:t>Penyelesaian :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69246" y="4804434"/>
            <a:ext cx="21791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3538" lvl="1" indent="-342900">
              <a:buAutoNum type="alphaLcPeriod"/>
            </a:pPr>
            <a:r>
              <a:rPr lang="en-US" sz="2000" dirty="0">
                <a:latin typeface="Arial Black" panose="020B0A04020102020204" pitchFamily="34" charset="0"/>
              </a:rPr>
              <a:t>68.000.000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818061" y="4811551"/>
                <a:ext cx="1642822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Arial Black" panose="020B0A04020102020204" pitchFamily="34" charset="0"/>
                  </a:rPr>
                  <a:t>= 6,8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…</m:t>
                        </m:r>
                      </m:sup>
                    </m:sSup>
                  </m:oMath>
                </a14:m>
                <a:r>
                  <a:rPr lang="en-US" dirty="0">
                    <a:latin typeface="Arial Black" panose="020B0A04020102020204" pitchFamily="34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061" y="4811551"/>
                <a:ext cx="1642822" cy="392993"/>
              </a:xfrm>
              <a:prstGeom prst="rect">
                <a:avLst/>
              </a:prstGeom>
              <a:blipFill rotWithShape="0">
                <a:blip r:embed="rId2"/>
                <a:stretch>
                  <a:fillRect l="-2963" t="-1538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1766087" y="5188899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8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67144" y="4714421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8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89251" y="5619753"/>
            <a:ext cx="32672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000" dirty="0">
                <a:latin typeface="Arial Black" panose="020B0A04020102020204" pitchFamily="34" charset="0"/>
              </a:rPr>
              <a:t>b. 76.327.000.000.000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047805" y="5626677"/>
                <a:ext cx="22107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Arial Black" panose="020B0A04020102020204" pitchFamily="34" charset="0"/>
                  </a:rPr>
                  <a:t>= 7,63273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…</m:t>
                        </m:r>
                      </m:sup>
                    </m:sSup>
                  </m:oMath>
                </a14:m>
                <a:r>
                  <a:rPr lang="en-US" dirty="0">
                    <a:latin typeface="Arial Black" panose="020B0A04020102020204" pitchFamily="34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805" y="5626677"/>
                <a:ext cx="221079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20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2377753" y="5997127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13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012382" y="5498939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13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4067144" y="6123747"/>
                <a:ext cx="17491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Arial Black" panose="020B0A04020102020204" pitchFamily="34" charset="0"/>
                  </a:rPr>
                  <a:t>= 7,63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…</m:t>
                        </m:r>
                      </m:sup>
                    </m:sSup>
                  </m:oMath>
                </a14:m>
                <a:r>
                  <a:rPr lang="en-US" dirty="0">
                    <a:latin typeface="Arial Black" panose="020B0A04020102020204" pitchFamily="34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144" y="6123747"/>
                <a:ext cx="1749133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78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5490246" y="5997127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13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818061" y="6440858"/>
            <a:ext cx="3604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( pembulatan dua desimal 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31573" y="1411335"/>
            <a:ext cx="2493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a </a:t>
            </a:r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 faktor pengali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256243" y="1730173"/>
            <a:ext cx="5913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Cirinya : satu angka di depan koma bukan nol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6504825" y="2994728"/>
            <a:ext cx="55919" cy="36307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736886" y="3077627"/>
            <a:ext cx="512341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2. Kisaran luas total daratan Indonesia adalah 1.800.000.000.000 m</a:t>
            </a:r>
            <a:r>
              <a:rPr lang="en-US" sz="2000" baseline="30000" dirty="0">
                <a:latin typeface="Arial Black" panose="020B0A04020102020204" pitchFamily="34" charset="0"/>
              </a:rPr>
              <a:t>2</a:t>
            </a:r>
            <a:endParaRPr lang="en-US" sz="2000" dirty="0">
              <a:latin typeface="Arial Black" panose="020B0A04020102020204" pitchFamily="34" charset="0"/>
            </a:endParaRPr>
          </a:p>
          <a:p>
            <a:r>
              <a:rPr lang="en-US" sz="2000" dirty="0">
                <a:latin typeface="Arial Black" panose="020B0A04020102020204" pitchFamily="34" charset="0"/>
              </a:rPr>
              <a:t>Tulislah dalam bentuk notasi ilmiah !</a:t>
            </a:r>
          </a:p>
        </p:txBody>
      </p:sp>
    </p:spTree>
    <p:extLst>
      <p:ext uri="{BB962C8B-B14F-4D97-AF65-F5344CB8AC3E}">
        <p14:creationId xmlns:p14="http://schemas.microsoft.com/office/powerpoint/2010/main" val="189978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9848" y="1210235"/>
            <a:ext cx="60388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b="1" dirty="0"/>
              <a:t>1.9  </a:t>
            </a:r>
            <a:r>
              <a:rPr lang="en-US" b="1" dirty="0" err="1"/>
              <a:t>Notasi</a:t>
            </a:r>
            <a:r>
              <a:rPr lang="en-US" b="1" dirty="0"/>
              <a:t> </a:t>
            </a:r>
            <a:r>
              <a:rPr lang="en-US" b="1" dirty="0" err="1"/>
              <a:t>Ilmiah</a:t>
            </a:r>
            <a:r>
              <a:rPr lang="en-US" b="1" dirty="0"/>
              <a:t> (</a:t>
            </a:r>
            <a:r>
              <a:rPr lang="en-US" b="1" dirty="0" err="1"/>
              <a:t>Bentuk</a:t>
            </a:r>
            <a:r>
              <a:rPr lang="en-US" b="1" dirty="0"/>
              <a:t> Baku)</a:t>
            </a:r>
            <a:endParaRPr lang="en-US" sz="1600" dirty="0"/>
          </a:p>
          <a:p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baku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 </a:t>
            </a:r>
            <a:r>
              <a:rPr lang="en-US" dirty="0" err="1"/>
              <a:t>adalah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	a x 10</a:t>
            </a:r>
            <a:r>
              <a:rPr lang="en-US" b="1" baseline="30000" dirty="0"/>
              <a:t> - n</a:t>
            </a:r>
            <a:r>
              <a:rPr lang="en-US" b="1" dirty="0"/>
              <a:t>  </a:t>
            </a:r>
            <a:r>
              <a:rPr lang="en-US" b="1" dirty="0" err="1"/>
              <a:t>dengan</a:t>
            </a:r>
            <a:r>
              <a:rPr lang="en-US" b="1" dirty="0"/>
              <a:t> 1 ≤  a &lt; 10</a:t>
            </a:r>
            <a:endParaRPr lang="en-US" dirty="0"/>
          </a:p>
          <a:p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Basis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perpangkatan</a:t>
            </a:r>
            <a:r>
              <a:rPr lang="en-US" dirty="0"/>
              <a:t> 10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pangkat</a:t>
            </a:r>
            <a:r>
              <a:rPr lang="en-US" dirty="0"/>
              <a:t> </a:t>
            </a:r>
            <a:r>
              <a:rPr lang="en-US" b="1" i="1" dirty="0" err="1"/>
              <a:t>negatif</a:t>
            </a:r>
            <a:r>
              <a:rPr lang="en-US" b="1" i="1" dirty="0"/>
              <a:t>  n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memindahkan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koma</a:t>
            </a:r>
            <a:r>
              <a:rPr lang="en-US" i="1" dirty="0"/>
              <a:t> </a:t>
            </a:r>
            <a:r>
              <a:rPr lang="en-US" b="1" i="1" dirty="0" err="1"/>
              <a:t>kekanan</a:t>
            </a:r>
            <a:r>
              <a:rPr lang="en-US" b="1" i="1" dirty="0"/>
              <a:t>  </a:t>
            </a:r>
            <a:r>
              <a:rPr lang="en-US" b="1" i="1" dirty="0" err="1"/>
              <a:t>sebanyak</a:t>
            </a:r>
            <a:r>
              <a:rPr lang="en-US" b="1" i="1" dirty="0"/>
              <a:t> n </a:t>
            </a:r>
            <a:r>
              <a:rPr lang="en-US" b="1" i="1" dirty="0" err="1"/>
              <a:t>angka</a:t>
            </a:r>
            <a:endParaRPr lang="en-US" b="1" i="1" dirty="0"/>
          </a:p>
          <a:p>
            <a:r>
              <a:rPr lang="en-US" dirty="0"/>
              <a:t>4).  0, 04350  	=  4,35 x 10</a:t>
            </a:r>
            <a:r>
              <a:rPr lang="en-US" baseline="30000" dirty="0"/>
              <a:t>-2</a:t>
            </a:r>
            <a:r>
              <a:rPr lang="en-US" dirty="0"/>
              <a:t>  </a:t>
            </a:r>
          </a:p>
          <a:p>
            <a:r>
              <a:rPr lang="en-US" dirty="0"/>
              <a:t>       </a:t>
            </a:r>
          </a:p>
          <a:p>
            <a:pPr>
              <a:tabLst>
                <a:tab pos="457200" algn="l"/>
              </a:tabLst>
            </a:pPr>
            <a:r>
              <a:rPr lang="en-US" dirty="0"/>
              <a:t>	  - 2 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5).  0,006075 	= 6,075 x 10</a:t>
            </a:r>
            <a:r>
              <a:rPr lang="en-US" baseline="30000" dirty="0"/>
              <a:t>-3</a:t>
            </a:r>
            <a:r>
              <a:rPr lang="en-US" dirty="0"/>
              <a:t>  </a:t>
            </a:r>
          </a:p>
          <a:p>
            <a:r>
              <a:rPr lang="en-US" dirty="0"/>
              <a:t>        </a:t>
            </a:r>
          </a:p>
          <a:p>
            <a:pPr>
              <a:tabLst>
                <a:tab pos="457200" algn="l"/>
              </a:tabLst>
            </a:pPr>
            <a:r>
              <a:rPr lang="en-US" dirty="0"/>
              <a:t>	  - 3 	= 6,08  x 10</a:t>
            </a:r>
            <a:r>
              <a:rPr lang="en-US" baseline="30000" dirty="0"/>
              <a:t>-3</a:t>
            </a:r>
            <a:r>
              <a:rPr lang="en-US" dirty="0"/>
              <a:t> ( </a:t>
            </a:r>
            <a:r>
              <a:rPr lang="en-US" dirty="0" err="1"/>
              <a:t>pembulatan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desimal</a:t>
            </a:r>
            <a:r>
              <a:rPr lang="en-US" dirty="0"/>
              <a:t> )</a:t>
            </a:r>
          </a:p>
          <a:p>
            <a:r>
              <a:rPr lang="en-US" dirty="0"/>
              <a:t>6).  0,000005432   = 5,432 x 10</a:t>
            </a:r>
            <a:r>
              <a:rPr lang="en-US" baseline="30000" dirty="0"/>
              <a:t>-6</a:t>
            </a:r>
            <a:endParaRPr lang="en-US" dirty="0"/>
          </a:p>
          <a:p>
            <a:r>
              <a:rPr lang="en-US" dirty="0"/>
              <a:t>	         </a:t>
            </a:r>
          </a:p>
          <a:p>
            <a:r>
              <a:rPr lang="en-US" dirty="0"/>
              <a:t>	- 6 	 = 5,43  x 10</a:t>
            </a:r>
            <a:r>
              <a:rPr lang="en-US" baseline="30000" dirty="0"/>
              <a:t>-6</a:t>
            </a:r>
            <a:r>
              <a:rPr lang="en-US" dirty="0"/>
              <a:t> ( </a:t>
            </a:r>
            <a:r>
              <a:rPr lang="en-US" dirty="0" err="1"/>
              <a:t>pembulatan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desimal</a:t>
            </a:r>
            <a:r>
              <a:rPr lang="en-US" dirty="0"/>
              <a:t> )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8376418" y="1762150"/>
            <a:ext cx="462388" cy="209305"/>
            <a:chOff x="9224" y="12984"/>
            <a:chExt cx="722" cy="174"/>
          </a:xfrm>
        </p:grpSpPr>
        <p:sp>
          <p:nvSpPr>
            <p:cNvPr id="6" name="Arc 2137"/>
            <p:cNvSpPr>
              <a:spLocks/>
            </p:cNvSpPr>
            <p:nvPr/>
          </p:nvSpPr>
          <p:spPr bwMode="auto">
            <a:xfrm rot="5400000" flipV="1">
              <a:off x="9465" y="12752"/>
              <a:ext cx="165" cy="648"/>
            </a:xfrm>
            <a:custGeom>
              <a:avLst/>
              <a:gdLst>
                <a:gd name="G0" fmla="+- 496 0 0"/>
                <a:gd name="G1" fmla="+- 21600 0 0"/>
                <a:gd name="G2" fmla="+- 21600 0 0"/>
                <a:gd name="T0" fmla="*/ 496 w 22096"/>
                <a:gd name="T1" fmla="*/ 0 h 43200"/>
                <a:gd name="T2" fmla="*/ 0 w 22096"/>
                <a:gd name="T3" fmla="*/ 43194 h 43200"/>
                <a:gd name="T4" fmla="*/ 496 w 2209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96" h="43200" fill="none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</a:path>
                <a:path w="22096" h="43200" stroke="0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  <a:lnTo>
                    <a:pt x="496" y="216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9795" y="12984"/>
              <a:ext cx="151" cy="138"/>
            </a:xfrm>
            <a:custGeom>
              <a:avLst/>
              <a:gdLst>
                <a:gd name="T0" fmla="*/ 0 w 151"/>
                <a:gd name="T1" fmla="*/ 16 h 138"/>
                <a:gd name="T2" fmla="*/ 81 w 151"/>
                <a:gd name="T3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1" h="138">
                  <a:moveTo>
                    <a:pt x="0" y="16"/>
                  </a:moveTo>
                  <a:cubicBezTo>
                    <a:pt x="151" y="38"/>
                    <a:pt x="81" y="0"/>
                    <a:pt x="81" y="13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8356227" y="2848998"/>
            <a:ext cx="487112" cy="194810"/>
            <a:chOff x="9224" y="12984"/>
            <a:chExt cx="722" cy="174"/>
          </a:xfrm>
        </p:grpSpPr>
        <p:sp>
          <p:nvSpPr>
            <p:cNvPr id="9" name="Arc 2134"/>
            <p:cNvSpPr>
              <a:spLocks/>
            </p:cNvSpPr>
            <p:nvPr/>
          </p:nvSpPr>
          <p:spPr bwMode="auto">
            <a:xfrm rot="5400000" flipV="1">
              <a:off x="9465" y="12752"/>
              <a:ext cx="165" cy="648"/>
            </a:xfrm>
            <a:custGeom>
              <a:avLst/>
              <a:gdLst>
                <a:gd name="G0" fmla="+- 496 0 0"/>
                <a:gd name="G1" fmla="+- 21600 0 0"/>
                <a:gd name="G2" fmla="+- 21600 0 0"/>
                <a:gd name="T0" fmla="*/ 496 w 22096"/>
                <a:gd name="T1" fmla="*/ 0 h 43200"/>
                <a:gd name="T2" fmla="*/ 0 w 22096"/>
                <a:gd name="T3" fmla="*/ 43194 h 43200"/>
                <a:gd name="T4" fmla="*/ 496 w 2209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96" h="43200" fill="none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</a:path>
                <a:path w="22096" h="43200" stroke="0" extrusionOk="0">
                  <a:moveTo>
                    <a:pt x="495" y="0"/>
                  </a:moveTo>
                  <a:cubicBezTo>
                    <a:pt x="12425" y="0"/>
                    <a:pt x="22096" y="9670"/>
                    <a:pt x="22096" y="21600"/>
                  </a:cubicBezTo>
                  <a:cubicBezTo>
                    <a:pt x="22096" y="33529"/>
                    <a:pt x="12425" y="43200"/>
                    <a:pt x="496" y="43200"/>
                  </a:cubicBezTo>
                  <a:cubicBezTo>
                    <a:pt x="330" y="43200"/>
                    <a:pt x="165" y="43198"/>
                    <a:pt x="-1" y="43194"/>
                  </a:cubicBezTo>
                  <a:lnTo>
                    <a:pt x="496" y="216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9795" y="12984"/>
              <a:ext cx="151" cy="138"/>
            </a:xfrm>
            <a:custGeom>
              <a:avLst/>
              <a:gdLst>
                <a:gd name="T0" fmla="*/ 0 w 151"/>
                <a:gd name="T1" fmla="*/ 16 h 138"/>
                <a:gd name="T2" fmla="*/ 81 w 151"/>
                <a:gd name="T3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1" h="138">
                  <a:moveTo>
                    <a:pt x="0" y="16"/>
                  </a:moveTo>
                  <a:cubicBezTo>
                    <a:pt x="151" y="38"/>
                    <a:pt x="81" y="0"/>
                    <a:pt x="81" y="13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7259160" y="3741443"/>
            <a:ext cx="6096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endParaRPr lang="en-US" sz="1600" dirty="0"/>
          </a:p>
          <a:p>
            <a:pPr lvl="1"/>
            <a:r>
              <a:rPr lang="en-US" dirty="0"/>
              <a:t>0,0354  = …………………………………….</a:t>
            </a:r>
            <a:endParaRPr lang="en-US" sz="1600" dirty="0"/>
          </a:p>
          <a:p>
            <a:pPr lvl="1"/>
            <a:r>
              <a:rPr lang="en-US" dirty="0"/>
              <a:t>0,00005276  =</a:t>
            </a:r>
          </a:p>
        </p:txBody>
      </p:sp>
      <p:sp>
        <p:nvSpPr>
          <p:cNvPr id="2" name="Rectangle 1"/>
          <p:cNvSpPr/>
          <p:nvPr/>
        </p:nvSpPr>
        <p:spPr>
          <a:xfrm>
            <a:off x="963721" y="676392"/>
            <a:ext cx="8931840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Kegiatan 1.6 Menentukan Hasil Operasi Pada Bentukakar</a:t>
            </a:r>
          </a:p>
        </p:txBody>
      </p:sp>
    </p:spTree>
    <p:extLst>
      <p:ext uri="{BB962C8B-B14F-4D97-AF65-F5344CB8AC3E}">
        <p14:creationId xmlns:p14="http://schemas.microsoft.com/office/powerpoint/2010/main" val="2796307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980311" y="402850"/>
            <a:ext cx="8155994" cy="107157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SELAMAT  DATANG </a:t>
            </a:r>
            <a:b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</a:br>
            <a: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DI RUANG BELAJAR MANDIRI</a:t>
            </a:r>
          </a:p>
        </p:txBody>
      </p:sp>
      <p:pic>
        <p:nvPicPr>
          <p:cNvPr id="5" name="Picture 2" descr="G:\Gambar Animasi\bumi_rotasi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69064" y="25322"/>
            <a:ext cx="1422936" cy="13280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17" descr="D:\2. PERANGKAT MENGAJAR KUR 2013 PAIYO\BAHAN ANIMASI MEMBUAT PEMBELAJARAN PPT\Gambar Animasi untuk PPT\aniearth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2936" cy="130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itle 3"/>
          <p:cNvSpPr txBox="1">
            <a:spLocks/>
          </p:cNvSpPr>
          <p:nvPr/>
        </p:nvSpPr>
        <p:spPr>
          <a:xfrm>
            <a:off x="692932" y="1595443"/>
            <a:ext cx="10730753" cy="2295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latin typeface="Arial Black" panose="020B0A04020102020204" pitchFamily="34" charset="0"/>
              </a:rPr>
              <a:t>“ A A A MAT KEREN “ PAIYO</a:t>
            </a:r>
          </a:p>
          <a:p>
            <a:pPr marL="0" indent="0" algn="ctr">
              <a:buNone/>
            </a:pPr>
            <a:r>
              <a:rPr lang="en-US" sz="3600" b="1" dirty="0">
                <a:latin typeface="Book Antiqua" panose="02040602050305030304" pitchFamily="18" charset="0"/>
              </a:rPr>
              <a:t>“ASAH ASIH ASUH MATEMATIKA”</a:t>
            </a:r>
          </a:p>
          <a:p>
            <a:pPr marL="0" indent="0" algn="ctr">
              <a:buNone/>
            </a:pP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sz="2800" b="1" dirty="0">
                <a:latin typeface="Monotype Corsiva" panose="03010101010201010101" pitchFamily="66" charset="0"/>
              </a:rPr>
              <a:t>“ </a:t>
            </a:r>
            <a:r>
              <a:rPr lang="en-US" sz="28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onotype Corsiva" panose="03010101010201010101" pitchFamily="66" charset="0"/>
              </a:rPr>
              <a:t>KREAKTIF  EKSPLORATIF   REPRESENTATIF  EKSLEN  NO DROP “ 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9212" y="4708121"/>
            <a:ext cx="10192870" cy="1015663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id-ID" sz="2000" dirty="0">
                <a:latin typeface="Arial Black" panose="020B0A04020102020204" pitchFamily="34" charset="0"/>
              </a:rPr>
              <a:t>Melalui kegiatan </a:t>
            </a:r>
            <a:r>
              <a:rPr lang="en-US" sz="2000" dirty="0">
                <a:latin typeface="Arial Black" panose="020B0A04020102020204" pitchFamily="34" charset="0"/>
              </a:rPr>
              <a:t>melihat, menyimak dan menonton video </a:t>
            </a:r>
            <a:r>
              <a:rPr lang="id-ID" sz="2000" dirty="0">
                <a:latin typeface="Arial Black" panose="020B0A04020102020204" pitchFamily="34" charset="0"/>
              </a:rPr>
              <a:t>pembelajaran</a:t>
            </a:r>
            <a:r>
              <a:rPr lang="en-US" sz="2000" dirty="0">
                <a:latin typeface="Arial Black" panose="020B0A04020102020204" pitchFamily="34" charset="0"/>
              </a:rPr>
              <a:t> mandiri ini </a:t>
            </a:r>
            <a:r>
              <a:rPr lang="id-ID" sz="2000" dirty="0">
                <a:latin typeface="Arial Black" panose="020B0A04020102020204" pitchFamily="34" charset="0"/>
              </a:rPr>
              <a:t>diharapkan peserta didik dapat :</a:t>
            </a:r>
            <a:endParaRPr lang="en-US" sz="2000" dirty="0">
              <a:latin typeface="Arial Black" panose="020B0A0402010202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 Black" panose="020B0A04020102020204" pitchFamily="34" charset="0"/>
              </a:rPr>
              <a:t>1.6 Menentukan Hasil Operasi Pada Bentuk Akar</a:t>
            </a:r>
          </a:p>
        </p:txBody>
      </p:sp>
      <p:pic>
        <p:nvPicPr>
          <p:cNvPr id="10" name="Picture 10" descr="D:\2. PERANGKAT MENGAJAR KUR 2013 PAIYO\BAHAN ANIMASI MEMBUAT PEMBELAJARAN PPT\Gambar Animasi untuk PPT\anibird2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81" y="1896271"/>
            <a:ext cx="1409825" cy="112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1" descr="D:\2. PERANGKAT MENGAJAR KUR 2013 PAIYO\BAHAN ANIMASI MEMBUAT PEMBELAJARAN PPT\Gambar Animasi untuk PPT\anibird3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151" y="1896271"/>
            <a:ext cx="1409825" cy="112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5"/>
          <p:cNvGrpSpPr>
            <a:grpSpLocks/>
          </p:cNvGrpSpPr>
          <p:nvPr/>
        </p:nvGrpSpPr>
        <p:grpSpPr bwMode="auto">
          <a:xfrm>
            <a:off x="2475812" y="3595680"/>
            <a:ext cx="7419670" cy="1112441"/>
            <a:chOff x="4166" y="1706"/>
            <a:chExt cx="1252" cy="1252"/>
          </a:xfrm>
        </p:grpSpPr>
        <p:sp>
          <p:nvSpPr>
            <p:cNvPr id="20" name="Oval 1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Oval 1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Oval 1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Oval 19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9" name="Text Box 38"/>
          <p:cNvSpPr txBox="1">
            <a:spLocks noChangeArrowheads="1"/>
          </p:cNvSpPr>
          <p:nvPr/>
        </p:nvSpPr>
        <p:spPr bwMode="gray">
          <a:xfrm>
            <a:off x="2940131" y="3574610"/>
            <a:ext cx="6239579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 w="50800"/>
                <a:solidFill>
                  <a:srgbClr val="0A2068">
                    <a:shade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BAB </a:t>
            </a:r>
            <a:r>
              <a:rPr lang="en-US" b="1" dirty="0">
                <a:ln w="50800"/>
                <a:solidFill>
                  <a:srgbClr val="0A2068">
                    <a:shade val="50000"/>
                  </a:srgbClr>
                </a:solidFill>
                <a:latin typeface="Arial"/>
              </a:rPr>
              <a:t>I</a:t>
            </a:r>
            <a:endParaRPr kumimoji="0" lang="en-US" sz="1800" b="1" i="0" u="none" strike="noStrike" kern="1200" cap="none" spc="0" normalizeH="0" baseline="0" noProof="0" dirty="0">
              <a:ln w="50800"/>
              <a:solidFill>
                <a:srgbClr val="0A2068">
                  <a:shade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 w="50800"/>
                <a:solidFill>
                  <a:srgbClr val="0A2068">
                    <a:shade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BENTUK AKAR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n w="50800"/>
                <a:solidFill>
                  <a:srgbClr val="0A2068">
                    <a:shade val="50000"/>
                  </a:srgbClr>
                </a:solidFill>
                <a:latin typeface="Arial"/>
              </a:rPr>
              <a:t>Subbab Operasi Pada Bentuk Akar</a:t>
            </a:r>
            <a:endParaRPr kumimoji="0" lang="en-US" sz="2800" b="1" i="0" u="none" strike="noStrike" kern="1200" cap="none" spc="0" normalizeH="0" baseline="0" noProof="0" dirty="0">
              <a:ln w="50800"/>
              <a:solidFill>
                <a:srgbClr val="0A2068">
                  <a:shade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2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Arrow Connector 45"/>
          <p:cNvCxnSpPr>
            <a:cxnSpLocks noChangeShapeType="1"/>
          </p:cNvCxnSpPr>
          <p:nvPr/>
        </p:nvCxnSpPr>
        <p:spPr bwMode="auto">
          <a:xfrm>
            <a:off x="5475113" y="2131390"/>
            <a:ext cx="14787" cy="454351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Rectangle 48"/>
          <p:cNvSpPr>
            <a:spLocks noChangeArrowheads="1"/>
          </p:cNvSpPr>
          <p:nvPr/>
        </p:nvSpPr>
        <p:spPr bwMode="auto">
          <a:xfrm>
            <a:off x="4917982" y="2000585"/>
            <a:ext cx="617584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52062" y="412344"/>
            <a:ext cx="8931840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Kegiatan 1.6 Menentukan Hasil Operasi Pada Bentuk Akar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2062" y="925205"/>
            <a:ext cx="8057882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6. Operasi pada bentuk akar.</a:t>
            </a:r>
          </a:p>
          <a:p>
            <a:r>
              <a:rPr lang="en-US" dirty="0">
                <a:latin typeface="Arial Black" panose="020B0A04020102020204" pitchFamily="34" charset="0"/>
              </a:rPr>
              <a:t>1. Operasi Penjumlahan pada Bentuk Akar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515" y="1698875"/>
            <a:ext cx="101686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Operasi penjumlahan pada bentuk akar dilakukan dengan menggunakan sifat distributif berikut 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483" r="51882" b="62113"/>
          <a:stretch/>
        </p:blipFill>
        <p:spPr>
          <a:xfrm>
            <a:off x="3326728" y="2000023"/>
            <a:ext cx="2003612" cy="38123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2"/>
          <a:srcRect l="1839" t="42825" r="70348" b="17085"/>
          <a:stretch/>
        </p:blipFill>
        <p:spPr>
          <a:xfrm>
            <a:off x="3364451" y="2357259"/>
            <a:ext cx="1890596" cy="43296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/>
          <a:srcRect r="59063"/>
          <a:stretch/>
        </p:blipFill>
        <p:spPr>
          <a:xfrm>
            <a:off x="448785" y="2959698"/>
            <a:ext cx="4200205" cy="288689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4"/>
          <a:srcRect r="73622"/>
          <a:stretch/>
        </p:blipFill>
        <p:spPr>
          <a:xfrm>
            <a:off x="5481724" y="2381257"/>
            <a:ext cx="3062944" cy="359158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/>
          <a:srcRect l="26654" r="40109"/>
          <a:stretch/>
        </p:blipFill>
        <p:spPr>
          <a:xfrm>
            <a:off x="7870105" y="2426298"/>
            <a:ext cx="3810907" cy="35465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7014564" y="2847548"/>
                <a:ext cx="726609" cy="497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564" y="2847548"/>
                <a:ext cx="726609" cy="497637"/>
              </a:xfrm>
              <a:prstGeom prst="rect">
                <a:avLst/>
              </a:prstGeom>
              <a:blipFill rotWithShape="0">
                <a:blip r:embed="rId5"/>
                <a:stretch>
                  <a:fillRect l="-13445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7121745" y="3496478"/>
                <a:ext cx="726609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6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745" y="3496478"/>
                <a:ext cx="726609" cy="496483"/>
              </a:xfrm>
              <a:prstGeom prst="rect">
                <a:avLst/>
              </a:prstGeom>
              <a:blipFill rotWithShape="0">
                <a:blip r:embed="rId6"/>
                <a:stretch>
                  <a:fillRect l="-12605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7107508" y="4154906"/>
                <a:ext cx="726609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3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508" y="4154906"/>
                <a:ext cx="726609" cy="496483"/>
              </a:xfrm>
              <a:prstGeom prst="rect">
                <a:avLst/>
              </a:prstGeom>
              <a:blipFill rotWithShape="0">
                <a:blip r:embed="rId7"/>
                <a:stretch>
                  <a:fillRect l="-13445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7279293" y="4742139"/>
                <a:ext cx="726609" cy="5002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6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293" y="4742139"/>
                <a:ext cx="726609" cy="500202"/>
              </a:xfrm>
              <a:prstGeom prst="rect">
                <a:avLst/>
              </a:prstGeom>
              <a:blipFill rotWithShape="0">
                <a:blip r:embed="rId8"/>
                <a:stretch>
                  <a:fillRect l="-12605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7107507" y="5362074"/>
                <a:ext cx="726609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7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507" y="5362074"/>
                <a:ext cx="726609" cy="496483"/>
              </a:xfrm>
              <a:prstGeom prst="rect">
                <a:avLst/>
              </a:prstGeom>
              <a:blipFill rotWithShape="0">
                <a:blip r:embed="rId9"/>
                <a:stretch>
                  <a:fillRect l="-13445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9775558" y="2848959"/>
                <a:ext cx="726609" cy="4962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5558" y="2848959"/>
                <a:ext cx="726609" cy="496226"/>
              </a:xfrm>
              <a:prstGeom prst="rect">
                <a:avLst/>
              </a:prstGeom>
              <a:blipFill rotWithShape="0">
                <a:blip r:embed="rId10"/>
                <a:stretch>
                  <a:fillRect l="-13445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10569744" y="3496478"/>
                <a:ext cx="726609" cy="497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6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744" y="3496478"/>
                <a:ext cx="726609" cy="497637"/>
              </a:xfrm>
              <a:prstGeom prst="rect">
                <a:avLst/>
              </a:prstGeom>
              <a:blipFill rotWithShape="0">
                <a:blip r:embed="rId11"/>
                <a:stretch>
                  <a:fillRect l="-13445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10799207" y="4154905"/>
                <a:ext cx="726609" cy="497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7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07" y="4154905"/>
                <a:ext cx="726609" cy="497637"/>
              </a:xfrm>
              <a:prstGeom prst="rect">
                <a:avLst/>
              </a:prstGeom>
              <a:blipFill rotWithShape="0">
                <a:blip r:embed="rId12"/>
                <a:stretch>
                  <a:fillRect l="-13445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10583547" y="4745858"/>
                <a:ext cx="726609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5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3547" y="4745858"/>
                <a:ext cx="726609" cy="496483"/>
              </a:xfrm>
              <a:prstGeom prst="rect">
                <a:avLst/>
              </a:prstGeom>
              <a:blipFill rotWithShape="0">
                <a:blip r:embed="rId13"/>
                <a:stretch>
                  <a:fillRect l="-12605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10730518" y="5360214"/>
                <a:ext cx="726609" cy="5002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518" y="5360214"/>
                <a:ext cx="726609" cy="500202"/>
              </a:xfrm>
              <a:prstGeom prst="rect">
                <a:avLst/>
              </a:prstGeom>
              <a:blipFill rotWithShape="0">
                <a:blip r:embed="rId14"/>
                <a:stretch>
                  <a:fillRect l="-12605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/>
          <p:cNvSpPr/>
          <p:nvPr/>
        </p:nvSpPr>
        <p:spPr>
          <a:xfrm>
            <a:off x="3015924" y="3425867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3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921900" y="3892036"/>
            <a:ext cx="9941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(2+1)a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3562883" y="4495757"/>
                <a:ext cx="1228350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(2+1)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883" y="4495757"/>
                <a:ext cx="1228350" cy="496483"/>
              </a:xfrm>
              <a:prstGeom prst="rect">
                <a:avLst/>
              </a:prstGeom>
              <a:blipFill rotWithShape="0">
                <a:blip r:embed="rId15"/>
                <a:stretch>
                  <a:fillRect l="-7426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/>
          <p:cNvSpPr/>
          <p:nvPr/>
        </p:nvSpPr>
        <p:spPr>
          <a:xfrm>
            <a:off x="3816268" y="3892036"/>
            <a:ext cx="715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= 3a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4653194" y="4495757"/>
                <a:ext cx="880497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=3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194" y="4495757"/>
                <a:ext cx="880497" cy="496483"/>
              </a:xfrm>
              <a:prstGeom prst="rect">
                <a:avLst/>
              </a:prstGeom>
              <a:blipFill rotWithShape="0">
                <a:blip r:embed="rId16"/>
                <a:stretch>
                  <a:fillRect l="-10345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4392822" y="5134296"/>
                <a:ext cx="880497" cy="5002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=2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822" y="5134296"/>
                <a:ext cx="880497" cy="500202"/>
              </a:xfrm>
              <a:prstGeom prst="rect">
                <a:avLst/>
              </a:prstGeom>
              <a:blipFill rotWithShape="0">
                <a:blip r:embed="rId17"/>
                <a:stretch>
                  <a:fillRect l="-11111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2950736" y="5159425"/>
                <a:ext cx="1478418" cy="5002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(4+1-3)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736" y="5159425"/>
                <a:ext cx="1478418" cy="500202"/>
              </a:xfrm>
              <a:prstGeom prst="rect">
                <a:avLst/>
              </a:prstGeom>
              <a:blipFill rotWithShape="0">
                <a:blip r:embed="rId18"/>
                <a:stretch>
                  <a:fillRect l="-6173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52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5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9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32" grpId="0"/>
      <p:bldP spid="48" grpId="0"/>
      <p:bldP spid="49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/>
          <a:srcRect r="55927"/>
          <a:stretch/>
        </p:blipFill>
        <p:spPr>
          <a:xfrm>
            <a:off x="1339765" y="454336"/>
            <a:ext cx="5801014" cy="205950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691866" y="1929484"/>
            <a:ext cx="6866556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170" indent="-90170" algn="just">
              <a:lnSpc>
                <a:spcPct val="115000"/>
              </a:lnSpc>
              <a:spcAft>
                <a:spcPts val="0"/>
              </a:spcAft>
            </a:pPr>
            <a:r>
              <a:rPr lang="en-US" b="1" i="1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Ingat “ yang bisa di jumlahkan hanya yang sejenis “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0170" indent="-90170" algn="just">
              <a:lnSpc>
                <a:spcPct val="115000"/>
              </a:lnSpc>
              <a:spcAft>
                <a:spcPts val="0"/>
              </a:spcAft>
            </a:pPr>
            <a:r>
              <a:rPr lang="en-US" b="1" i="1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Sehingga yang tidak sejenis maka tidak bisa di jumlah!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3"/>
          <a:srcRect r="64721"/>
          <a:stretch/>
        </p:blipFill>
        <p:spPr>
          <a:xfrm>
            <a:off x="1898666" y="2513839"/>
            <a:ext cx="4493577" cy="4183019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553076" y="892583"/>
            <a:ext cx="3980577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0170" indent="-90170" algn="just">
              <a:lnSpc>
                <a:spcPct val="115000"/>
              </a:lnSpc>
              <a:spcAft>
                <a:spcPts val="0"/>
              </a:spcAft>
            </a:pPr>
            <a:r>
              <a:rPr lang="en-US" b="1" i="1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tidak sejenis maka tidak bisa di jumlah!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035571" y="1430299"/>
            <a:ext cx="2165978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0170" indent="-90170" algn="just">
              <a:lnSpc>
                <a:spcPct val="115000"/>
              </a:lnSpc>
              <a:spcAft>
                <a:spcPts val="0"/>
              </a:spcAft>
            </a:pPr>
            <a:r>
              <a:rPr lang="en-US" b="1" i="1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tidak bisa di jumlah!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671238" y="1467752"/>
            <a:ext cx="2165978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0170" indent="-90170" algn="just">
              <a:lnSpc>
                <a:spcPct val="115000"/>
              </a:lnSpc>
              <a:spcAft>
                <a:spcPts val="0"/>
              </a:spcAft>
            </a:pPr>
            <a:r>
              <a:rPr lang="en-US" b="1" i="1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tidak bisa di jumlah!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602918" y="912781"/>
            <a:ext cx="1274708" cy="3906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0170" indent="-90170" algn="just">
              <a:lnSpc>
                <a:spcPct val="115000"/>
              </a:lnSpc>
              <a:spcAft>
                <a:spcPts val="0"/>
              </a:spcAft>
            </a:pPr>
            <a:r>
              <a:rPr lang="en-US" b="1" i="1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tidak bisa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3478236" y="1887820"/>
                <a:ext cx="1277016" cy="5002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9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ra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236" y="1887820"/>
                <a:ext cx="1277016" cy="500202"/>
              </a:xfrm>
              <a:prstGeom prst="rect">
                <a:avLst/>
              </a:prstGeom>
              <a:blipFill rotWithShape="0">
                <a:blip r:embed="rId4"/>
                <a:stretch>
                  <a:fillRect l="-7656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4208653" y="3403675"/>
                <a:ext cx="1778757" cy="497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(2+6)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653" y="3403675"/>
                <a:ext cx="1778757" cy="497637"/>
              </a:xfrm>
              <a:prstGeom prst="rect">
                <a:avLst/>
              </a:prstGeom>
              <a:blipFill rotWithShape="0">
                <a:blip r:embed="rId5"/>
                <a:stretch>
                  <a:fillRect l="-5137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4667150" y="3955184"/>
                <a:ext cx="1921552" cy="497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(5-2)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150" y="3955184"/>
                <a:ext cx="1921552" cy="497637"/>
              </a:xfrm>
              <a:prstGeom prst="rect">
                <a:avLst/>
              </a:prstGeom>
              <a:blipFill rotWithShape="0">
                <a:blip r:embed="rId6"/>
                <a:stretch>
                  <a:fillRect l="-5079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6553076" y="3921020"/>
                <a:ext cx="1701941" cy="497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= 3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076" y="3921020"/>
                <a:ext cx="1701941" cy="497637"/>
              </a:xfrm>
              <a:prstGeom prst="rect">
                <a:avLst/>
              </a:prstGeom>
              <a:blipFill rotWithShape="0">
                <a:blip r:embed="rId7"/>
                <a:stretch>
                  <a:fillRect l="-5735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4240773" y="4634296"/>
                <a:ext cx="1770165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4 + (-2+3)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773" y="4634296"/>
                <a:ext cx="1770165" cy="496483"/>
              </a:xfrm>
              <a:prstGeom prst="rect">
                <a:avLst/>
              </a:prstGeom>
              <a:blipFill rotWithShape="0">
                <a:blip r:embed="rId8"/>
                <a:stretch>
                  <a:fillRect l="-5517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6010938" y="4618364"/>
                <a:ext cx="1396664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= 4 + 1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938" y="4618364"/>
                <a:ext cx="1396664" cy="496483"/>
              </a:xfrm>
              <a:prstGeom prst="rect">
                <a:avLst/>
              </a:prstGeom>
              <a:blipFill rotWithShape="0">
                <a:blip r:embed="rId9"/>
                <a:stretch>
                  <a:fillRect l="-6550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4790420" y="5159643"/>
                <a:ext cx="2320700" cy="5002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(10+2)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𝟒</m:t>
                    </m:r>
                    <m:rad>
                      <m:radPr>
                        <m:deg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420" y="5159643"/>
                <a:ext cx="2320700" cy="500202"/>
              </a:xfrm>
              <a:prstGeom prst="rect">
                <a:avLst/>
              </a:prstGeom>
              <a:blipFill rotWithShape="0">
                <a:blip r:embed="rId10"/>
                <a:stretch>
                  <a:fillRect l="-4199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7090445" y="5143711"/>
                <a:ext cx="2041777" cy="5002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= 12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𝟒</m:t>
                    </m:r>
                    <m:rad>
                      <m:radPr>
                        <m:deg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445" y="5143711"/>
                <a:ext cx="2041777" cy="500202"/>
              </a:xfrm>
              <a:prstGeom prst="rect">
                <a:avLst/>
              </a:prstGeom>
              <a:blipFill rotWithShape="0">
                <a:blip r:embed="rId11"/>
                <a:stretch>
                  <a:fillRect l="-4478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5959353" y="3411641"/>
                <a:ext cx="1499834" cy="497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= 8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353" y="3411641"/>
                <a:ext cx="1499834" cy="497637"/>
              </a:xfrm>
              <a:prstGeom prst="rect">
                <a:avLst/>
              </a:prstGeom>
              <a:blipFill rotWithShape="0">
                <a:blip r:embed="rId12"/>
                <a:stretch>
                  <a:fillRect l="-6504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4195961" y="5707168"/>
                <a:ext cx="1778757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(5+1)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ra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961" y="5707168"/>
                <a:ext cx="1778757" cy="496483"/>
              </a:xfrm>
              <a:prstGeom prst="rect">
                <a:avLst/>
              </a:prstGeom>
              <a:blipFill rotWithShape="0">
                <a:blip r:embed="rId13"/>
                <a:stretch>
                  <a:fillRect l="-5137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5921321" y="5715134"/>
                <a:ext cx="1499834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= 6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ra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321" y="5715134"/>
                <a:ext cx="1499834" cy="496483"/>
              </a:xfrm>
              <a:prstGeom prst="rect">
                <a:avLst/>
              </a:prstGeom>
              <a:blipFill rotWithShape="0">
                <a:blip r:embed="rId14"/>
                <a:stretch>
                  <a:fillRect l="-6098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05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5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3" grpId="0"/>
      <p:bldP spid="44" grpId="0"/>
      <p:bldP spid="45" grpId="0"/>
      <p:bldP spid="47" grpId="0"/>
      <p:bldP spid="48" grpId="0"/>
      <p:bldP spid="49" grpId="0"/>
      <p:bldP spid="51" grpId="0"/>
      <p:bldP spid="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7508" y="292100"/>
            <a:ext cx="3876254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b="1" i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Operasi Perkalian pada Bentuk Akar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54395"/>
          <a:stretch/>
        </p:blipFill>
        <p:spPr>
          <a:xfrm>
            <a:off x="567508" y="819250"/>
            <a:ext cx="5645033" cy="24217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55432"/>
          <a:stretch/>
        </p:blipFill>
        <p:spPr>
          <a:xfrm>
            <a:off x="567508" y="3739545"/>
            <a:ext cx="5592698" cy="24461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r="76031"/>
          <a:stretch/>
        </p:blipFill>
        <p:spPr>
          <a:xfrm>
            <a:off x="6347012" y="927217"/>
            <a:ext cx="2954629" cy="19229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27926" r="53712"/>
          <a:stretch/>
        </p:blipFill>
        <p:spPr>
          <a:xfrm>
            <a:off x="6425714" y="2457009"/>
            <a:ext cx="2263558" cy="192293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6160206" y="914400"/>
            <a:ext cx="0" cy="52712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932992" y="2045408"/>
                <a:ext cx="885307" cy="429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2x4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992" y="2045408"/>
                <a:ext cx="885307" cy="429092"/>
              </a:xfrm>
              <a:prstGeom prst="rect">
                <a:avLst/>
              </a:prstGeom>
              <a:blipFill rotWithShape="0">
                <a:blip r:embed="rId5"/>
                <a:stretch>
                  <a:fillRect l="-6897" t="-1429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723141" y="1465252"/>
                <a:ext cx="726609" cy="497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4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141" y="1465252"/>
                <a:ext cx="726609" cy="497637"/>
              </a:xfrm>
              <a:prstGeom prst="rect">
                <a:avLst/>
              </a:prstGeom>
              <a:blipFill rotWithShape="0">
                <a:blip r:embed="rId6"/>
                <a:stretch>
                  <a:fillRect l="-13445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703904" y="2342473"/>
                <a:ext cx="822789" cy="429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 8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904" y="2342473"/>
                <a:ext cx="822789" cy="429092"/>
              </a:xfrm>
              <a:prstGeom prst="rect">
                <a:avLst/>
              </a:prstGeom>
              <a:blipFill rotWithShape="0">
                <a:blip r:embed="rId7"/>
                <a:stretch>
                  <a:fillRect l="-8209"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241214" y="3122436"/>
                <a:ext cx="963854" cy="429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-2x5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214" y="3122436"/>
                <a:ext cx="963854" cy="429092"/>
              </a:xfrm>
              <a:prstGeom prst="rect">
                <a:avLst/>
              </a:prstGeom>
              <a:blipFill rotWithShape="0">
                <a:blip r:embed="rId8"/>
                <a:stretch>
                  <a:fillRect l="-6962"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145506" y="3108972"/>
                <a:ext cx="1079270" cy="429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 -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𝟏𝟎</m:t>
                    </m:r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506" y="3108972"/>
                <a:ext cx="1079270" cy="429092"/>
              </a:xfrm>
              <a:prstGeom prst="rect">
                <a:avLst/>
              </a:prstGeom>
              <a:blipFill rotWithShape="0">
                <a:blip r:embed="rId9"/>
                <a:stretch>
                  <a:fillRect l="-6215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021875" y="1465252"/>
                <a:ext cx="882101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10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875" y="1465252"/>
                <a:ext cx="882101" cy="496483"/>
              </a:xfrm>
              <a:prstGeom prst="rect">
                <a:avLst/>
              </a:prstGeom>
              <a:blipFill rotWithShape="0">
                <a:blip r:embed="rId10"/>
                <a:stretch>
                  <a:fillRect l="-11034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210904" y="2030124"/>
                <a:ext cx="821187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-6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904" y="2030124"/>
                <a:ext cx="821187" cy="496483"/>
              </a:xfrm>
              <a:prstGeom prst="rect">
                <a:avLst/>
              </a:prstGeom>
              <a:blipFill rotWithShape="0">
                <a:blip r:embed="rId11"/>
                <a:stretch>
                  <a:fillRect l="-11852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306702" y="2589088"/>
                <a:ext cx="726609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8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702" y="2589088"/>
                <a:ext cx="726609" cy="496483"/>
              </a:xfrm>
              <a:prstGeom prst="rect">
                <a:avLst/>
              </a:prstGeom>
              <a:blipFill rotWithShape="0">
                <a:blip r:embed="rId12"/>
                <a:stretch>
                  <a:fillRect l="-13445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7510059" y="1208290"/>
                <a:ext cx="1035989" cy="505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0059" y="1208290"/>
                <a:ext cx="1035989" cy="50520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8318015" y="1195473"/>
                <a:ext cx="725007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015" y="1195473"/>
                <a:ext cx="725007" cy="496483"/>
              </a:xfrm>
              <a:prstGeom prst="rect">
                <a:avLst/>
              </a:prstGeom>
              <a:blipFill rotWithShape="0">
                <a:blip r:embed="rId14"/>
                <a:stretch>
                  <a:fillRect l="-13559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670824" y="1704773"/>
                <a:ext cx="910955" cy="5002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𝟏𝟓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824" y="1704773"/>
                <a:ext cx="910955" cy="500202"/>
              </a:xfrm>
              <a:prstGeom prst="rect">
                <a:avLst/>
              </a:prstGeom>
              <a:blipFill rotWithShape="0">
                <a:blip r:embed="rId15"/>
                <a:stretch>
                  <a:fillRect l="-10000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148702" y="2226258"/>
                <a:ext cx="910955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6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702" y="2226258"/>
                <a:ext cx="910955" cy="496483"/>
              </a:xfrm>
              <a:prstGeom prst="rect">
                <a:avLst/>
              </a:prstGeom>
              <a:blipFill rotWithShape="0">
                <a:blip r:embed="rId16"/>
                <a:stretch>
                  <a:fillRect l="-10738"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7615696" y="2718099"/>
                <a:ext cx="858055" cy="505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e>
                      </m:rad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96" y="2718099"/>
                <a:ext cx="858055" cy="505203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7991456" y="3218015"/>
                <a:ext cx="726609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8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456" y="3218015"/>
                <a:ext cx="726609" cy="496483"/>
              </a:xfrm>
              <a:prstGeom prst="rect">
                <a:avLst/>
              </a:prstGeom>
              <a:blipFill rotWithShape="0">
                <a:blip r:embed="rId18"/>
                <a:stretch>
                  <a:fillRect l="-13445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7953909" y="3718290"/>
                <a:ext cx="726609" cy="496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4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rad>
                  </m:oMath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909" y="3718290"/>
                <a:ext cx="726609" cy="496483"/>
              </a:xfrm>
              <a:prstGeom prst="rect">
                <a:avLst/>
              </a:prstGeom>
              <a:blipFill rotWithShape="0">
                <a:blip r:embed="rId19"/>
                <a:stretch>
                  <a:fillRect l="-13445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5151380" y="4076133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6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723141" y="5623881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5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151380" y="4537798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4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210904" y="5123255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240277" y="5555568"/>
            <a:ext cx="3369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a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02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54225" y="440619"/>
            <a:ext cx="5002139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sz="2000" dirty="0">
                <a:highlight>
                  <a:srgbClr val="FFFF00"/>
                </a:highlight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Menyederhanakan Bentuk Akar</a:t>
            </a:r>
            <a:r>
              <a:rPr lang="en-US" sz="20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7745"/>
          <a:stretch/>
        </p:blipFill>
        <p:spPr>
          <a:xfrm>
            <a:off x="1916755" y="966408"/>
            <a:ext cx="4833669" cy="18036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22434" y="5622043"/>
            <a:ext cx="5302625" cy="72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b="1" i="1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Ingat “ faktorkan bilangan dalam akar sehingga salah satu faktornya harus berupa bilangan kuadrat “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64363" y="2239910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6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33589" y="1747137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5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25800" y="1747137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8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25800" y="1273687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80322" y="2208802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3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64363" y="1254364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4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80322" y="1735352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2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25800" y="2220587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9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466292" y="1267794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1</a:t>
            </a:r>
            <a:endParaRPr 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2519081" y="3696994"/>
                <a:ext cx="893321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081" y="3696994"/>
                <a:ext cx="893321" cy="4364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3894646" y="3696994"/>
                <a:ext cx="739433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646" y="3696994"/>
                <a:ext cx="739433" cy="43640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523467" y="3700136"/>
                <a:ext cx="822789" cy="430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 3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467" y="3700136"/>
                <a:ext cx="822789" cy="430118"/>
              </a:xfrm>
              <a:prstGeom prst="rect">
                <a:avLst/>
              </a:prstGeom>
              <a:blipFill rotWithShape="0">
                <a:blip r:embed="rId5"/>
                <a:stretch>
                  <a:fillRect l="-7407" t="-1408"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267960" y="3715107"/>
                <a:ext cx="755469" cy="4364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960" y="3715107"/>
                <a:ext cx="755469" cy="436402"/>
              </a:xfrm>
              <a:prstGeom prst="rect">
                <a:avLst/>
              </a:prstGeom>
              <a:blipFill rotWithShape="0">
                <a:blip r:embed="rId6"/>
                <a:stretch>
                  <a:fillRect r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2359789" y="3225456"/>
                <a:ext cx="893321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789" y="3225456"/>
                <a:ext cx="893321" cy="43640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3735354" y="3225456"/>
                <a:ext cx="739433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354" y="3225456"/>
                <a:ext cx="739433" cy="43640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4377622" y="3228598"/>
                <a:ext cx="765081" cy="430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622" y="3228598"/>
                <a:ext cx="765081" cy="430118"/>
              </a:xfrm>
              <a:prstGeom prst="rect">
                <a:avLst/>
              </a:prstGeom>
              <a:blipFill rotWithShape="0">
                <a:blip r:embed="rId9"/>
                <a:stretch>
                  <a:fillRect l="-7937" t="-1429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3108668" y="3243569"/>
                <a:ext cx="755469" cy="4353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668" y="3243569"/>
                <a:ext cx="755469" cy="435312"/>
              </a:xfrm>
              <a:prstGeom prst="rect">
                <a:avLst/>
              </a:prstGeom>
              <a:blipFill rotWithShape="0">
                <a:blip r:embed="rId10"/>
                <a:stretch>
                  <a:fillRect r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2535451" y="4186850"/>
                <a:ext cx="893321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451" y="4186850"/>
                <a:ext cx="893321" cy="43640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862354" y="4186850"/>
                <a:ext cx="739433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354" y="4186850"/>
                <a:ext cx="739433" cy="43640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474787" y="4190737"/>
                <a:ext cx="822789" cy="429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 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787" y="4190737"/>
                <a:ext cx="822789" cy="429092"/>
              </a:xfrm>
              <a:prstGeom prst="rect">
                <a:avLst/>
              </a:prstGeom>
              <a:blipFill rotWithShape="0">
                <a:blip r:embed="rId13"/>
                <a:stretch>
                  <a:fillRect l="-7407"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3284330" y="4204963"/>
                <a:ext cx="755469" cy="4353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330" y="4204963"/>
                <a:ext cx="755469" cy="435312"/>
              </a:xfrm>
              <a:prstGeom prst="rect">
                <a:avLst/>
              </a:prstGeom>
              <a:blipFill rotWithShape="0">
                <a:blip r:embed="rId14"/>
                <a:stretch>
                  <a:fillRect r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549878" y="4672548"/>
                <a:ext cx="893321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878" y="4672548"/>
                <a:ext cx="893321" cy="43640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3323959" y="4689571"/>
                <a:ext cx="822789" cy="428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 3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959" y="4689571"/>
                <a:ext cx="822789" cy="428964"/>
              </a:xfrm>
              <a:prstGeom prst="rect">
                <a:avLst/>
              </a:prstGeom>
              <a:blipFill rotWithShape="0">
                <a:blip r:embed="rId16"/>
                <a:stretch>
                  <a:fillRect l="-7407"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5856739" y="3238598"/>
                <a:ext cx="893321" cy="442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739" y="3238598"/>
                <a:ext cx="893321" cy="44268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6579902" y="3243569"/>
                <a:ext cx="822789" cy="4322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 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902" y="3243569"/>
                <a:ext cx="822789" cy="432298"/>
              </a:xfrm>
              <a:prstGeom prst="rect">
                <a:avLst/>
              </a:prstGeom>
              <a:blipFill rotWithShape="0">
                <a:blip r:embed="rId18"/>
                <a:stretch>
                  <a:fillRect l="-7407" b="-25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2674873" y="5176903"/>
                <a:ext cx="1047210" cy="442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873" y="5176903"/>
                <a:ext cx="1047210" cy="442685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3532506" y="5181874"/>
                <a:ext cx="822789" cy="429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 5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506" y="5181874"/>
                <a:ext cx="822789" cy="429092"/>
              </a:xfrm>
              <a:prstGeom prst="rect">
                <a:avLst/>
              </a:prstGeom>
              <a:blipFill rotWithShape="0">
                <a:blip r:embed="rId20"/>
                <a:stretch>
                  <a:fillRect l="-7407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889427" y="2902753"/>
            <a:ext cx="5035375" cy="2836948"/>
            <a:chOff x="666178" y="2872154"/>
            <a:chExt cx="5035375" cy="283694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1"/>
            <a:srcRect r="56953"/>
            <a:stretch/>
          </p:blipFill>
          <p:spPr>
            <a:xfrm>
              <a:off x="666178" y="2872154"/>
              <a:ext cx="5035375" cy="2789058"/>
            </a:xfrm>
            <a:prstGeom prst="rect">
              <a:avLst/>
            </a:prstGeom>
          </p:spPr>
        </p:pic>
        <p:cxnSp>
          <p:nvCxnSpPr>
            <p:cNvPr id="46" name="Straight Connector 45"/>
            <p:cNvCxnSpPr/>
            <p:nvPr/>
          </p:nvCxnSpPr>
          <p:spPr>
            <a:xfrm>
              <a:off x="4026183" y="3160817"/>
              <a:ext cx="25834" cy="25482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5862197" y="3675867"/>
                <a:ext cx="1047210" cy="442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197" y="3675867"/>
                <a:ext cx="1047210" cy="442685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6728663" y="3686254"/>
                <a:ext cx="822789" cy="430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 5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663" y="3686254"/>
                <a:ext cx="822789" cy="430118"/>
              </a:xfrm>
              <a:prstGeom prst="rect">
                <a:avLst/>
              </a:prstGeom>
              <a:blipFill rotWithShape="0">
                <a:blip r:embed="rId23"/>
                <a:stretch>
                  <a:fillRect l="-8148" t="-1429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6075007" y="4712542"/>
                <a:ext cx="120109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007" y="4712542"/>
                <a:ext cx="1201098" cy="436402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7088541" y="4718826"/>
                <a:ext cx="952633" cy="430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 10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541" y="4718826"/>
                <a:ext cx="952633" cy="430118"/>
              </a:xfrm>
              <a:prstGeom prst="rect">
                <a:avLst/>
              </a:prstGeom>
              <a:blipFill rotWithShape="0">
                <a:blip r:embed="rId25"/>
                <a:stretch>
                  <a:fillRect l="-7051"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5850442" y="4219132"/>
                <a:ext cx="1047210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𝟑𝟔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442" y="4219132"/>
                <a:ext cx="1047210" cy="436402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6657604" y="4224103"/>
                <a:ext cx="822789" cy="430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 6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604" y="4224103"/>
                <a:ext cx="822789" cy="430118"/>
              </a:xfrm>
              <a:prstGeom prst="rect">
                <a:avLst/>
              </a:prstGeom>
              <a:blipFill rotWithShape="0">
                <a:blip r:embed="rId27"/>
                <a:stretch>
                  <a:fillRect l="-7407" t="-1429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6076963" y="5156376"/>
                <a:ext cx="1201098" cy="442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963" y="5156376"/>
                <a:ext cx="1201098" cy="442685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7123688" y="5148944"/>
                <a:ext cx="976678" cy="429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= 5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688" y="5148944"/>
                <a:ext cx="976678" cy="429092"/>
              </a:xfrm>
              <a:prstGeom prst="rect">
                <a:avLst/>
              </a:prstGeom>
              <a:blipFill rotWithShape="0">
                <a:blip r:embed="rId29"/>
                <a:stretch>
                  <a:fillRect l="-6875" t="-1429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8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8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6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40" grpId="0"/>
      <p:bldP spid="42" grpId="0"/>
      <p:bldP spid="44" grpId="0"/>
      <p:bldP spid="45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8736"/>
          <a:stretch/>
        </p:blipFill>
        <p:spPr>
          <a:xfrm>
            <a:off x="1143223" y="263857"/>
            <a:ext cx="5311366" cy="5781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291257" y="4871179"/>
                <a:ext cx="131080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257" y="4871179"/>
                <a:ext cx="1310808" cy="4364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335040" y="5591507"/>
                <a:ext cx="1121654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040" y="5591507"/>
                <a:ext cx="1121654" cy="43640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347800" y="5966918"/>
                <a:ext cx="1009444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𝟖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800" y="5966918"/>
                <a:ext cx="1009444" cy="43640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291257" y="5246590"/>
                <a:ext cx="131080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257" y="5246590"/>
                <a:ext cx="1310808" cy="43640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568364" y="4871179"/>
                <a:ext cx="1050416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364" y="4871179"/>
                <a:ext cx="1050416" cy="43640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564154" y="5277086"/>
                <a:ext cx="1050416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154" y="5277086"/>
                <a:ext cx="1050416" cy="43640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582930" y="5591507"/>
                <a:ext cx="1050416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930" y="5591507"/>
                <a:ext cx="1050416" cy="43640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681875" y="3793933"/>
                <a:ext cx="1009444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𝟕𝟐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875" y="3793933"/>
                <a:ext cx="1009444" cy="43640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4695839" y="4076580"/>
                <a:ext cx="131080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𝟑𝟔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839" y="4076580"/>
                <a:ext cx="1310808" cy="43640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4751794" y="4469208"/>
                <a:ext cx="902106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794" y="4469208"/>
                <a:ext cx="902106" cy="40197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666667" y="3427467"/>
                <a:ext cx="131080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667" y="3427467"/>
                <a:ext cx="1310808" cy="43640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5037392" y="1168929"/>
                <a:ext cx="1163332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392" y="1168929"/>
                <a:ext cx="1163332" cy="43640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357244" y="1774055"/>
                <a:ext cx="1121654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244" y="1774055"/>
                <a:ext cx="1121654" cy="43640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5037392" y="1486987"/>
                <a:ext cx="131080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392" y="1486987"/>
                <a:ext cx="1310808" cy="436402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100710" y="1781686"/>
                <a:ext cx="1366913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710" y="1781686"/>
                <a:ext cx="1366913" cy="436402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360158" y="1735654"/>
                <a:ext cx="4555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158" y="1735654"/>
                <a:ext cx="455574" cy="52322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4404810" y="2605014"/>
                <a:ext cx="1759649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810" y="2605014"/>
                <a:ext cx="1759649" cy="436402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623106" y="2991064"/>
                <a:ext cx="1121654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106" y="2991064"/>
                <a:ext cx="1121654" cy="436402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407096" y="2210458"/>
                <a:ext cx="1156920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7096" y="2210458"/>
                <a:ext cx="1156920" cy="436402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4404810" y="2979537"/>
                <a:ext cx="1310807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810" y="2979537"/>
                <a:ext cx="1310807" cy="436402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845419" y="2596002"/>
                <a:ext cx="4555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419" y="2596002"/>
                <a:ext cx="455574" cy="523220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016144" y="813772"/>
                <a:ext cx="131080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144" y="813772"/>
                <a:ext cx="1310808" cy="436402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360158" y="3844475"/>
                <a:ext cx="4555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158" y="3844475"/>
                <a:ext cx="455574" cy="523220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3855157" y="5089380"/>
                <a:ext cx="4555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157" y="5089380"/>
                <a:ext cx="455574" cy="523220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7646762" y="646867"/>
                <a:ext cx="1825243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𝑭𝒂𝒌𝒕𝒐𝒓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en-US" sz="2000" b="1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762" y="646867"/>
                <a:ext cx="1825243" cy="400110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9029005" y="997460"/>
                <a:ext cx="1115113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𝟐𝐱𝟏𝟐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005" y="997460"/>
                <a:ext cx="1115113" cy="400110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9014689" y="1340302"/>
                <a:ext cx="948401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𝟑𝐱𝟖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689" y="1340302"/>
                <a:ext cx="948401" cy="400110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9037270" y="1664460"/>
                <a:ext cx="948401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270" y="1664460"/>
                <a:ext cx="948401" cy="400110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9246604" y="646867"/>
                <a:ext cx="838691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604" y="646867"/>
                <a:ext cx="838691" cy="400110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28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7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2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12" grpId="0"/>
      <p:bldP spid="13" grpId="0"/>
      <p:bldP spid="1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  <p:bldP spid="38" grpId="0"/>
      <p:bldP spid="40" grpId="0" animBg="1"/>
      <p:bldP spid="2" grpId="0" animBg="1"/>
      <p:bldP spid="41" grpId="0" animBg="1"/>
      <p:bldP spid="42" grpId="0" animBg="1"/>
      <p:bldP spid="4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60258"/>
          <a:stretch/>
        </p:blipFill>
        <p:spPr>
          <a:xfrm>
            <a:off x="1203783" y="749628"/>
            <a:ext cx="5702419" cy="876575"/>
          </a:xfrm>
          <a:prstGeom prst="rect">
            <a:avLst/>
          </a:prstGeom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055579"/>
              </p:ext>
            </p:extLst>
          </p:nvPr>
        </p:nvGraphicFramePr>
        <p:xfrm>
          <a:off x="1441741" y="1851737"/>
          <a:ext cx="1437243" cy="438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7400" imgH="228600" progId="Equation.3">
                  <p:embed/>
                </p:oleObj>
              </mc:Choice>
              <mc:Fallback>
                <p:oleObj r:id="rId3" imgW="787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741" y="1851737"/>
                        <a:ext cx="1437243" cy="4381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077217" y="1643590"/>
            <a:ext cx="11266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Jawab</a:t>
            </a:r>
            <a:endParaRPr lang="en-US" alt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endParaRPr lang="en-US" altLang="en-US" sz="3200" b="1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066239" y="1878434"/>
                <a:ext cx="131080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239" y="1878434"/>
                <a:ext cx="1310808" cy="43640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81390" y="2191175"/>
                <a:ext cx="1297983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𝟒𝐱𝟐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390" y="2191175"/>
                <a:ext cx="1297983" cy="43640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270184" y="1872151"/>
                <a:ext cx="1393458" cy="442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184" y="1872151"/>
                <a:ext cx="1393458" cy="44268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248220" y="2184407"/>
                <a:ext cx="1239570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220" y="2184407"/>
                <a:ext cx="1239570" cy="43640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104724" y="2980267"/>
                <a:ext cx="1201804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724" y="2980267"/>
                <a:ext cx="1201804" cy="43640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081390" y="2565635"/>
                <a:ext cx="1121654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𝟖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390" y="2565635"/>
                <a:ext cx="1121654" cy="43640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248220" y="2558867"/>
                <a:ext cx="1092094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220" y="2558867"/>
                <a:ext cx="1092094" cy="43640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8409207" y="3786669"/>
                <a:ext cx="1759649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207" y="3786669"/>
                <a:ext cx="1759649" cy="43640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8473485" y="4617627"/>
                <a:ext cx="1672092" cy="4364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259556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ra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ad>
                        <m:radPr>
                          <m:degHide m:val="on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ra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𝒙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485" y="4617627"/>
                <a:ext cx="1672092" cy="436402"/>
              </a:xfrm>
              <a:prstGeom prst="rect">
                <a:avLst/>
              </a:prstGeom>
              <a:blipFill rotWithShape="0">
                <a:blip r:embed="rId14"/>
                <a:stretch>
                  <a:fillRect r="-1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429277" y="3392113"/>
                <a:ext cx="131080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277" y="3392113"/>
                <a:ext cx="1310808" cy="43640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8409207" y="4161192"/>
                <a:ext cx="1458284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207" y="4161192"/>
                <a:ext cx="1458284" cy="436402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8409207" y="4981625"/>
                <a:ext cx="1405385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𝟐𝐱𝟑𝐱</m:t>
                      </m:r>
                      <m:rad>
                        <m:radPr>
                          <m:degHide m:val="on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207" y="4981625"/>
                <a:ext cx="1405385" cy="436402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8443957" y="5418027"/>
                <a:ext cx="902106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957" y="5418027"/>
                <a:ext cx="902106" cy="40197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652382" y="2148903"/>
                <a:ext cx="1009444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𝟕𝟐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382" y="2148903"/>
                <a:ext cx="1009444" cy="436402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9666346" y="2431550"/>
                <a:ext cx="131080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𝟑𝟔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346" y="2431550"/>
                <a:ext cx="1310808" cy="436402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9722301" y="2824178"/>
                <a:ext cx="902106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2301" y="2824178"/>
                <a:ext cx="902106" cy="40197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106971" y="2184407"/>
                <a:ext cx="4038606" cy="430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𝐇𝐚𝐬𝐢𝐥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𝐝𝐚𝐫𝐢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𝐱</m:t>
                    </m:r>
                    <m:rad>
                      <m:radPr>
                        <m:degHide m:val="on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</a:rPr>
                      <m:t>𝐚𝐝𝐚𝐥𝐚𝐡</m:t>
                    </m:r>
                    <m:r>
                      <a:rPr lang="en-US" sz="2000" b="1">
                        <a:latin typeface="Cambria Math" panose="02040503050406030204" pitchFamily="18" charset="0"/>
                      </a:rPr>
                      <m:t> …. </m:t>
                    </m:r>
                  </m:oMath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971" y="2184407"/>
                <a:ext cx="4038606" cy="430054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7375578" y="3436562"/>
                <a:ext cx="1178720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b="1">
                          <a:latin typeface="Cambria Math" panose="02040503050406030204" pitchFamily="18" charset="0"/>
                        </a:rPr>
                        <m:t>𝐱</m:t>
                      </m:r>
                      <m:rad>
                        <m:radPr>
                          <m:deg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578" y="3436562"/>
                <a:ext cx="1178720" cy="401970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9637174" y="1782437"/>
                <a:ext cx="131080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7174" y="1782437"/>
                <a:ext cx="1310808" cy="436402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12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1" grpId="0"/>
      <p:bldP spid="22" grpId="0"/>
      <p:bldP spid="24" grpId="0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64586" b="45945"/>
          <a:stretch/>
        </p:blipFill>
        <p:spPr>
          <a:xfrm>
            <a:off x="1640726" y="1074761"/>
            <a:ext cx="4063067" cy="40674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54654" r="64586"/>
          <a:stretch/>
        </p:blipFill>
        <p:spPr>
          <a:xfrm>
            <a:off x="5403661" y="1789424"/>
            <a:ext cx="4063067" cy="341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967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4404" y="238647"/>
            <a:ext cx="6972422" cy="517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highlight>
                  <a:srgbClr val="FFFF00"/>
                </a:highlight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Operasi Pembagian pada Bentuk Akar</a:t>
            </a:r>
            <a:endParaRPr lang="en-US" sz="2400" dirty="0"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84404" y="1511619"/>
                <a:ext cx="2143215" cy="505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1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04" y="1511619"/>
                <a:ext cx="2143215" cy="50520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15673" y="6057628"/>
                <a:ext cx="1337802" cy="573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73" y="6057628"/>
                <a:ext cx="1337802" cy="57394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420600" y="2453636"/>
                <a:ext cx="2248372" cy="505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600" y="2453636"/>
                <a:ext cx="2248372" cy="50520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444998" y="669944"/>
            <a:ext cx="320632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Monotype Corsiva" panose="03010101010201010101" pitchFamily="66" charset="0"/>
              </a:rPr>
              <a:t>Ayo Kita Amati </a:t>
            </a:r>
            <a:r>
              <a:rPr lang="id-ID" sz="2400" b="1" dirty="0">
                <a:latin typeface="Monotype Corsiva" panose="03010101010201010101" pitchFamily="66" charset="0"/>
              </a:rPr>
              <a:t>Contoh 1.</a:t>
            </a:r>
            <a:r>
              <a:rPr lang="en-US" sz="2400" b="1" dirty="0">
                <a:latin typeface="Monotype Corsiva" panose="03010101010201010101" pitchFamily="66" charset="0"/>
              </a:rPr>
              <a:t>3</a:t>
            </a:r>
            <a:endParaRPr lang="en-US" sz="2400" dirty="0">
              <a:latin typeface="Monotype Corsiva" panose="03010101010201010101" pitchFamily="66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4355" y="1136551"/>
            <a:ext cx="87838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Sederhanakan hasil Pembagian pada Bentuk Akar berikut !</a:t>
            </a:r>
            <a:endParaRPr lang="en-US" sz="20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46004" y="2453636"/>
                <a:ext cx="2143215" cy="505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1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04" y="2453636"/>
                <a:ext cx="2143215" cy="50520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206699" y="1546544"/>
                <a:ext cx="2345194" cy="505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1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  <m:rad>
                        <m:radPr>
                          <m:deg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rad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699" y="1546544"/>
                <a:ext cx="2345194" cy="50520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420600" y="3055408"/>
                <a:ext cx="1172757" cy="5038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rad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600" y="3055408"/>
                <a:ext cx="1172757" cy="50385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420600" y="3540909"/>
                <a:ext cx="7863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600" y="3540909"/>
                <a:ext cx="786304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444998" y="4091092"/>
                <a:ext cx="7863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998" y="4091092"/>
                <a:ext cx="786304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803265" y="2296360"/>
                <a:ext cx="2704651" cy="573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1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ad>
                        <m:radPr>
                          <m:degHide m:val="on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e>
                      </m:ra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ad>
                        <m:radPr>
                          <m:degHide m:val="on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rad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265" y="2296360"/>
                <a:ext cx="2704651" cy="57394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615673" y="1982946"/>
                <a:ext cx="1590051" cy="109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73" y="1982946"/>
                <a:ext cx="1590051" cy="1091196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615673" y="3189431"/>
                <a:ext cx="1284326" cy="8461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73" y="3189431"/>
                <a:ext cx="1284326" cy="84612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618507" y="4219226"/>
                <a:ext cx="992901" cy="8461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507" y="4219226"/>
                <a:ext cx="992901" cy="84612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688962" y="5275768"/>
                <a:ext cx="1326325" cy="7745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ad>
                            <m:radPr>
                              <m:deg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962" y="5275768"/>
                <a:ext cx="1326325" cy="774571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8528615" y="4159753"/>
                <a:ext cx="849720" cy="939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8615" y="4159753"/>
                <a:ext cx="849720" cy="939616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V="1">
            <a:off x="8813805" y="2251546"/>
            <a:ext cx="422070" cy="27699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8835145" y="2762523"/>
            <a:ext cx="355478" cy="1963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139615" y="2032642"/>
                <a:ext cx="3754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615" y="2032642"/>
                <a:ext cx="375423" cy="369332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9052973" y="2518963"/>
                <a:ext cx="3658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973" y="2518963"/>
                <a:ext cx="365805" cy="369332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446004" y="2084304"/>
            <a:ext cx="15772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Penyelesaian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3006978" y="3540908"/>
                <a:ext cx="70083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0763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978" y="3540908"/>
                <a:ext cx="700833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4803265" y="2357067"/>
            <a:ext cx="0" cy="417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rved Up Arrow 32"/>
          <p:cNvSpPr/>
          <p:nvPr/>
        </p:nvSpPr>
        <p:spPr>
          <a:xfrm>
            <a:off x="8284574" y="5017220"/>
            <a:ext cx="820270" cy="130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flipH="1" flipV="1">
            <a:off x="7998605" y="5409129"/>
            <a:ext cx="340279" cy="2297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 flipV="1">
            <a:off x="8352381" y="5851966"/>
            <a:ext cx="361619" cy="195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7761914" y="5186144"/>
                <a:ext cx="3658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914" y="5186144"/>
                <a:ext cx="365805" cy="369332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8114957" y="5702047"/>
                <a:ext cx="3658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957" y="5702047"/>
                <a:ext cx="365805" cy="369332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29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9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5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7" grpId="0"/>
      <p:bldP spid="18" grpId="0"/>
      <p:bldP spid="19" grpId="0"/>
      <p:bldP spid="20" grpId="0"/>
      <p:bldP spid="3" grpId="0"/>
      <p:bldP spid="22" grpId="0"/>
      <p:bldP spid="23" grpId="0"/>
      <p:bldP spid="25" grpId="0"/>
      <p:bldP spid="26" grpId="0"/>
      <p:bldP spid="9" grpId="0"/>
      <p:bldP spid="27" grpId="0"/>
      <p:bldP spid="29" grpId="0"/>
      <p:bldP spid="30" grpId="0"/>
      <p:bldP spid="33" grpId="0" animBg="1"/>
      <p:bldP spid="36" grpId="0"/>
      <p:bldP spid="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73389" y="229215"/>
            <a:ext cx="6249018" cy="517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sz="2400" b="1" i="1" dirty="0">
                <a:highlight>
                  <a:srgbClr val="FFFF00"/>
                </a:highlight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Merasionalkan penyebut pecahan</a:t>
            </a:r>
            <a:endParaRPr lang="en-US" sz="2400" dirty="0"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98763" y="2694798"/>
            <a:ext cx="15772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Penyelesaian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698763" y="3097210"/>
                <a:ext cx="1410001" cy="4975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400" b="1" dirty="0">
                    <a:latin typeface="Arial Black" panose="020B0A0402010202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US" sz="2400" b="1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63" y="3097210"/>
                <a:ext cx="1410001" cy="49757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951161" y="2963689"/>
                <a:ext cx="954749" cy="8552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161" y="2963689"/>
                <a:ext cx="954749" cy="8552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768326" y="2858958"/>
                <a:ext cx="936602" cy="939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326" y="2858958"/>
                <a:ext cx="936602" cy="93961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976961" y="3745416"/>
                <a:ext cx="1139093" cy="8681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961" y="3745416"/>
                <a:ext cx="1139093" cy="86812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982722" y="4554895"/>
                <a:ext cx="1190389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722" y="4554895"/>
                <a:ext cx="1190389" cy="78380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831683" y="3003524"/>
                <a:ext cx="1076064" cy="8552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683" y="3003524"/>
                <a:ext cx="1076064" cy="85529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814936" y="3018418"/>
                <a:ext cx="954749" cy="8552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936" y="3018418"/>
                <a:ext cx="954749" cy="8552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5729378" y="2935511"/>
                <a:ext cx="936602" cy="938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9378" y="2935511"/>
                <a:ext cx="936602" cy="93820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4814936" y="3818988"/>
                <a:ext cx="1139093" cy="867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936" y="3818988"/>
                <a:ext cx="1139093" cy="86716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4862704" y="4512498"/>
                <a:ext cx="1190389" cy="7842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ra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04" y="4512498"/>
                <a:ext cx="1190389" cy="78425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410389" y="5693767"/>
                <a:ext cx="319831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𝐉𝐚𝐝𝐢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𝐂𝐚𝐫𝐚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𝐜𝐞𝐩𝐚𝐭𝐧𝐲𝐚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! </m:t>
                      </m:r>
                    </m:oMath>
                  </m:oMathPara>
                </a14:m>
                <a:endParaRPr lang="en-US" sz="2400" b="1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89" y="5693767"/>
                <a:ext cx="3198311" cy="461665"/>
              </a:xfrm>
              <a:prstGeom prst="rect">
                <a:avLst/>
              </a:prstGeom>
              <a:blipFill rotWithShape="0">
                <a:blip r:embed="rId12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3492440" y="5685891"/>
                <a:ext cx="646459" cy="7992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440" y="5685891"/>
                <a:ext cx="646459" cy="799258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4060570" y="5724091"/>
                <a:ext cx="1203215" cy="730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ra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570" y="5724091"/>
                <a:ext cx="1203215" cy="730136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7395901" y="2868847"/>
                <a:ext cx="1228349" cy="8552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01" y="2868847"/>
                <a:ext cx="1228349" cy="85529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9879424" y="2858958"/>
                <a:ext cx="936602" cy="9421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9424" y="2858958"/>
                <a:ext cx="936602" cy="942181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8760337" y="3728576"/>
                <a:ext cx="1139093" cy="8730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337" y="3728576"/>
                <a:ext cx="1139093" cy="87306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8740331" y="4571464"/>
                <a:ext cx="1374735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331" y="4571464"/>
                <a:ext cx="1374735" cy="7861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8740331" y="2927231"/>
                <a:ext cx="1139093" cy="8552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331" y="2927231"/>
                <a:ext cx="1139093" cy="855299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1336160" y="748627"/>
                <a:ext cx="3020507" cy="7992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𝐁𝐞𝐧𝐭𝐮𝐤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</m:rad>
                        </m:den>
                      </m:f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𝐝𝐚𝐧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160" y="748627"/>
                <a:ext cx="3020507" cy="799258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4271756" y="725201"/>
                <a:ext cx="878894" cy="8102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num>
                        <m:den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756" y="725201"/>
                <a:ext cx="878894" cy="810286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/>
          <p:cNvSpPr/>
          <p:nvPr/>
        </p:nvSpPr>
        <p:spPr>
          <a:xfrm>
            <a:off x="698763" y="1452803"/>
            <a:ext cx="2523447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latin typeface="Monotype Corsiva" panose="03010101010201010101" pitchFamily="66" charset="0"/>
              </a:rPr>
              <a:t>Ayo Kita Amati </a:t>
            </a:r>
            <a:r>
              <a:rPr lang="id-ID" sz="2000" b="1" dirty="0">
                <a:latin typeface="Monotype Corsiva" panose="03010101010201010101" pitchFamily="66" charset="0"/>
              </a:rPr>
              <a:t>Contoh 1</a:t>
            </a:r>
            <a:endParaRPr lang="en-US" sz="2000" dirty="0">
              <a:latin typeface="Monotype Corsiva" panose="03010101010201010101" pitchFamily="66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18209" y="1833701"/>
            <a:ext cx="64821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1. Sederhanakan bentuk pembagian berikut !</a:t>
            </a:r>
            <a:endParaRPr lang="en-US" sz="20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1149367" y="2241345"/>
                <a:ext cx="1206099" cy="430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000" b="1" dirty="0">
                    <a:latin typeface="Arial Black" panose="020B0A0402010202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US" sz="2000" b="1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367" y="2241345"/>
                <a:ext cx="1206099" cy="430054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2647207" y="2131031"/>
                <a:ext cx="902427" cy="728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207" y="2131031"/>
                <a:ext cx="902427" cy="728084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4060570" y="2054401"/>
                <a:ext cx="1030795" cy="728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570" y="2054401"/>
                <a:ext cx="1030795" cy="728084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>
            <a:off x="3831683" y="2927231"/>
            <a:ext cx="0" cy="2115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7144142" y="3094908"/>
            <a:ext cx="0" cy="2115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rved Up Arrow 69"/>
          <p:cNvSpPr/>
          <p:nvPr/>
        </p:nvSpPr>
        <p:spPr>
          <a:xfrm>
            <a:off x="2559153" y="3724146"/>
            <a:ext cx="820270" cy="130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Curved Up Arrow 70"/>
          <p:cNvSpPr/>
          <p:nvPr/>
        </p:nvSpPr>
        <p:spPr>
          <a:xfrm>
            <a:off x="5468384" y="3782530"/>
            <a:ext cx="820270" cy="130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6443230" y="5683277"/>
                <a:ext cx="899733" cy="8104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230" y="5683277"/>
                <a:ext cx="899733" cy="810478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7220950" y="5590046"/>
                <a:ext cx="1219244" cy="9037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rad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𝒒𝒙𝒂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950" y="5590046"/>
                <a:ext cx="1219244" cy="90370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/>
          <p:cNvSpPr/>
          <p:nvPr/>
        </p:nvSpPr>
        <p:spPr>
          <a:xfrm>
            <a:off x="5609280" y="593553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dan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84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2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6" dur="20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1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6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1" dur="20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9" dur="2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24" grpId="0"/>
      <p:bldP spid="25" grpId="0"/>
      <p:bldP spid="26" grpId="0"/>
      <p:bldP spid="27" grpId="0"/>
      <p:bldP spid="28" grpId="0"/>
      <p:bldP spid="45" grpId="0"/>
      <p:bldP spid="46" grpId="0"/>
      <p:bldP spid="47" grpId="0"/>
      <p:bldP spid="48" grpId="0"/>
      <p:bldP spid="49" grpId="0"/>
      <p:bldP spid="54" grpId="0"/>
      <p:bldP spid="55" grpId="0"/>
      <p:bldP spid="58" grpId="0"/>
      <p:bldP spid="59" grpId="0"/>
      <p:bldP spid="70" grpId="0" animBg="1"/>
      <p:bldP spid="71" grpId="0" animBg="1"/>
      <p:bldP spid="73" grpId="0"/>
      <p:bldP spid="3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72860" y="499474"/>
            <a:ext cx="4821384" cy="517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sz="2400" b="1" i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Merasionalkan penyebut pecahan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88520" y="2640647"/>
            <a:ext cx="1855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Penyelesaian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607648" y="3067156"/>
                <a:ext cx="15656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.</m:t>
                    </m:r>
                    <m:rad>
                      <m:radPr>
                        <m:deg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b="1" dirty="0">
                    <a:latin typeface="Arial Black" panose="020B0A0402010202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US" sz="2400" b="1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48" y="3067156"/>
                <a:ext cx="1565621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924573" y="2853823"/>
                <a:ext cx="1084528" cy="1038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573" y="2853823"/>
                <a:ext cx="1084528" cy="10387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768326" y="2858958"/>
                <a:ext cx="936603" cy="9384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326" y="2858958"/>
                <a:ext cx="936603" cy="93846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949489" y="3923633"/>
                <a:ext cx="1317027" cy="8693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489" y="3923633"/>
                <a:ext cx="1317027" cy="8693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944511" y="4796912"/>
                <a:ext cx="1190389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511" y="4796912"/>
                <a:ext cx="1190389" cy="7861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760889" y="3018418"/>
                <a:ext cx="1225720" cy="10375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889" y="3018418"/>
                <a:ext cx="1225720" cy="103759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814936" y="3018418"/>
                <a:ext cx="1084528" cy="10375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936" y="3018418"/>
                <a:ext cx="1084528" cy="103759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5756559" y="3038377"/>
                <a:ext cx="936603" cy="9421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559" y="3038377"/>
                <a:ext cx="936603" cy="94218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4854039" y="4285961"/>
                <a:ext cx="1317027" cy="871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039" y="4285961"/>
                <a:ext cx="1317027" cy="871136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4805620" y="5097605"/>
                <a:ext cx="1374735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ra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620" y="5097605"/>
                <a:ext cx="1374735" cy="7861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7300368" y="2817776"/>
                <a:ext cx="1403654" cy="1038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368" y="2817776"/>
                <a:ext cx="1403654" cy="1038746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9851915" y="2819268"/>
                <a:ext cx="936602" cy="9421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915" y="2819268"/>
                <a:ext cx="936602" cy="942181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8733941" y="3936922"/>
                <a:ext cx="1501373" cy="8730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941" y="3936922"/>
                <a:ext cx="1501373" cy="87306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8733941" y="4965739"/>
                <a:ext cx="1374735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ra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941" y="4965739"/>
                <a:ext cx="1374735" cy="783804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8683980" y="2817776"/>
                <a:ext cx="1299330" cy="1038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980" y="2817776"/>
                <a:ext cx="1299330" cy="1038746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5567629" y="282953"/>
                <a:ext cx="2251065" cy="910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𝐁𝐞𝐧𝐭𝐮𝐤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29" y="282953"/>
                <a:ext cx="2251065" cy="910442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/>
          <p:cNvSpPr/>
          <p:nvPr/>
        </p:nvSpPr>
        <p:spPr>
          <a:xfrm>
            <a:off x="940079" y="1200587"/>
            <a:ext cx="3002745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Monotype Corsiva" panose="03010101010201010101" pitchFamily="66" charset="0"/>
              </a:rPr>
              <a:t>Ayo Kita Amati </a:t>
            </a:r>
            <a:r>
              <a:rPr lang="id-ID" sz="2400" b="1" dirty="0">
                <a:latin typeface="Monotype Corsiva" panose="03010101010201010101" pitchFamily="66" charset="0"/>
              </a:rPr>
              <a:t>Contoh </a:t>
            </a:r>
            <a:r>
              <a:rPr lang="en-US" sz="2400" b="1" dirty="0">
                <a:latin typeface="Monotype Corsiva" panose="03010101010201010101" pitchFamily="66" charset="0"/>
              </a:rPr>
              <a:t>2</a:t>
            </a:r>
            <a:endParaRPr lang="en-US" sz="2400" dirty="0">
              <a:latin typeface="Monotype Corsiva" panose="03010101010201010101" pitchFamily="66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50837" y="1725707"/>
            <a:ext cx="64821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2. Sederhanakan bentuk pembagian berikut !</a:t>
            </a:r>
            <a:endParaRPr lang="en-US" sz="20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986045" y="2160510"/>
                <a:ext cx="1513812" cy="497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. </m:t>
                    </m:r>
                    <m:rad>
                      <m:radPr>
                        <m:deg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b="1" dirty="0">
                    <a:latin typeface="Arial Black" panose="020B0A0402010202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US" sz="2400" b="1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045" y="2160510"/>
                <a:ext cx="1513812" cy="49763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3354687" y="2017714"/>
                <a:ext cx="1074461" cy="9384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687" y="2017714"/>
                <a:ext cx="1074461" cy="938462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5288495" y="2016560"/>
                <a:ext cx="1221938" cy="939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𝐜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495" y="2016560"/>
                <a:ext cx="1221938" cy="939616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>
            <a:off x="3841833" y="2986840"/>
            <a:ext cx="19321" cy="3050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7132996" y="3094908"/>
            <a:ext cx="11146" cy="2788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rved Up Arrow 69"/>
          <p:cNvSpPr/>
          <p:nvPr/>
        </p:nvSpPr>
        <p:spPr>
          <a:xfrm>
            <a:off x="2598966" y="3791380"/>
            <a:ext cx="820270" cy="130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Curved Up Arrow 70"/>
          <p:cNvSpPr/>
          <p:nvPr/>
        </p:nvSpPr>
        <p:spPr>
          <a:xfrm>
            <a:off x="5550108" y="4010827"/>
            <a:ext cx="820270" cy="130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 flipH="1" flipV="1">
            <a:off x="9102629" y="4091961"/>
            <a:ext cx="340279" cy="2297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9671105" y="4539178"/>
            <a:ext cx="361619" cy="195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rved Up Arrow 41"/>
          <p:cNvSpPr/>
          <p:nvPr/>
        </p:nvSpPr>
        <p:spPr>
          <a:xfrm>
            <a:off x="9694791" y="3801176"/>
            <a:ext cx="820270" cy="130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11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2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1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6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24" grpId="0"/>
      <p:bldP spid="25" grpId="0"/>
      <p:bldP spid="26" grpId="0"/>
      <p:bldP spid="27" grpId="0"/>
      <p:bldP spid="28" grpId="0"/>
      <p:bldP spid="45" grpId="0"/>
      <p:bldP spid="46" grpId="0"/>
      <p:bldP spid="47" grpId="0"/>
      <p:bldP spid="48" grpId="0"/>
      <p:bldP spid="55" grpId="0"/>
      <p:bldP spid="57" grpId="0"/>
      <p:bldP spid="58" grpId="0"/>
      <p:bldP spid="59" grpId="0"/>
      <p:bldP spid="70" grpId="0" animBg="1"/>
      <p:bldP spid="71" grpId="0" animBg="1"/>
      <p:bldP spid="4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10071" y="296693"/>
            <a:ext cx="2778646" cy="587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sz="2800" b="1" i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Merasionalkan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1869" y="2611302"/>
            <a:ext cx="15772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Penyelesaian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378358" y="2988433"/>
                <a:ext cx="1567160" cy="8552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58" y="2988433"/>
                <a:ext cx="1567160" cy="85529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834060" y="3015443"/>
                <a:ext cx="1572482" cy="8552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060" y="3015443"/>
                <a:ext cx="1572482" cy="8552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3307976" y="2940023"/>
                <a:ext cx="1487010" cy="938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976" y="2940023"/>
                <a:ext cx="1487010" cy="93820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962712" y="4051745"/>
                <a:ext cx="2013307" cy="8667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)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712" y="4051745"/>
                <a:ext cx="2013307" cy="86671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904749" y="4919868"/>
                <a:ext cx="2064604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749" y="4919868"/>
                <a:ext cx="2064604" cy="7861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244867" y="2965543"/>
                <a:ext cx="1626471" cy="8871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867" y="2965543"/>
                <a:ext cx="1626471" cy="8871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6867030" y="2993888"/>
                <a:ext cx="1505156" cy="8871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030" y="2993888"/>
                <a:ext cx="1505156" cy="88716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233816" y="2897126"/>
                <a:ext cx="1487010" cy="9555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816" y="2897126"/>
                <a:ext cx="1487010" cy="95558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7000995" y="4146774"/>
                <a:ext cx="2013308" cy="8730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)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995" y="4146774"/>
                <a:ext cx="2013308" cy="87306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7051487" y="5017910"/>
                <a:ext cx="2064604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487" y="5017910"/>
                <a:ext cx="2064604" cy="78380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3910056" y="335051"/>
                <a:ext cx="2817503" cy="81028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𝐜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𝐁𝐞𝐧𝐭𝐮𝐤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056" y="335051"/>
                <a:ext cx="2817503" cy="810286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/>
          <p:cNvSpPr/>
          <p:nvPr/>
        </p:nvSpPr>
        <p:spPr>
          <a:xfrm>
            <a:off x="422894" y="980618"/>
            <a:ext cx="3002745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Monotype Corsiva" panose="03010101010201010101" pitchFamily="66" charset="0"/>
              </a:rPr>
              <a:t>Ayo Kita Amati </a:t>
            </a:r>
            <a:r>
              <a:rPr lang="id-ID" sz="2400" b="1" dirty="0">
                <a:latin typeface="Monotype Corsiva" panose="03010101010201010101" pitchFamily="66" charset="0"/>
              </a:rPr>
              <a:t>Contoh </a:t>
            </a:r>
            <a:r>
              <a:rPr lang="en-US" sz="2400" b="1" dirty="0">
                <a:latin typeface="Monotype Corsiva" panose="03010101010201010101" pitchFamily="66" charset="0"/>
              </a:rPr>
              <a:t>3</a:t>
            </a:r>
            <a:endParaRPr lang="en-US" sz="2400" dirty="0">
              <a:latin typeface="Monotype Corsiva" panose="03010101010201010101" pitchFamily="66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81476" y="1452674"/>
            <a:ext cx="64821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3. Sederhanakan bentuk pembagian berikut !</a:t>
            </a:r>
            <a:endParaRPr lang="en-US" sz="20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656378" y="1763477"/>
                <a:ext cx="1618968" cy="930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78" y="1763477"/>
                <a:ext cx="1618968" cy="93031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5142519" y="1724136"/>
                <a:ext cx="1624867" cy="8871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519" y="1724136"/>
                <a:ext cx="1624867" cy="887166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 flipH="1">
            <a:off x="4794986" y="2994036"/>
            <a:ext cx="35037" cy="3119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rved Up Arrow 69"/>
          <p:cNvSpPr/>
          <p:nvPr/>
        </p:nvSpPr>
        <p:spPr>
          <a:xfrm>
            <a:off x="2357208" y="3870741"/>
            <a:ext cx="1465347" cy="18100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Curved Up Arrow 70"/>
          <p:cNvSpPr/>
          <p:nvPr/>
        </p:nvSpPr>
        <p:spPr>
          <a:xfrm>
            <a:off x="7413545" y="3816838"/>
            <a:ext cx="1340489" cy="21445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812058" y="335051"/>
                <a:ext cx="1926211" cy="81047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𝒅𝒂𝒏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058" y="335051"/>
                <a:ext cx="1926211" cy="810478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urved Up Arrow 36"/>
          <p:cNvSpPr/>
          <p:nvPr/>
        </p:nvSpPr>
        <p:spPr>
          <a:xfrm>
            <a:off x="3068364" y="3822736"/>
            <a:ext cx="1465347" cy="18100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945518" y="5862087"/>
                <a:ext cx="1572482" cy="5027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518" y="5862087"/>
                <a:ext cx="1572482" cy="502766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urved Up Arrow 40"/>
          <p:cNvSpPr/>
          <p:nvPr/>
        </p:nvSpPr>
        <p:spPr>
          <a:xfrm>
            <a:off x="8019798" y="3817618"/>
            <a:ext cx="1340489" cy="21445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flipH="1" flipV="1">
            <a:off x="2275346" y="5017910"/>
            <a:ext cx="340279" cy="2297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 flipV="1">
            <a:off x="2275346" y="5510545"/>
            <a:ext cx="361619" cy="195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7000995" y="5721568"/>
                <a:ext cx="2064604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995" y="5721568"/>
                <a:ext cx="2064604" cy="783804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/>
          <p:cNvCxnSpPr/>
          <p:nvPr/>
        </p:nvCxnSpPr>
        <p:spPr>
          <a:xfrm flipH="1" flipV="1">
            <a:off x="7413545" y="5106164"/>
            <a:ext cx="340279" cy="2297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 flipV="1">
            <a:off x="7413545" y="5598799"/>
            <a:ext cx="361619" cy="195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23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9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7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27" grpId="0"/>
      <p:bldP spid="28" grpId="0"/>
      <p:bldP spid="45" grpId="0"/>
      <p:bldP spid="46" grpId="0"/>
      <p:bldP spid="47" grpId="0"/>
      <p:bldP spid="48" grpId="0"/>
      <p:bldP spid="70" grpId="0" animBg="1"/>
      <p:bldP spid="71" grpId="0" animBg="1"/>
      <p:bldP spid="37" grpId="0" animBg="1"/>
      <p:bldP spid="40" grpId="0"/>
      <p:bldP spid="41" grpId="0" animBg="1"/>
      <p:bldP spid="5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83182" y="336568"/>
            <a:ext cx="64821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4. Sederhanakan bentuk pembagian berikut !</a:t>
            </a:r>
            <a:endParaRPr lang="en-US" sz="20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118341" y="736678"/>
                <a:ext cx="1945597" cy="8590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341" y="736678"/>
                <a:ext cx="1945597" cy="85901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545008" y="747278"/>
                <a:ext cx="1560171" cy="6430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/>
                  <a:t>b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   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den>
                    </m:f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008" y="747278"/>
                <a:ext cx="1560171" cy="643061"/>
              </a:xfrm>
              <a:prstGeom prst="rect">
                <a:avLst/>
              </a:prstGeom>
              <a:blipFill rotWithShape="0">
                <a:blip r:embed="rId3"/>
                <a:stretch>
                  <a:fillRect l="-625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788136" y="1858233"/>
            <a:ext cx="15772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Penyelesaian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73736" y="2270935"/>
                <a:ext cx="1979260" cy="8590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36" y="2270935"/>
                <a:ext cx="1979260" cy="85901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160589" y="2274385"/>
                <a:ext cx="1841914" cy="890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89" y="2274385"/>
                <a:ext cx="1841914" cy="89088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843224" y="2191993"/>
                <a:ext cx="1756443" cy="9421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224" y="2191993"/>
                <a:ext cx="1756443" cy="94218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268904" y="3332511"/>
                <a:ext cx="2215415" cy="8730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904" y="3332511"/>
                <a:ext cx="2215415" cy="87306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210941" y="4200634"/>
                <a:ext cx="2266710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941" y="4200634"/>
                <a:ext cx="2266710" cy="78380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660179" y="1695728"/>
                <a:ext cx="2080249" cy="8565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.  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179" y="1695728"/>
                <a:ext cx="2080249" cy="85658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690408" y="1713122"/>
                <a:ext cx="1958934" cy="8552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408" y="1713122"/>
                <a:ext cx="1958934" cy="85529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330402" y="1622713"/>
                <a:ext cx="1940788" cy="9421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rad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402" y="1622713"/>
                <a:ext cx="1940788" cy="94218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7824373" y="2866008"/>
                <a:ext cx="2467086" cy="8730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rad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)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373" y="2866008"/>
                <a:ext cx="2467086" cy="87306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690408" y="3739068"/>
                <a:ext cx="3466172" cy="7837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408" y="3739068"/>
                <a:ext cx="3466172" cy="783741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/>
          <p:cNvCxnSpPr/>
          <p:nvPr/>
        </p:nvCxnSpPr>
        <p:spPr>
          <a:xfrm>
            <a:off x="5531428" y="1811116"/>
            <a:ext cx="57595" cy="4058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rved Up Arrow 24"/>
          <p:cNvSpPr/>
          <p:nvPr/>
        </p:nvSpPr>
        <p:spPr>
          <a:xfrm>
            <a:off x="2785509" y="3129953"/>
            <a:ext cx="1772361" cy="23598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Curved Up Arrow 25"/>
          <p:cNvSpPr/>
          <p:nvPr/>
        </p:nvSpPr>
        <p:spPr>
          <a:xfrm>
            <a:off x="8395320" y="2548720"/>
            <a:ext cx="1706972" cy="23095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Curved Up Arrow 26"/>
          <p:cNvSpPr/>
          <p:nvPr/>
        </p:nvSpPr>
        <p:spPr>
          <a:xfrm>
            <a:off x="3535524" y="3118406"/>
            <a:ext cx="1754851" cy="17104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2251710" y="5142853"/>
                <a:ext cx="2282741" cy="5127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710" y="5142853"/>
                <a:ext cx="2282741" cy="512704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urved Up Arrow 28"/>
          <p:cNvSpPr/>
          <p:nvPr/>
        </p:nvSpPr>
        <p:spPr>
          <a:xfrm>
            <a:off x="9315497" y="2548720"/>
            <a:ext cx="1610135" cy="29393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H="1" flipV="1">
            <a:off x="2581538" y="4298676"/>
            <a:ext cx="340279" cy="2297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 flipV="1">
            <a:off x="2581538" y="4791311"/>
            <a:ext cx="361619" cy="195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7507286" y="4598435"/>
                <a:ext cx="3101259" cy="7813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286" y="4598435"/>
                <a:ext cx="3101259" cy="781368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7498333" y="5351304"/>
                <a:ext cx="3101259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333" y="5351304"/>
                <a:ext cx="3101259" cy="783804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2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  <p:bldP spid="19" grpId="0"/>
      <p:bldP spid="20" grpId="0"/>
      <p:bldP spid="21" grpId="0"/>
      <p:bldP spid="22" grpId="0"/>
      <p:bldP spid="23" grpId="0"/>
      <p:bldP spid="25" grpId="0" animBg="1"/>
      <p:bldP spid="26" grpId="0" animBg="1"/>
      <p:bldP spid="27" grpId="0" animBg="1"/>
      <p:bldP spid="28" grpId="0"/>
      <p:bldP spid="29" grpId="0" animBg="1"/>
      <p:bldP spid="32" grpId="0"/>
      <p:bldP spid="3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51132"/>
          <a:stretch/>
        </p:blipFill>
        <p:spPr>
          <a:xfrm>
            <a:off x="1476916" y="1048872"/>
            <a:ext cx="5192825" cy="42223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61748"/>
          <a:stretch/>
        </p:blipFill>
        <p:spPr>
          <a:xfrm>
            <a:off x="6669741" y="1917094"/>
            <a:ext cx="4896407" cy="248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984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360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980311" y="402850"/>
            <a:ext cx="8155994" cy="107157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SELAMAT  DATANG </a:t>
            </a:r>
            <a:b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</a:br>
            <a: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DI RUANG BELAJAR MANDIRI</a:t>
            </a:r>
          </a:p>
        </p:txBody>
      </p:sp>
      <p:pic>
        <p:nvPicPr>
          <p:cNvPr id="5" name="Picture 2" descr="G:\Gambar Animasi\bumi_rotasi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69064" y="25322"/>
            <a:ext cx="1422936" cy="13280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17" descr="D:\2. PERANGKAT MENGAJAR KUR 2013 PAIYO\BAHAN ANIMASI MEMBUAT PEMBELAJARAN PPT\Gambar Animasi untuk PPT\aniearth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2936" cy="130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itle 3"/>
          <p:cNvSpPr txBox="1">
            <a:spLocks/>
          </p:cNvSpPr>
          <p:nvPr/>
        </p:nvSpPr>
        <p:spPr>
          <a:xfrm>
            <a:off x="528070" y="1769728"/>
            <a:ext cx="10730753" cy="2295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latin typeface="Arial Black" panose="020B0A04020102020204" pitchFamily="34" charset="0"/>
              </a:rPr>
              <a:t>“ A A A MAT KEREN “ PAIYO</a:t>
            </a:r>
          </a:p>
          <a:p>
            <a:pPr marL="0" indent="0" algn="ctr">
              <a:buNone/>
            </a:pPr>
            <a:r>
              <a:rPr lang="en-US" sz="3600" b="1" dirty="0">
                <a:latin typeface="Book Antiqua" panose="02040602050305030304" pitchFamily="18" charset="0"/>
              </a:rPr>
              <a:t>“ASAH ASIH ASUH MATEMATIKA”</a:t>
            </a:r>
          </a:p>
          <a:p>
            <a:pPr marL="0" indent="0" algn="ctr">
              <a:buNone/>
            </a:pP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sz="2800" b="1" dirty="0">
                <a:latin typeface="Monotype Corsiva" panose="03010101010201010101" pitchFamily="66" charset="0"/>
              </a:rPr>
              <a:t>“ </a:t>
            </a:r>
            <a:r>
              <a:rPr lang="en-US" sz="28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onotype Corsiva" panose="03010101010201010101" pitchFamily="66" charset="0"/>
              </a:rPr>
              <a:t>KREAKTIF  EKSPLORATIF   REPRESENTATIF  EKSLEN  NO DROP “ 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9212" y="4708121"/>
            <a:ext cx="10192870" cy="1323439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id-ID" sz="2000" dirty="0">
                <a:latin typeface="Arial Black" panose="020B0A04020102020204" pitchFamily="34" charset="0"/>
              </a:rPr>
              <a:t>Melalui kegiatan </a:t>
            </a:r>
            <a:r>
              <a:rPr lang="en-US" sz="2000" dirty="0">
                <a:latin typeface="Arial Black" panose="020B0A04020102020204" pitchFamily="34" charset="0"/>
              </a:rPr>
              <a:t>melihat, menyimak dan menonton video </a:t>
            </a:r>
            <a:r>
              <a:rPr lang="id-ID" sz="2000" dirty="0">
                <a:latin typeface="Arial Black" panose="020B0A04020102020204" pitchFamily="34" charset="0"/>
              </a:rPr>
              <a:t>pembelajaran</a:t>
            </a:r>
            <a:r>
              <a:rPr lang="en-US" sz="2000" dirty="0">
                <a:latin typeface="Arial Black" panose="020B0A04020102020204" pitchFamily="34" charset="0"/>
              </a:rPr>
              <a:t> mandiri ini </a:t>
            </a:r>
            <a:r>
              <a:rPr lang="id-ID" sz="2000" dirty="0">
                <a:latin typeface="Arial Black" panose="020B0A04020102020204" pitchFamily="34" charset="0"/>
              </a:rPr>
              <a:t>diharapkan peserta didik dapat :</a:t>
            </a:r>
            <a:endParaRPr lang="en-US" sz="2000" dirty="0">
              <a:latin typeface="Arial Black" panose="020B0A04020102020204" pitchFamily="34" charset="0"/>
            </a:endParaRPr>
          </a:p>
          <a:p>
            <a:pPr marL="538163" indent="-538163"/>
            <a:r>
              <a:rPr lang="en-US" sz="2000" dirty="0">
                <a:solidFill>
                  <a:srgbClr val="0070C0"/>
                </a:solidFill>
                <a:latin typeface="Arial Black" panose="020B0A04020102020204" pitchFamily="34" charset="0"/>
              </a:rPr>
              <a:t>1.8 </a:t>
            </a:r>
            <a:r>
              <a:rPr lang="en-US" sz="2000" b="1" dirty="0">
                <a:solidFill>
                  <a:srgbClr val="0070C0"/>
                </a:solidFill>
                <a:latin typeface="Arial Black" panose="020B0A04020102020204" pitchFamily="34" charset="0"/>
              </a:rPr>
              <a:t>Menyelesaikan masalah sehari-hari yang berkaitan dengan penerapan konsep bilangan berpangkat</a:t>
            </a:r>
            <a:endParaRPr lang="en-US" sz="2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Picture 10" descr="D:\2. PERANGKAT MENGAJAR KUR 2013 PAIYO\BAHAN ANIMASI MEMBUAT PEMBELAJARAN PPT\Gambar Animasi untuk PPT\anibird2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81" y="1896271"/>
            <a:ext cx="1409825" cy="112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1" descr="D:\2. PERANGKAT MENGAJAR KUR 2013 PAIYO\BAHAN ANIMASI MEMBUAT PEMBELAJARAN PPT\Gambar Animasi untuk PPT\anibird3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151" y="1896271"/>
            <a:ext cx="1409825" cy="112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5"/>
          <p:cNvGrpSpPr>
            <a:grpSpLocks/>
          </p:cNvGrpSpPr>
          <p:nvPr/>
        </p:nvGrpSpPr>
        <p:grpSpPr bwMode="auto">
          <a:xfrm>
            <a:off x="2475812" y="3595680"/>
            <a:ext cx="7419670" cy="1112441"/>
            <a:chOff x="4166" y="1706"/>
            <a:chExt cx="1252" cy="1252"/>
          </a:xfrm>
        </p:grpSpPr>
        <p:sp>
          <p:nvSpPr>
            <p:cNvPr id="20" name="Oval 1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Oval 1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Oval 1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Oval 19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9" name="Text Box 38"/>
          <p:cNvSpPr txBox="1">
            <a:spLocks noChangeArrowheads="1"/>
          </p:cNvSpPr>
          <p:nvPr/>
        </p:nvSpPr>
        <p:spPr bwMode="gray">
          <a:xfrm>
            <a:off x="2940131" y="3574610"/>
            <a:ext cx="6239579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 w="50800"/>
                <a:solidFill>
                  <a:srgbClr val="0A2068">
                    <a:shade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BAB </a:t>
            </a:r>
            <a:r>
              <a:rPr lang="en-US" b="1" dirty="0">
                <a:ln w="50800"/>
                <a:solidFill>
                  <a:srgbClr val="0A2068">
                    <a:shade val="50000"/>
                  </a:srgbClr>
                </a:solidFill>
                <a:latin typeface="Arial"/>
              </a:rPr>
              <a:t>I</a:t>
            </a:r>
            <a:endParaRPr kumimoji="0" lang="en-US" sz="1800" b="1" i="0" u="none" strike="noStrike" kern="1200" cap="none" spc="0" normalizeH="0" baseline="0" noProof="0" dirty="0">
              <a:ln w="50800"/>
              <a:solidFill>
                <a:srgbClr val="0A2068">
                  <a:shade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 w="50800"/>
                <a:solidFill>
                  <a:srgbClr val="0A2068">
                    <a:shade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BILANGAN BERPANGKAT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n w="50800"/>
                <a:solidFill>
                  <a:srgbClr val="0A2068">
                    <a:shade val="50000"/>
                  </a:srgbClr>
                </a:solidFill>
                <a:latin typeface="Arial"/>
              </a:rPr>
              <a:t>Subbab Penerapan Konsep Bilangan Berpangkat</a:t>
            </a:r>
            <a:endParaRPr kumimoji="0" lang="en-US" sz="2800" b="1" i="0" u="none" strike="noStrike" kern="1200" cap="none" spc="0" normalizeH="0" baseline="0" noProof="0" dirty="0">
              <a:ln w="50800"/>
              <a:solidFill>
                <a:srgbClr val="0A2068">
                  <a:shade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306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0634" y="1064291"/>
            <a:ext cx="111552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7338" indent="-287338" algn="just"/>
            <a:r>
              <a:rPr lang="en-US" dirty="0">
                <a:latin typeface="Arial Black" panose="020B0A04020102020204" pitchFamily="34" charset="0"/>
              </a:rPr>
              <a:t>1. Tim </a:t>
            </a:r>
            <a:r>
              <a:rPr lang="en-US" dirty="0" err="1">
                <a:latin typeface="Arial Black" panose="020B0A04020102020204" pitchFamily="34" charset="0"/>
              </a:rPr>
              <a:t>penelitidari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Dinas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Kesehatan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suatu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daerah</a:t>
            </a:r>
            <a:r>
              <a:rPr lang="en-US" dirty="0">
                <a:latin typeface="Arial Black" panose="020B0A04020102020204" pitchFamily="34" charset="0"/>
              </a:rPr>
              <a:t> di  Indonesia </a:t>
            </a:r>
            <a:r>
              <a:rPr lang="en-US" dirty="0" err="1">
                <a:latin typeface="Arial Black" panose="020B0A04020102020204" pitchFamily="34" charset="0"/>
              </a:rPr>
              <a:t>Timur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meneliti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suatu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wabah</a:t>
            </a:r>
            <a:r>
              <a:rPr lang="en-US" dirty="0">
                <a:latin typeface="Arial Black" panose="020B0A04020102020204" pitchFamily="34" charset="0"/>
              </a:rPr>
              <a:t> yang </a:t>
            </a:r>
            <a:r>
              <a:rPr lang="en-US" dirty="0" err="1">
                <a:latin typeface="Arial Black" panose="020B0A04020102020204" pitchFamily="34" charset="0"/>
              </a:rPr>
              <a:t>sedang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berkembang</a:t>
            </a:r>
            <a:r>
              <a:rPr lang="en-US" dirty="0">
                <a:latin typeface="Arial Black" panose="020B0A04020102020204" pitchFamily="34" charset="0"/>
              </a:rPr>
              <a:t> di </a:t>
            </a:r>
            <a:r>
              <a:rPr lang="en-US" dirty="0" err="1">
                <a:latin typeface="Arial Black" panose="020B0A04020102020204" pitchFamily="34" charset="0"/>
              </a:rPr>
              <a:t>Desa</a:t>
            </a:r>
            <a:r>
              <a:rPr lang="en-US" dirty="0">
                <a:latin typeface="Arial Black" panose="020B0A04020102020204" pitchFamily="34" charset="0"/>
              </a:rPr>
              <a:t> X. Tim </a:t>
            </a:r>
            <a:r>
              <a:rPr lang="en-US" dirty="0" err="1">
                <a:latin typeface="Arial Black" panose="020B0A04020102020204" pitchFamily="34" charset="0"/>
              </a:rPr>
              <a:t>peneliti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tersebut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menemukan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fakta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bahwa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wabah</a:t>
            </a:r>
            <a:r>
              <a:rPr lang="en-US" dirty="0">
                <a:latin typeface="Arial Black" panose="020B0A04020102020204" pitchFamily="34" charset="0"/>
              </a:rPr>
              <a:t> yang </a:t>
            </a:r>
            <a:r>
              <a:rPr lang="en-US" dirty="0" err="1">
                <a:latin typeface="Arial Black" panose="020B0A04020102020204" pitchFamily="34" charset="0"/>
              </a:rPr>
              <a:t>berkembang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disebabkan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oleh</a:t>
            </a:r>
            <a:r>
              <a:rPr lang="en-US" dirty="0">
                <a:latin typeface="Arial Black" panose="020B0A04020102020204" pitchFamily="34" charset="0"/>
              </a:rPr>
              <a:t> virus yang </a:t>
            </a:r>
            <a:r>
              <a:rPr lang="en-US" dirty="0" err="1">
                <a:latin typeface="Arial Black" panose="020B0A04020102020204" pitchFamily="34" charset="0"/>
              </a:rPr>
              <a:t>tengah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berkembang</a:t>
            </a:r>
            <a:r>
              <a:rPr lang="en-US" dirty="0">
                <a:latin typeface="Arial Black" panose="020B0A04020102020204" pitchFamily="34" charset="0"/>
              </a:rPr>
              <a:t> di </a:t>
            </a:r>
            <a:r>
              <a:rPr lang="en-US" dirty="0" err="1">
                <a:latin typeface="Arial Black" panose="020B0A04020102020204" pitchFamily="34" charset="0"/>
              </a:rPr>
              <a:t>Afrika</a:t>
            </a:r>
            <a:r>
              <a:rPr lang="en-US" dirty="0">
                <a:latin typeface="Arial Black" panose="020B0A04020102020204" pitchFamily="34" charset="0"/>
              </a:rPr>
              <a:t>. Dari hasil penelitian didapatkan bahwa virus tersebut dapat berkembang dengan cara membelah diri menjadi 2 virus setiap setengah jam dan menyerang sistem kekebalan tubuh. Berapa jumlah virus dalam tubuh manusia setelah 5 jam?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204" y="3175587"/>
            <a:ext cx="963019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 Black" panose="020B0A04020102020204" pitchFamily="34" charset="0"/>
              </a:rPr>
              <a:t>Diketahui pembelahan suatu virus adalah 2 ekor setiap 0,5 jam, maka :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790410"/>
              </p:ext>
            </p:extLst>
          </p:nvPr>
        </p:nvGraphicFramePr>
        <p:xfrm>
          <a:off x="455445" y="3705716"/>
          <a:ext cx="9459521" cy="985522"/>
        </p:xfrm>
        <a:graphic>
          <a:graphicData uri="http://schemas.openxmlformats.org/drawingml/2006/table">
            <a:tbl>
              <a:tblPr firstRow="1" firstCol="1" bandRow="1"/>
              <a:tblGrid>
                <a:gridCol w="1981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95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0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0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12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Pembelahan ke-</a:t>
                      </a:r>
                      <a:endParaRPr lang="en-US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( </a:t>
                      </a:r>
                      <a:r>
                        <a:rPr lang="en-US" sz="1800" b="1" dirty="0" err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setiap</a:t>
                      </a:r>
                      <a:r>
                        <a:rPr lang="en-US" sz="18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 0,5 jam )</a:t>
                      </a:r>
                      <a:endParaRPr lang="en-US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Banyak</a:t>
                      </a:r>
                      <a:r>
                        <a:rPr lang="en-US" sz="18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 virus</a:t>
                      </a:r>
                      <a:endParaRPr lang="en-US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….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….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92344" y="5013526"/>
            <a:ext cx="489895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/>
              <a:t>Jadi</a:t>
            </a:r>
            <a:r>
              <a:rPr lang="en-US" b="1" dirty="0"/>
              <a:t>  </a:t>
            </a:r>
            <a:r>
              <a:rPr lang="en-US" b="1" dirty="0" err="1"/>
              <a:t>rumus</a:t>
            </a:r>
            <a:r>
              <a:rPr lang="en-US" b="1" dirty="0"/>
              <a:t> </a:t>
            </a:r>
            <a:r>
              <a:rPr lang="en-US" b="1" dirty="0" err="1"/>
              <a:t>banyaknya</a:t>
            </a:r>
            <a:r>
              <a:rPr lang="en-US" b="1" dirty="0"/>
              <a:t> virus </a:t>
            </a:r>
            <a:r>
              <a:rPr lang="en-US" b="1" dirty="0" err="1"/>
              <a:t>adalah</a:t>
            </a:r>
            <a:r>
              <a:rPr lang="en-US" b="1" dirty="0"/>
              <a:t> ….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Banyak pembelahan setelah 5 jam maka  ….  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Banyak</a:t>
            </a:r>
            <a:r>
              <a:rPr lang="en-US" b="1" dirty="0"/>
              <a:t> virus </a:t>
            </a:r>
            <a:r>
              <a:rPr lang="en-US" b="1" dirty="0" err="1"/>
              <a:t>adalah</a:t>
            </a:r>
            <a:r>
              <a:rPr lang="en-US" b="1" dirty="0"/>
              <a:t> …      	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08742" y="4314559"/>
            <a:ext cx="39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/>
                <a:ea typeface="Calibri"/>
                <a:cs typeface="Times New Roman"/>
              </a:rPr>
              <a:t>2</a:t>
            </a:r>
            <a:endParaRPr lang="en-US" sz="1600" b="1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38508" y="4329140"/>
            <a:ext cx="39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/>
                <a:ea typeface="Calibri"/>
                <a:cs typeface="Times New Roman"/>
              </a:rPr>
              <a:t>4</a:t>
            </a:r>
            <a:endParaRPr lang="en-US" sz="1600" b="1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75204" y="4325978"/>
            <a:ext cx="383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/>
                <a:ea typeface="Calibri"/>
                <a:cs typeface="Times New Roman"/>
              </a:rPr>
              <a:t>8</a:t>
            </a:r>
            <a:endParaRPr lang="en-US" sz="1600" b="1" dirty="0">
              <a:latin typeface="Calibri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841819" y="4319758"/>
                <a:ext cx="627530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latin typeface="Cambria Math"/>
                              <a:cs typeface="Times New Roman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𝟐</m:t>
                          </m:r>
                        </m:e>
                        <m:sup>
                          <m:r>
                            <a:rPr lang="en-US" b="1" i="0" smtClean="0">
                              <a:latin typeface="Cambria Math"/>
                              <a:cs typeface="Times New Roman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819" y="4319758"/>
                <a:ext cx="627530" cy="37555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171593" y="4309268"/>
                <a:ext cx="663387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latin typeface="Cambria Math"/>
                              <a:cs typeface="Times New Roman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𝟐</m:t>
                          </m:r>
                        </m:e>
                        <m:sup>
                          <m:r>
                            <a:rPr lang="en-US" b="1" i="0" smtClean="0">
                              <a:latin typeface="Cambria Math"/>
                              <a:cs typeface="Times New Roman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latin typeface="Britannic Bold" pitchFamily="34" charset="0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593" y="4309268"/>
                <a:ext cx="663387" cy="37555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583892" y="4303772"/>
                <a:ext cx="64545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latin typeface="Cambria Math"/>
                              <a:cs typeface="Times New Roman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𝟐</m:t>
                          </m:r>
                        </m:e>
                        <m:sup>
                          <m:r>
                            <a:rPr lang="en-US" b="1" i="0" smtClean="0">
                              <a:latin typeface="Cambria Math"/>
                              <a:cs typeface="Times New Roman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latin typeface="Britannic Bold" pitchFamily="34" charset="0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892" y="4303772"/>
                <a:ext cx="645455" cy="37555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648829" y="4345832"/>
                <a:ext cx="788894" cy="374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𝟐</m:t>
                          </m:r>
                        </m:e>
                        <m:sup>
                          <m:r>
                            <a:rPr lang="en-US" b="1" i="0" smtClean="0">
                              <a:latin typeface="Cambria Math"/>
                              <a:cs typeface="Times New Roman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829" y="4345832"/>
                <a:ext cx="788894" cy="37484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964702" y="4345832"/>
                <a:ext cx="6454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𝟐</m:t>
                          </m:r>
                        </m:e>
                        <m:sup>
                          <m:r>
                            <a:rPr lang="en-US" b="1" i="0" smtClean="0">
                              <a:latin typeface="Cambria Math"/>
                              <a:cs typeface="Times New Roman"/>
                            </a:rPr>
                            <m:t>𝐧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702" y="4345832"/>
                <a:ext cx="645457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301944" y="5113482"/>
                <a:ext cx="5002305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/>
                          </a:rPr>
                          <m:t>𝟐</m:t>
                        </m:r>
                      </m:e>
                      <m:sup>
                        <m:r>
                          <a:rPr lang="en-US" b="1" i="0" smtClean="0">
                            <a:latin typeface="Cambria Math"/>
                            <a:cs typeface="Times New Roman"/>
                          </a:rPr>
                          <m:t>𝐧</m:t>
                        </m:r>
                      </m:sup>
                    </m:sSup>
                  </m:oMath>
                </a14:m>
                <a:r>
                  <a:rPr lang="en-US" sz="1600" b="1" dirty="0">
                    <a:latin typeface="Calibri"/>
                    <a:ea typeface="Calibri"/>
                    <a:cs typeface="Times New Roman"/>
                  </a:rPr>
                  <a:t> </a:t>
                </a:r>
                <a:r>
                  <a:rPr lang="en-US" sz="1600" b="1" dirty="0"/>
                  <a:t>dengan  </a:t>
                </a:r>
                <a:r>
                  <a:rPr lang="en-US" sz="1600" b="1" i="1" dirty="0"/>
                  <a:t>n  </a:t>
                </a:r>
                <a:r>
                  <a:rPr lang="en-US" sz="1600" b="1" dirty="0"/>
                  <a:t>menyatakan banyak </a:t>
                </a:r>
                <a:r>
                  <a:rPr lang="en-US" sz="1600" b="1" dirty="0" err="1"/>
                  <a:t>pembelahan</a:t>
                </a:r>
                <a:r>
                  <a:rPr lang="en-US" sz="1600" b="1" dirty="0"/>
                  <a:t>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944" y="5113482"/>
                <a:ext cx="5002305" cy="362984"/>
              </a:xfrm>
              <a:prstGeom prst="rect">
                <a:avLst/>
              </a:prstGeom>
              <a:blipFill rotWithShape="0">
                <a:blip r:embed="rId7"/>
                <a:stretch>
                  <a:fillRect b="-2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4815939" y="5520146"/>
            <a:ext cx="4080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 = 5 jam : 0,5 jam =  10 kali pembelahan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598656" y="5953171"/>
                <a:ext cx="6454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𝟐</m:t>
                          </m:r>
                        </m:e>
                        <m:sup>
                          <m:r>
                            <a:rPr lang="en-US" b="1" i="0" smtClean="0">
                              <a:latin typeface="Cambria Math"/>
                              <a:cs typeface="Times New Roman"/>
                            </a:rPr>
                            <m:t>𝐧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656" y="5953171"/>
                <a:ext cx="645457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72402" y="5950250"/>
                <a:ext cx="645457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latin typeface="Cambria Math"/>
                              <a:cs typeface="Times New Roman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𝟐</m:t>
                          </m:r>
                        </m:e>
                        <m:sup>
                          <m:r>
                            <a:rPr lang="en-US" b="1" i="0" smtClean="0">
                              <a:latin typeface="Cambria Math"/>
                              <a:cs typeface="Times New Roman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402" y="5950250"/>
                <a:ext cx="645457" cy="375552"/>
              </a:xfrm>
              <a:prstGeom prst="rect">
                <a:avLst/>
              </a:prstGeom>
              <a:blipFill rotWithShape="0">
                <a:blip r:embed="rId9"/>
                <a:stretch>
                  <a:fillRect r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907505" y="5951391"/>
            <a:ext cx="4089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itchFamily="34" charset="0"/>
                <a:ea typeface="Calibri"/>
                <a:cs typeface="Arial" pitchFamily="34" charset="0"/>
              </a:rPr>
              <a:t>= 2x2x2x2x2x2x2x2x2x2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=  1.024 ekor </a:t>
            </a:r>
            <a:endParaRPr lang="en-US" b="1" dirty="0">
              <a:latin typeface="Arial" pitchFamily="34" charset="0"/>
              <a:ea typeface="Calibri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24160" y="3749783"/>
            <a:ext cx="39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/>
                <a:ea typeface="Calibri"/>
                <a:cs typeface="Times New Roman"/>
              </a:rPr>
              <a:t>1</a:t>
            </a:r>
            <a:endParaRPr lang="en-US" sz="1600" b="1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91868" y="3736924"/>
            <a:ext cx="39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/>
                <a:ea typeface="Calibri"/>
                <a:cs typeface="Times New Roman"/>
              </a:rPr>
              <a:t>2</a:t>
            </a:r>
            <a:endParaRPr lang="en-US" sz="1600" b="1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12172" y="3726313"/>
            <a:ext cx="39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/>
                <a:ea typeface="Calibri"/>
                <a:cs typeface="Times New Roman"/>
              </a:rPr>
              <a:t>3</a:t>
            </a:r>
            <a:endParaRPr lang="en-US" sz="1600" b="1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76214" y="3736924"/>
            <a:ext cx="39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/>
                <a:ea typeface="Calibri"/>
                <a:cs typeface="Times New Roman"/>
              </a:rPr>
              <a:t>4</a:t>
            </a:r>
            <a:endParaRPr lang="en-US" sz="1600" b="1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07025" y="3749783"/>
            <a:ext cx="39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/>
                <a:ea typeface="Calibri"/>
                <a:cs typeface="Times New Roman"/>
              </a:rPr>
              <a:t>n</a:t>
            </a:r>
            <a:endParaRPr lang="en-US" sz="1600" b="1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8287" y="214948"/>
            <a:ext cx="10342091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520700" indent="-520700"/>
            <a:r>
              <a:rPr lang="en-US" b="1" dirty="0">
                <a:latin typeface="Arial Black" panose="020B0A04020102020204" pitchFamily="34" charset="0"/>
              </a:rPr>
              <a:t>1.8 Menyelesaikan masalah sehari-hari yang berkaitan dengan penerapan konsep bilangan berpangkat.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815939" y="703419"/>
            <a:ext cx="2523447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latin typeface="Monotype Corsiva" panose="03010101010201010101" pitchFamily="66" charset="0"/>
              </a:rPr>
              <a:t>Ayo Kita Amati </a:t>
            </a:r>
            <a:r>
              <a:rPr lang="id-ID" sz="2000" b="1" dirty="0">
                <a:latin typeface="Monotype Corsiva" panose="03010101010201010101" pitchFamily="66" charset="0"/>
              </a:rPr>
              <a:t>Contoh 1</a:t>
            </a:r>
            <a:endParaRPr lang="en-US" sz="2000" dirty="0">
              <a:latin typeface="Monotype Corsiva" panose="03010101010201010101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1362" y="2745268"/>
            <a:ext cx="20858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1" dirty="0">
                <a:latin typeface="Monotype Corsiva" panose="03010101010201010101" pitchFamily="66" charset="0"/>
              </a:rPr>
              <a:t>Alternatif penyelesaian</a:t>
            </a:r>
            <a:endParaRPr lang="en-US" b="1" dirty="0">
              <a:latin typeface="Monotype Corsiva" panose="03010101010201010101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/>
              <p14:cNvContentPartPr/>
              <p14:nvPr/>
            </p14:nvContentPartPr>
            <p14:xfrm>
              <a:off x="5384520" y="2410920"/>
              <a:ext cx="572040" cy="4500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75160" y="2401560"/>
                <a:ext cx="590760" cy="6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07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11" grpId="0"/>
      <p:bldP spid="14" grpId="0"/>
      <p:bldP spid="15" grpId="0"/>
      <p:bldP spid="16" grpId="0"/>
      <p:bldP spid="17" grpId="0"/>
      <p:bldP spid="3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6868" y="658691"/>
                <a:ext cx="10511120" cy="2153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3538" indent="-363538" algn="just"/>
                <a:r>
                  <a:rPr lang="en-US" b="1" dirty="0">
                    <a:latin typeface="Arial Black" panose="020B0A04020102020204" pitchFamily="34" charset="0"/>
                  </a:rPr>
                  <a:t>2. Ketinggian suatu benda dapat ditentukan dengan menggunakan rumus gerak jatuh bebas, yaitu</a:t>
                </a:r>
                <a:r>
                  <a:rPr lang="en-US" b="1" i="1" dirty="0">
                    <a:latin typeface="Arial Black" panose="020B0A04020102020204" pitchFamily="34" charset="0"/>
                  </a:rPr>
                  <a:t>h </a:t>
                </a:r>
                <a:r>
                  <a:rPr lang="en-US" b="1" dirty="0">
                    <a:latin typeface="Arial Black" panose="020B0A040201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i="1" dirty="0">
                    <a:latin typeface="Arial Black" panose="020B0A04020102020204" pitchFamily="34" charset="0"/>
                  </a:rPr>
                  <a:t>gt</a:t>
                </a:r>
                <a:r>
                  <a:rPr lang="en-US" b="1" baseline="30000" dirty="0">
                    <a:latin typeface="Arial Black" panose="020B0A04020102020204" pitchFamily="34" charset="0"/>
                  </a:rPr>
                  <a:t>2</a:t>
                </a:r>
                <a:r>
                  <a:rPr lang="en-US" b="1" dirty="0">
                    <a:latin typeface="Arial Black" panose="020B0A04020102020204" pitchFamily="34" charset="0"/>
                  </a:rPr>
                  <a:t> di </a:t>
                </a:r>
                <a:r>
                  <a:rPr lang="en-US" b="1" dirty="0" err="1">
                    <a:latin typeface="Arial Black" panose="020B0A04020102020204" pitchFamily="34" charset="0"/>
                  </a:rPr>
                  <a:t>mana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i="1" dirty="0">
                    <a:latin typeface="Arial Black" panose="020B0A04020102020204" pitchFamily="34" charset="0"/>
                  </a:rPr>
                  <a:t>h </a:t>
                </a:r>
                <a:r>
                  <a:rPr lang="en-US" b="1" dirty="0" err="1">
                    <a:latin typeface="Arial Black" panose="020B0A04020102020204" pitchFamily="34" charset="0"/>
                  </a:rPr>
                  <a:t>adalah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dirty="0" err="1">
                    <a:latin typeface="Arial Black" panose="020B0A04020102020204" pitchFamily="34" charset="0"/>
                  </a:rPr>
                  <a:t>ketinggian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dirty="0" err="1">
                    <a:latin typeface="Arial Black" panose="020B0A04020102020204" pitchFamily="34" charset="0"/>
                  </a:rPr>
                  <a:t>benda</a:t>
                </a:r>
                <a:r>
                  <a:rPr lang="en-US" b="1" dirty="0">
                    <a:latin typeface="Arial Black" panose="020B0A04020102020204" pitchFamily="34" charset="0"/>
                  </a:rPr>
                  <a:t> (</a:t>
                </a:r>
                <a:r>
                  <a:rPr lang="en-US" b="1" dirty="0" err="1">
                    <a:latin typeface="Arial Black" panose="020B0A04020102020204" pitchFamily="34" charset="0"/>
                  </a:rPr>
                  <a:t>dalam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dirty="0" err="1">
                    <a:latin typeface="Arial Black" panose="020B0A04020102020204" pitchFamily="34" charset="0"/>
                  </a:rPr>
                  <a:t>satuan</a:t>
                </a:r>
                <a:r>
                  <a:rPr lang="en-US" b="1" dirty="0">
                    <a:latin typeface="Arial Black" panose="020B0A04020102020204" pitchFamily="34" charset="0"/>
                  </a:rPr>
                  <a:t> meter), </a:t>
                </a:r>
                <a:r>
                  <a:rPr lang="en-US" b="1" i="1" dirty="0">
                    <a:latin typeface="Arial Black" panose="020B0A04020102020204" pitchFamily="34" charset="0"/>
                  </a:rPr>
                  <a:t>g </a:t>
                </a:r>
                <a:r>
                  <a:rPr lang="en-US" b="1" dirty="0" err="1">
                    <a:latin typeface="Arial Black" panose="020B0A04020102020204" pitchFamily="34" charset="0"/>
                  </a:rPr>
                  <a:t>adalah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dirty="0" err="1">
                    <a:latin typeface="Arial Black" panose="020B0A04020102020204" pitchFamily="34" charset="0"/>
                  </a:rPr>
                  <a:t>percepatan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dirty="0" err="1">
                    <a:latin typeface="Arial Black" panose="020B0A04020102020204" pitchFamily="34" charset="0"/>
                  </a:rPr>
                  <a:t>gravitasi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dirty="0" err="1">
                    <a:latin typeface="Arial Black" panose="020B0A04020102020204" pitchFamily="34" charset="0"/>
                  </a:rPr>
                  <a:t>bumi</a:t>
                </a:r>
                <a:r>
                  <a:rPr lang="en-US" b="1" dirty="0">
                    <a:latin typeface="Arial Black" panose="020B0A04020102020204" pitchFamily="34" charset="0"/>
                  </a:rPr>
                  <a:t> (m/t</a:t>
                </a:r>
                <a:r>
                  <a:rPr lang="en-US" b="1" baseline="30000" dirty="0">
                    <a:latin typeface="Arial Black" panose="020B0A04020102020204" pitchFamily="34" charset="0"/>
                  </a:rPr>
                  <a:t>2</a:t>
                </a:r>
                <a:r>
                  <a:rPr lang="en-US" b="1" dirty="0">
                    <a:latin typeface="Arial Black" panose="020B0A04020102020204" pitchFamily="34" charset="0"/>
                  </a:rPr>
                  <a:t>), </a:t>
                </a:r>
                <a:r>
                  <a:rPr lang="en-US" b="1" dirty="0" err="1">
                    <a:latin typeface="Arial Black" panose="020B0A04020102020204" pitchFamily="34" charset="0"/>
                  </a:rPr>
                  <a:t>dan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i="1" dirty="0">
                    <a:latin typeface="Arial Black" panose="020B0A04020102020204" pitchFamily="34" charset="0"/>
                  </a:rPr>
                  <a:t>t </a:t>
                </a:r>
                <a:r>
                  <a:rPr lang="en-US" b="1" dirty="0" err="1">
                    <a:latin typeface="Arial Black" panose="020B0A04020102020204" pitchFamily="34" charset="0"/>
                  </a:rPr>
                  <a:t>adalah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dirty="0" err="1">
                    <a:latin typeface="Arial Black" panose="020B0A04020102020204" pitchFamily="34" charset="0"/>
                  </a:rPr>
                  <a:t>waktu</a:t>
                </a:r>
                <a:r>
                  <a:rPr lang="en-US" b="1" dirty="0">
                    <a:latin typeface="Arial Black" panose="020B0A04020102020204" pitchFamily="34" charset="0"/>
                  </a:rPr>
                  <a:t> yang </a:t>
                </a:r>
                <a:r>
                  <a:rPr lang="en-US" b="1" dirty="0" err="1">
                    <a:latin typeface="Arial Black" panose="020B0A04020102020204" pitchFamily="34" charset="0"/>
                  </a:rPr>
                  <a:t>diperlukan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dirty="0" err="1">
                    <a:latin typeface="Arial Black" panose="020B0A04020102020204" pitchFamily="34" charset="0"/>
                  </a:rPr>
                  <a:t>benda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dirty="0" err="1">
                    <a:latin typeface="Arial Black" panose="020B0A04020102020204" pitchFamily="34" charset="0"/>
                  </a:rPr>
                  <a:t>sampai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dirty="0" err="1">
                    <a:latin typeface="Arial Black" panose="020B0A04020102020204" pitchFamily="34" charset="0"/>
                  </a:rPr>
                  <a:t>jatuh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dirty="0" err="1">
                    <a:latin typeface="Arial Black" panose="020B0A04020102020204" pitchFamily="34" charset="0"/>
                  </a:rPr>
                  <a:t>ketanah</a:t>
                </a:r>
                <a:r>
                  <a:rPr lang="en-US" b="1" dirty="0">
                    <a:latin typeface="Arial Black" panose="020B0A04020102020204" pitchFamily="34" charset="0"/>
                  </a:rPr>
                  <a:t> . Sebuah benda jatuh dari sebuah Helykopter yang terbang, dengan percepatan grafitasi bumi 10 m/t</a:t>
                </a:r>
                <a:r>
                  <a:rPr lang="en-US" b="1" baseline="30000" dirty="0">
                    <a:latin typeface="Arial Black" panose="020B0A04020102020204" pitchFamily="34" charset="0"/>
                  </a:rPr>
                  <a:t>2</a:t>
                </a:r>
                <a:r>
                  <a:rPr lang="en-US" b="1" dirty="0">
                    <a:latin typeface="Arial Black" panose="020B0A04020102020204" pitchFamily="34" charset="0"/>
                  </a:rPr>
                  <a:t> dan waktu yang diperlukan untuk sampai di tanah adalah 20 detik. </a:t>
                </a:r>
              </a:p>
              <a:p>
                <a:pPr marL="363538" indent="-363538" algn="just"/>
                <a:r>
                  <a:rPr lang="en-US" b="1" dirty="0">
                    <a:latin typeface="Arial Black" panose="020B0A04020102020204" pitchFamily="34" charset="0"/>
                  </a:rPr>
                  <a:t>	Berapa tinggi Helykopter tersebut?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68" y="658691"/>
                <a:ext cx="10511120" cy="2153090"/>
              </a:xfrm>
              <a:prstGeom prst="rect">
                <a:avLst/>
              </a:prstGeom>
              <a:blipFill rotWithShape="0">
                <a:blip r:embed="rId2"/>
                <a:stretch>
                  <a:fillRect l="-464" t="-1416" r="-522" b="-3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17021" y="2996447"/>
                <a:ext cx="3895167" cy="295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Arial Black" panose="020B0A04020102020204" pitchFamily="34" charset="0"/>
                    <a:sym typeface="Wingdings" panose="05000000000000000000" pitchFamily="2" charset="2"/>
                  </a:rPr>
                  <a:t>  </a:t>
                </a:r>
                <a:r>
                  <a:rPr lang="en-US" b="1" dirty="0">
                    <a:latin typeface="Arial Black" panose="020B0A04020102020204" pitchFamily="34" charset="0"/>
                  </a:rPr>
                  <a:t>h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i="1" dirty="0">
                    <a:latin typeface="Arial Black" panose="020B0A04020102020204" pitchFamily="34" charset="0"/>
                  </a:rPr>
                  <a:t>g t </a:t>
                </a:r>
                <a:r>
                  <a:rPr lang="en-US" b="1" baseline="30000" dirty="0">
                    <a:latin typeface="Arial Black" panose="020B0A04020102020204" pitchFamily="34" charset="0"/>
                  </a:rPr>
                  <a:t>2</a:t>
                </a:r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            </a:t>
                </a:r>
                <a:r>
                  <a:rPr lang="en-US" b="1" dirty="0">
                    <a:latin typeface="Arial Black" panose="020B0A04020102020204" pitchFamily="34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>
                    <a:latin typeface="Arial Black" panose="020B0A04020102020204" pitchFamily="34" charset="0"/>
                  </a:rPr>
                  <a:t>  x</a:t>
                </a:r>
                <a:r>
                  <a:rPr lang="en-US" b="1" i="1" dirty="0">
                    <a:latin typeface="Arial Black" panose="020B0A04020102020204" pitchFamily="34" charset="0"/>
                  </a:rPr>
                  <a:t> 10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Arial Black" panose="020B0A04020102020204" pitchFamily="34" charset="0"/>
                  </a:rPr>
                  <a:t>        =  5 x 400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Arial Black" panose="020B0A04020102020204" pitchFamily="34" charset="0"/>
                  </a:rPr>
                  <a:t>        = 2000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Arial Black" panose="020B0A04020102020204" pitchFamily="34" charset="0"/>
                    <a:cs typeface="Arial" panose="020B0604020202020204" pitchFamily="34" charset="0"/>
                  </a:rPr>
                  <a:t>Jadi tinggi gedung tersebut adalah 2.000 meter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021" y="2996447"/>
                <a:ext cx="3895167" cy="2950680"/>
              </a:xfrm>
              <a:prstGeom prst="rect">
                <a:avLst/>
              </a:prstGeom>
              <a:blipFill rotWithShape="0">
                <a:blip r:embed="rId3"/>
                <a:stretch>
                  <a:fillRect l="-1408" b="-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862843" y="252700"/>
            <a:ext cx="3002745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Monotype Corsiva" panose="03010101010201010101" pitchFamily="66" charset="0"/>
              </a:rPr>
              <a:t>Ayo Kita Amati </a:t>
            </a:r>
            <a:r>
              <a:rPr lang="id-ID" sz="2400" b="1" dirty="0">
                <a:latin typeface="Monotype Corsiva" panose="03010101010201010101" pitchFamily="66" charset="0"/>
              </a:rPr>
              <a:t>Contoh </a:t>
            </a:r>
            <a:r>
              <a:rPr lang="en-US" sz="2400" b="1" dirty="0">
                <a:latin typeface="Monotype Corsiva" panose="03010101010201010101" pitchFamily="66" charset="0"/>
              </a:rPr>
              <a:t>2</a:t>
            </a:r>
            <a:endParaRPr lang="en-US" sz="2400" dirty="0">
              <a:latin typeface="Monotype Corsiva" panose="03010101010201010101" pitchFamily="66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09669" y="2747413"/>
            <a:ext cx="2085827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b="1" dirty="0">
                <a:latin typeface="Monotype Corsiva" panose="03010101010201010101" pitchFamily="66" charset="0"/>
              </a:rPr>
              <a:t>Alternatif penyelesaian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217" y="2996447"/>
            <a:ext cx="1564852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b="1" dirty="0">
                <a:latin typeface="Monotype Corsiva" panose="03010101010201010101" pitchFamily="66" charset="0"/>
              </a:rPr>
              <a:t>Analisis masalah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40217" y="3748238"/>
                <a:ext cx="5000856" cy="4910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Arial Black" panose="020B0A04020102020204" pitchFamily="34" charset="0"/>
                    <a:sym typeface="Wingdings" panose="05000000000000000000" pitchFamily="2" charset="2"/>
                  </a:rPr>
                  <a:t> </a:t>
                </a:r>
                <a:r>
                  <a:rPr lang="en-US" b="1" dirty="0">
                    <a:latin typeface="Arial Black" panose="020B0A04020102020204" pitchFamily="34" charset="0"/>
                  </a:rPr>
                  <a:t>Rumus tinggi Helykopter : 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  <a:r>
                  <a:rPr lang="en-US" b="1" i="1" dirty="0">
                    <a:latin typeface="Arial Black" panose="020B0A04020102020204" pitchFamily="34" charset="0"/>
                  </a:rPr>
                  <a:t>g t </a:t>
                </a:r>
                <a:r>
                  <a:rPr lang="en-US" b="1" baseline="30000" dirty="0">
                    <a:latin typeface="Arial Black" panose="020B0A04020102020204" pitchFamily="34" charset="0"/>
                  </a:rPr>
                  <a:t>2</a:t>
                </a:r>
                <a:endParaRPr lang="en-US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17" y="3748238"/>
                <a:ext cx="5000856" cy="491096"/>
              </a:xfrm>
              <a:prstGeom prst="rect">
                <a:avLst/>
              </a:prstGeom>
              <a:blipFill rotWithShape="0">
                <a:blip r:embed="rId4"/>
                <a:stretch>
                  <a:fillRect l="-974" b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769321" y="4185732"/>
            <a:ext cx="1853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  <a:sym typeface="Wingdings" panose="05000000000000000000" pitchFamily="2" charset="2"/>
              </a:rPr>
              <a:t> </a:t>
            </a:r>
            <a:r>
              <a:rPr lang="en-US" b="1" dirty="0">
                <a:latin typeface="Arial Black" panose="020B0A04020102020204" pitchFamily="34" charset="0"/>
              </a:rPr>
              <a:t>g = 10 m/t</a:t>
            </a:r>
            <a:r>
              <a:rPr lang="en-US" b="1" baseline="30000" dirty="0">
                <a:latin typeface="Arial Black" panose="020B0A04020102020204" pitchFamily="34" charset="0"/>
              </a:rPr>
              <a:t>2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0217" y="3421710"/>
            <a:ext cx="1536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Diketahui 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2726" y="5115227"/>
            <a:ext cx="1373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Ditanya : 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988646" y="2747413"/>
            <a:ext cx="32933" cy="3828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051568" y="5098808"/>
            <a:ext cx="3147657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tinggi gedung (h) = ...? 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06531" y="4553020"/>
            <a:ext cx="1943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  <a:sym typeface="Wingdings" panose="05000000000000000000" pitchFamily="2" charset="2"/>
              </a:rPr>
              <a:t> t</a:t>
            </a:r>
            <a:r>
              <a:rPr lang="en-US" b="1" dirty="0">
                <a:latin typeface="Arial Black" panose="020B0A04020102020204" pitchFamily="34" charset="0"/>
              </a:rPr>
              <a:t> = 20 detik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92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4" grpId="0"/>
      <p:bldP spid="15" grpId="0"/>
      <p:bldP spid="16" grpId="0"/>
      <p:bldP spid="17" grpId="0"/>
      <p:bldP spid="20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9588" y="875537"/>
            <a:ext cx="10031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/>
            <a:r>
              <a:rPr lang="en-US" b="1" dirty="0">
                <a:latin typeface="Arial Black" panose="020B0A04020102020204" pitchFamily="34" charset="0"/>
              </a:rPr>
              <a:t>3. Satu karung yang berisi beras memiliki masa 50 kg. Andaikan tiap-tiap butir beras yang terdapat dalam karung tersebut memiliki masa yang sama, yaitu 2,5 × 10</a:t>
            </a:r>
            <a:r>
              <a:rPr lang="en-US" b="1" baseline="30000" dirty="0">
                <a:latin typeface="Arial Black" panose="020B0A04020102020204" pitchFamily="34" charset="0"/>
              </a:rPr>
              <a:t>-2</a:t>
            </a:r>
            <a:r>
              <a:rPr lang="en-US" b="1" dirty="0">
                <a:latin typeface="Arial Black" panose="020B0A04020102020204" pitchFamily="34" charset="0"/>
              </a:rPr>
              <a:t> gram. </a:t>
            </a:r>
          </a:p>
          <a:p>
            <a:pPr marL="363538" indent="-363538" algn="just"/>
            <a:r>
              <a:rPr lang="en-US" b="1" dirty="0">
                <a:latin typeface="Arial Black" panose="020B0A04020102020204" pitchFamily="34" charset="0"/>
              </a:rPr>
              <a:t>	Berapakah banyak butir beras dalam karung tersebut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414246" y="2633182"/>
                <a:ext cx="5505272" cy="3569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Arial Black" panose="020B0A04020102020204" pitchFamily="34" charset="0"/>
                  </a:rPr>
                  <a:t>Banyak butir beras =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		</a:t>
                </a:r>
                <a:r>
                  <a:rPr lang="en-US" b="1" dirty="0">
                    <a:latin typeface="Arial Black" panose="020B0A040201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𝟓𝟎</m:t>
                        </m:r>
                        <m:r>
                          <a:rPr lang="en-US" b="1" i="1"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latin typeface="Cambria Math"/>
                          </a:rPr>
                          <m:t>𝒙</m:t>
                        </m:r>
                        <m:r>
                          <a:rPr lang="en-US" b="1" i="1">
                            <a:latin typeface="Cambria Math"/>
                          </a:rPr>
                          <m:t>𝟏𝟎𝟎𝟎</m:t>
                        </m:r>
                        <m:r>
                          <a:rPr lang="en-US" b="1" i="1"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latin typeface="Cambria Math"/>
                          </a:rPr>
                          <m:t>𝒈𝒓</m:t>
                        </m:r>
                      </m:num>
                      <m:den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  <m:r>
                          <a:rPr lang="en-US" b="1" i="1"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latin typeface="Cambria Math"/>
                          </a:rPr>
                          <m:t>𝒙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en-US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𝟏</m:t>
                            </m:r>
                          </m:sup>
                        </m:sSup>
                        <m:r>
                          <a:rPr lang="en-US" b="1" i="1">
                            <a:latin typeface="Cambria Math"/>
                          </a:rPr>
                          <m:t>𝒈𝒓</m:t>
                        </m:r>
                      </m:den>
                    </m:f>
                  </m:oMath>
                </a14:m>
                <a:endParaRPr lang="en-US" b="1" dirty="0">
                  <a:latin typeface="Arial Black" panose="020B0A040201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		</a:t>
                </a:r>
                <a:r>
                  <a:rPr lang="en-US" b="1" dirty="0">
                    <a:latin typeface="Arial Black" panose="020B0A040201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/>
                          </a:rPr>
                          <m:t>𝒙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en-US" b="1" i="1">
                                <a:latin typeface="Cambria Math"/>
                              </a:rPr>
                              <m:t>𝟒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  <m:r>
                          <a:rPr lang="en-US" b="1" i="1"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latin typeface="Cambria Math"/>
                          </a:rPr>
                          <m:t>𝒙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en-US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𝟏</m:t>
                            </m:r>
                          </m:sup>
                        </m:sSup>
                      </m:den>
                    </m:f>
                  </m:oMath>
                </a14:m>
                <a:endParaRPr lang="en-US" b="1" dirty="0">
                  <a:latin typeface="Arial Black" panose="020B0A040201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		</a:t>
                </a:r>
                <a:r>
                  <a:rPr lang="en-US" b="1" dirty="0">
                    <a:latin typeface="Arial Black" panose="020B0A04020102020204" pitchFamily="34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/>
                          </a:rPr>
                          <m:t>𝟒</m:t>
                        </m:r>
                        <m:r>
                          <a:rPr lang="en-US" b="1" i="1">
                            <a:latin typeface="Cambria Math"/>
                          </a:rPr>
                          <m:t>−(−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)</m:t>
                        </m:r>
                      </m:sup>
                    </m:sSup>
                  </m:oMath>
                </a14:m>
                <a:endParaRPr lang="en-US" b="1" dirty="0">
                  <a:latin typeface="Arial Black" panose="020B0A040201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		</a:t>
                </a:r>
                <a:r>
                  <a:rPr lang="en-US" b="1" dirty="0">
                    <a:latin typeface="Arial Black" panose="020B0A04020102020204" pitchFamily="34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</m:sup>
                    </m:sSup>
                  </m:oMath>
                </a14:m>
                <a:r>
                  <a:rPr lang="en-US" b="1" dirty="0">
                    <a:latin typeface="Arial Black" panose="020B0A04020102020204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		</a:t>
                </a:r>
                <a:r>
                  <a:rPr lang="en-US" b="1" dirty="0">
                    <a:latin typeface="Arial Black" panose="020B0A04020102020204" pitchFamily="34" charset="0"/>
                  </a:rPr>
                  <a:t>= 100.000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 err="1"/>
                  <a:t>Jadi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banyak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butir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besar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adalah</a:t>
                </a:r>
                <a:r>
                  <a:rPr lang="en-US" sz="2000" b="1" dirty="0"/>
                  <a:t> 100.000 </a:t>
                </a:r>
                <a:r>
                  <a:rPr lang="en-US" sz="2000" b="1" dirty="0" err="1"/>
                  <a:t>butir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246" y="2633182"/>
                <a:ext cx="5505272" cy="3569439"/>
              </a:xfrm>
              <a:prstGeom prst="rect">
                <a:avLst/>
              </a:prstGeom>
              <a:blipFill rotWithShape="0">
                <a:blip r:embed="rId2"/>
                <a:stretch>
                  <a:fillRect l="-1107" b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H="1">
            <a:off x="8467165" y="3983351"/>
            <a:ext cx="327212" cy="1389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8453718" y="4236001"/>
            <a:ext cx="301297" cy="129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75097" y="287715"/>
            <a:ext cx="3002745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Monotype Corsiva" panose="03010101010201010101" pitchFamily="66" charset="0"/>
              </a:rPr>
              <a:t>Ayo Kita Amati </a:t>
            </a:r>
            <a:r>
              <a:rPr lang="id-ID" sz="2400" b="1" dirty="0">
                <a:latin typeface="Monotype Corsiva" panose="03010101010201010101" pitchFamily="66" charset="0"/>
              </a:rPr>
              <a:t>Contoh </a:t>
            </a:r>
            <a:r>
              <a:rPr lang="en-US" sz="2400" b="1" dirty="0">
                <a:latin typeface="Monotype Corsiva" panose="03010101010201010101" pitchFamily="66" charset="0"/>
              </a:rPr>
              <a:t>3</a:t>
            </a:r>
            <a:endParaRPr lang="en-US" sz="2400" dirty="0">
              <a:latin typeface="Monotype Corsiva" panose="03010101010201010101" pitchFamily="66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024" y="2155279"/>
            <a:ext cx="1564852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b="1" dirty="0">
                <a:latin typeface="Monotype Corsiva" panose="03010101010201010101" pitchFamily="66" charset="0"/>
              </a:rPr>
              <a:t>Analisis masalah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8573" y="3002514"/>
            <a:ext cx="35082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Masa satu karung =  50 kg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28573" y="3424486"/>
            <a:ext cx="5114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Masa satu butir beras = 2,5 × 10</a:t>
            </a:r>
            <a:r>
              <a:rPr lang="en-US" b="1" baseline="30000" dirty="0">
                <a:latin typeface="Arial Black" panose="020B0A04020102020204" pitchFamily="34" charset="0"/>
              </a:rPr>
              <a:t>-2</a:t>
            </a:r>
            <a:r>
              <a:rPr lang="en-US" b="1" dirty="0">
                <a:latin typeface="Arial Black" panose="020B0A04020102020204" pitchFamily="34" charset="0"/>
              </a:rPr>
              <a:t> gram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414246" y="2169858"/>
            <a:ext cx="2085827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b="1" dirty="0">
                <a:latin typeface="Monotype Corsiva" panose="03010101010201010101" pitchFamily="66" charset="0"/>
              </a:rPr>
              <a:t>Alternatif penyelesaian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7024" y="2580542"/>
            <a:ext cx="1536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Diketahui 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8573" y="3846458"/>
            <a:ext cx="50254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Ditanya : </a:t>
            </a:r>
          </a:p>
          <a:p>
            <a:r>
              <a:rPr lang="en-US" b="1" dirty="0">
                <a:latin typeface="Arial Black" panose="020B0A04020102020204" pitchFamily="34" charset="0"/>
              </a:rPr>
              <a:t>banyak butir beras dalam karung= ...?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162872" y="4755277"/>
                <a:ext cx="4713150" cy="496674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Arial Black" panose="020B0A04020102020204" pitchFamily="34" charset="0"/>
                  </a:rPr>
                  <a:t>Banyak butir beras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𝒎𝒂𝒔𝒂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𝒔𝒂𝒕𝒖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𝒌𝒂𝒓𝒖𝒏𝒈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𝒎𝒂𝒔𝒂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𝒔𝒂𝒕𝒖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𝒃𝒖𝒕𝒊𝒓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𝒃𝒆𝒓𝒂𝒔</m:t>
                        </m:r>
                      </m:den>
                    </m:f>
                  </m:oMath>
                </a14:m>
                <a:endParaRPr lang="en-US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872" y="4755277"/>
                <a:ext cx="4713150" cy="496674"/>
              </a:xfrm>
              <a:prstGeom prst="rect">
                <a:avLst/>
              </a:prstGeom>
              <a:blipFill rotWithShape="0">
                <a:blip r:embed="rId3"/>
                <a:stretch>
                  <a:fillRect l="-1164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6053988" y="2155279"/>
            <a:ext cx="88614" cy="4420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9062129" y="2580542"/>
                <a:ext cx="1571199" cy="6670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/>
                            </a:rPr>
                            <m:t>𝟓𝟎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𝒌𝒈</m:t>
                          </m:r>
                        </m:num>
                        <m:den>
                          <m:r>
                            <a:rPr lang="en-US" b="1" i="1">
                              <a:latin typeface="Cambria Math"/>
                            </a:rPr>
                            <m:t>𝟐</m:t>
                          </m:r>
                          <m:r>
                            <a:rPr lang="en-US" b="1" i="1">
                              <a:latin typeface="Cambria Math"/>
                            </a:rPr>
                            <m:t>,</m:t>
                          </m:r>
                          <m:r>
                            <a:rPr lang="en-US" b="1" i="1">
                              <a:latin typeface="Cambria Math"/>
                            </a:rPr>
                            <m:t>𝟓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/>
                            </a:rPr>
                            <m:t>𝒈𝒓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129" y="2580542"/>
                <a:ext cx="1571199" cy="66704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/>
          <p:cNvGrpSpPr/>
          <p:nvPr/>
        </p:nvGrpSpPr>
        <p:grpSpPr>
          <a:xfrm>
            <a:off x="8985607" y="4621118"/>
            <a:ext cx="368147" cy="134159"/>
            <a:chOff x="11332748" y="1953779"/>
            <a:chExt cx="402613" cy="369332"/>
          </a:xfrm>
        </p:grpSpPr>
        <p:grpSp>
          <p:nvGrpSpPr>
            <p:cNvPr id="26" name="Group 25"/>
            <p:cNvGrpSpPr>
              <a:grpSpLocks/>
            </p:cNvGrpSpPr>
            <p:nvPr/>
          </p:nvGrpSpPr>
          <p:grpSpPr bwMode="auto">
            <a:xfrm>
              <a:off x="11332748" y="2030831"/>
              <a:ext cx="402613" cy="45719"/>
              <a:chOff x="9224" y="12984"/>
              <a:chExt cx="722" cy="174"/>
            </a:xfrm>
            <a:noFill/>
          </p:grpSpPr>
          <p:sp>
            <p:nvSpPr>
              <p:cNvPr id="27" name="Arc 2134"/>
              <p:cNvSpPr>
                <a:spLocks/>
              </p:cNvSpPr>
              <p:nvPr/>
            </p:nvSpPr>
            <p:spPr bwMode="auto">
              <a:xfrm rot="5400000" flipV="1">
                <a:off x="9465" y="12752"/>
                <a:ext cx="165" cy="648"/>
              </a:xfrm>
              <a:custGeom>
                <a:avLst/>
                <a:gdLst>
                  <a:gd name="G0" fmla="+- 496 0 0"/>
                  <a:gd name="G1" fmla="+- 21600 0 0"/>
                  <a:gd name="G2" fmla="+- 21600 0 0"/>
                  <a:gd name="T0" fmla="*/ 496 w 22096"/>
                  <a:gd name="T1" fmla="*/ 0 h 43200"/>
                  <a:gd name="T2" fmla="*/ 0 w 22096"/>
                  <a:gd name="T3" fmla="*/ 43194 h 43200"/>
                  <a:gd name="T4" fmla="*/ 496 w 22096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096" h="43200" fill="none" extrusionOk="0">
                    <a:moveTo>
                      <a:pt x="495" y="0"/>
                    </a:moveTo>
                    <a:cubicBezTo>
                      <a:pt x="12425" y="0"/>
                      <a:pt x="22096" y="9670"/>
                      <a:pt x="22096" y="21600"/>
                    </a:cubicBezTo>
                    <a:cubicBezTo>
                      <a:pt x="22096" y="33529"/>
                      <a:pt x="12425" y="43200"/>
                      <a:pt x="496" y="43200"/>
                    </a:cubicBezTo>
                    <a:cubicBezTo>
                      <a:pt x="330" y="43200"/>
                      <a:pt x="165" y="43198"/>
                      <a:pt x="-1" y="43194"/>
                    </a:cubicBezTo>
                  </a:path>
                  <a:path w="22096" h="43200" stroke="0" extrusionOk="0">
                    <a:moveTo>
                      <a:pt x="495" y="0"/>
                    </a:moveTo>
                    <a:cubicBezTo>
                      <a:pt x="12425" y="0"/>
                      <a:pt x="22096" y="9670"/>
                      <a:pt x="22096" y="21600"/>
                    </a:cubicBezTo>
                    <a:cubicBezTo>
                      <a:pt x="22096" y="33529"/>
                      <a:pt x="12425" y="43200"/>
                      <a:pt x="496" y="43200"/>
                    </a:cubicBezTo>
                    <a:cubicBezTo>
                      <a:pt x="330" y="43200"/>
                      <a:pt x="165" y="43198"/>
                      <a:pt x="-1" y="43194"/>
                    </a:cubicBezTo>
                    <a:lnTo>
                      <a:pt x="496" y="2160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" name="Freeform 27"/>
              <p:cNvSpPr>
                <a:spLocks/>
              </p:cNvSpPr>
              <p:nvPr/>
            </p:nvSpPr>
            <p:spPr bwMode="auto">
              <a:xfrm>
                <a:off x="9795" y="12984"/>
                <a:ext cx="151" cy="138"/>
              </a:xfrm>
              <a:custGeom>
                <a:avLst/>
                <a:gdLst>
                  <a:gd name="T0" fmla="*/ 0 w 151"/>
                  <a:gd name="T1" fmla="*/ 16 h 138"/>
                  <a:gd name="T2" fmla="*/ 81 w 151"/>
                  <a:gd name="T3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1" h="138">
                    <a:moveTo>
                      <a:pt x="0" y="16"/>
                    </a:moveTo>
                    <a:cubicBezTo>
                      <a:pt x="151" y="38"/>
                      <a:pt x="81" y="0"/>
                      <a:pt x="81" y="138"/>
                    </a:cubicBezTo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11365579" y="1953779"/>
              <a:ext cx="3369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Arial Black" panose="020B0A04020102020204" pitchFamily="34" charset="0"/>
                </a:rPr>
                <a:t>+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5105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/>
      <p:bldP spid="16" grpId="0"/>
      <p:bldP spid="17" grpId="0" animBg="1"/>
      <p:bldP spid="18" grpId="0"/>
      <p:bldP spid="20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980311" y="402850"/>
            <a:ext cx="8155994" cy="107157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SELAMAT  DATANG </a:t>
            </a:r>
            <a:b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</a:br>
            <a:r>
              <a:rPr lang="en-US" sz="40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DI RUANG BELAJAR MANDIRI</a:t>
            </a:r>
          </a:p>
        </p:txBody>
      </p:sp>
      <p:pic>
        <p:nvPicPr>
          <p:cNvPr id="5" name="Picture 2" descr="G:\Gambar Animasi\bumi_rotasi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69064" y="25322"/>
            <a:ext cx="1422936" cy="13280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17" descr="D:\2. PERANGKAT MENGAJAR KUR 2013 PAIYO\BAHAN ANIMASI MEMBUAT PEMBELAJARAN PPT\Gambar Animasi untuk PPT\aniearth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2936" cy="130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itle 3"/>
          <p:cNvSpPr txBox="1">
            <a:spLocks/>
          </p:cNvSpPr>
          <p:nvPr/>
        </p:nvSpPr>
        <p:spPr>
          <a:xfrm>
            <a:off x="528070" y="1769728"/>
            <a:ext cx="10730753" cy="2295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latin typeface="Arial Black" panose="020B0A04020102020204" pitchFamily="34" charset="0"/>
              </a:rPr>
              <a:t>“ A A A MAT KEREN “ PAIYO</a:t>
            </a:r>
          </a:p>
          <a:p>
            <a:pPr marL="0" indent="0" algn="ctr">
              <a:buNone/>
            </a:pPr>
            <a:r>
              <a:rPr lang="en-US" sz="3600" b="1" dirty="0">
                <a:latin typeface="Book Antiqua" panose="02040602050305030304" pitchFamily="18" charset="0"/>
              </a:rPr>
              <a:t>“ASAH ASIH ASUH MATEMATIKA”</a:t>
            </a:r>
          </a:p>
          <a:p>
            <a:pPr marL="0" indent="0" algn="ctr">
              <a:buNone/>
            </a:pP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sz="2800" b="1" dirty="0">
                <a:latin typeface="Monotype Corsiva" panose="03010101010201010101" pitchFamily="66" charset="0"/>
              </a:rPr>
              <a:t>“ </a:t>
            </a:r>
            <a:r>
              <a:rPr lang="en-US" sz="28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onotype Corsiva" panose="03010101010201010101" pitchFamily="66" charset="0"/>
              </a:rPr>
              <a:t>KREAKTIF  EKSPLORATIF   REPRESENTATIF  EKSLEN  NO DROP “ 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9212" y="4708121"/>
            <a:ext cx="10192870" cy="1015663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id-ID" sz="2000" dirty="0">
                <a:latin typeface="Arial Black" panose="020B0A04020102020204" pitchFamily="34" charset="0"/>
              </a:rPr>
              <a:t>Melalui kegiatan </a:t>
            </a:r>
            <a:r>
              <a:rPr lang="en-US" sz="2000" dirty="0">
                <a:latin typeface="Arial Black" panose="020B0A04020102020204" pitchFamily="34" charset="0"/>
              </a:rPr>
              <a:t>melihat, menyimak dan menonton video </a:t>
            </a:r>
            <a:r>
              <a:rPr lang="id-ID" sz="2000" dirty="0">
                <a:latin typeface="Arial Black" panose="020B0A04020102020204" pitchFamily="34" charset="0"/>
              </a:rPr>
              <a:t>pembelajaran</a:t>
            </a:r>
            <a:r>
              <a:rPr lang="en-US" sz="2000" dirty="0">
                <a:latin typeface="Arial Black" panose="020B0A04020102020204" pitchFamily="34" charset="0"/>
              </a:rPr>
              <a:t> mandiri ini </a:t>
            </a:r>
            <a:r>
              <a:rPr lang="id-ID" sz="2000" dirty="0">
                <a:latin typeface="Arial Black" panose="020B0A04020102020204" pitchFamily="34" charset="0"/>
              </a:rPr>
              <a:t>diharapkan peserta didik dapat :</a:t>
            </a:r>
            <a:endParaRPr lang="en-US" sz="2000" dirty="0">
              <a:latin typeface="Arial Black" panose="020B0A04020102020204" pitchFamily="34" charset="0"/>
            </a:endParaRPr>
          </a:p>
          <a:p>
            <a:pPr marL="538163" indent="-538163"/>
            <a:endParaRPr lang="en-US" sz="2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Picture 10" descr="D:\2. PERANGKAT MENGAJAR KUR 2013 PAIYO\BAHAN ANIMASI MEMBUAT PEMBELAJARAN PPT\Gambar Animasi untuk PPT\anibird2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81" y="1896271"/>
            <a:ext cx="1409825" cy="112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1" descr="D:\2. PERANGKAT MENGAJAR KUR 2013 PAIYO\BAHAN ANIMASI MEMBUAT PEMBELAJARAN PPT\Gambar Animasi untuk PPT\anibird3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151" y="1896271"/>
            <a:ext cx="1409825" cy="112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5"/>
          <p:cNvGrpSpPr>
            <a:grpSpLocks/>
          </p:cNvGrpSpPr>
          <p:nvPr/>
        </p:nvGrpSpPr>
        <p:grpSpPr bwMode="auto">
          <a:xfrm>
            <a:off x="2475812" y="3595680"/>
            <a:ext cx="7419670" cy="1112441"/>
            <a:chOff x="4166" y="1706"/>
            <a:chExt cx="1252" cy="1252"/>
          </a:xfrm>
        </p:grpSpPr>
        <p:sp>
          <p:nvSpPr>
            <p:cNvPr id="20" name="Oval 1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Oval 1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Oval 1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Oval 19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9" name="Text Box 38"/>
          <p:cNvSpPr txBox="1">
            <a:spLocks noChangeArrowheads="1"/>
          </p:cNvSpPr>
          <p:nvPr/>
        </p:nvSpPr>
        <p:spPr bwMode="gray">
          <a:xfrm>
            <a:off x="2940131" y="3574610"/>
            <a:ext cx="6239579" cy="11079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 w="50800"/>
                <a:solidFill>
                  <a:srgbClr val="0A2068">
                    <a:shade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BAB </a:t>
            </a:r>
            <a:r>
              <a:rPr lang="en-US" b="1" dirty="0">
                <a:ln w="50800"/>
                <a:solidFill>
                  <a:srgbClr val="0A2068">
                    <a:shade val="50000"/>
                  </a:srgbClr>
                </a:solidFill>
                <a:latin typeface="Arial"/>
              </a:rPr>
              <a:t>I</a:t>
            </a:r>
            <a:endParaRPr kumimoji="0" lang="en-US" sz="1800" b="1" i="0" u="none" strike="noStrike" kern="1200" cap="none" spc="0" normalizeH="0" baseline="0" noProof="0" dirty="0">
              <a:ln w="50800"/>
              <a:solidFill>
                <a:srgbClr val="0A2068">
                  <a:shade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algn="ctr"/>
            <a:r>
              <a:rPr lang="en-US" sz="2400" b="1" dirty="0"/>
              <a:t>LATIHAN ASESMEN SUMATIF 1 </a:t>
            </a:r>
          </a:p>
          <a:p>
            <a:pPr algn="ctr"/>
            <a:r>
              <a:rPr lang="en-US" sz="2400" b="1" dirty="0"/>
              <a:t>BAB BILANGAN BERPANGKAT </a:t>
            </a:r>
            <a:endParaRPr kumimoji="0" lang="en-US" sz="3600" b="1" i="0" u="none" strike="noStrike" kern="1200" cap="none" spc="0" normalizeH="0" baseline="0" noProof="0" dirty="0">
              <a:ln w="50800"/>
              <a:solidFill>
                <a:srgbClr val="0A2068">
                  <a:shade val="50000"/>
                </a:srgbClr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057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02659" y="322140"/>
            <a:ext cx="9200989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b="1" dirty="0">
                <a:highlight>
                  <a:srgbClr val="FFFF00"/>
                </a:highlight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LATIHAN ASESMEN SUMATIF 1BAB BILANGAN BERPANGKAT</a:t>
            </a:r>
            <a:r>
              <a:rPr lang="en-US" dirty="0">
                <a:highlight>
                  <a:srgbClr val="FFFF00"/>
                </a:highlight>
                <a:latin typeface="Monotype Corsiva" panose="03010101010201010101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48267"/>
          <a:stretch/>
        </p:blipFill>
        <p:spPr>
          <a:xfrm>
            <a:off x="566698" y="710836"/>
            <a:ext cx="5376902" cy="59294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143" y="853662"/>
            <a:ext cx="5202127" cy="59294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6078071" y="945934"/>
            <a:ext cx="26894" cy="5837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4233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7200" y="433137"/>
                <a:ext cx="9817768" cy="2580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dirty="0"/>
                  <a:t>4. </a:t>
                </a:r>
                <a:r>
                  <a:rPr lang="en-US" dirty="0" err="1"/>
                  <a:t>Diketahui</a:t>
                </a:r>
                <a:r>
                  <a:rPr lang="en-US" dirty="0"/>
                  <a:t>: 3</a:t>
                </a:r>
                <a:r>
                  <a:rPr lang="en-US" sz="2000" baseline="30000" dirty="0"/>
                  <a:t>1.500</a:t>
                </a:r>
                <a:r>
                  <a:rPr lang="en-US" dirty="0"/>
                  <a:t> + 9</a:t>
                </a:r>
                <a:r>
                  <a:rPr lang="en-US" sz="2000" baseline="30000" dirty="0"/>
                  <a:t>750</a:t>
                </a:r>
                <a:r>
                  <a:rPr lang="en-US" dirty="0"/>
                  <a:t>  + 27</a:t>
                </a:r>
                <a:r>
                  <a:rPr lang="en-US" sz="2000" baseline="30000" dirty="0"/>
                  <a:t>500</a:t>
                </a:r>
                <a:r>
                  <a:rPr lang="en-US" dirty="0"/>
                  <a:t>  = 3</a:t>
                </a:r>
                <a:r>
                  <a:rPr lang="en-US" sz="2000" baseline="30000" dirty="0"/>
                  <a:t>b</a:t>
                </a:r>
                <a:r>
                  <a:rPr lang="en-US" dirty="0"/>
                  <a:t> .  </a:t>
                </a:r>
                <a:r>
                  <a:rPr lang="en-US" dirty="0" err="1"/>
                  <a:t>Tentukan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:r>
                  <a:rPr lang="en-US" i="1" dirty="0"/>
                  <a:t>b.</a:t>
                </a:r>
              </a:p>
              <a:p>
                <a:pPr marL="0" lvl="1"/>
                <a:endParaRPr lang="en-US" i="1" dirty="0"/>
              </a:p>
              <a:p>
                <a:pPr lvl="1"/>
                <a:endParaRPr lang="en-US" sz="1600" i="1" dirty="0"/>
              </a:p>
              <a:p>
                <a:pPr lvl="1"/>
                <a:endParaRPr lang="en-US" sz="1600" dirty="0"/>
              </a:p>
              <a:p>
                <a:pPr marL="0" lvl="1"/>
                <a:r>
                  <a:rPr lang="en-US" dirty="0"/>
                  <a:t>5. </a:t>
                </a:r>
                <a:r>
                  <a:rPr lang="en-US" dirty="0" err="1"/>
                  <a:t>Bilangan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2015</m:t>
                            </m:r>
                          </m:sup>
                        </m:sSup>
                        <m:r>
                          <a:rPr lang="en-US" sz="2400" i="1">
                            <a:latin typeface="Cambria Math"/>
                          </a:rPr>
                          <m:t>+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2014</m:t>
                            </m:r>
                          </m:sup>
                        </m:sSup>
                        <m:r>
                          <a:rPr lang="en-US" sz="2400" i="1">
                            <a:latin typeface="Cambria Math"/>
                          </a:rPr>
                          <m:t>+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2013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dirty="0"/>
                  <a:t>  </a:t>
                </a:r>
                <a:r>
                  <a:rPr lang="en-US" dirty="0" err="1"/>
                  <a:t>setara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i="1" dirty="0"/>
                  <a:t>y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bilangan</a:t>
                </a:r>
                <a:r>
                  <a:rPr lang="en-US" dirty="0"/>
                  <a:t> </a:t>
                </a:r>
                <a:r>
                  <a:rPr lang="en-US" dirty="0" err="1"/>
                  <a:t>bulat</a:t>
                </a:r>
                <a:r>
                  <a:rPr lang="en-US" dirty="0"/>
                  <a:t> </a:t>
                </a:r>
                <a:r>
                  <a:rPr lang="en-US" dirty="0" err="1"/>
                  <a:t>positif</a:t>
                </a:r>
                <a:r>
                  <a:rPr lang="en-US" dirty="0"/>
                  <a:t>. </a:t>
                </a:r>
                <a:endParaRPr lang="en-US" sz="1600" dirty="0"/>
              </a:p>
              <a:p>
                <a:r>
                  <a:rPr lang="en-US" dirty="0" err="1"/>
                  <a:t>Tentukan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:r>
                  <a:rPr lang="en-US" i="1" dirty="0"/>
                  <a:t>y</a:t>
                </a:r>
                <a:r>
                  <a:rPr lang="en-US" dirty="0"/>
                  <a:t>.</a:t>
                </a:r>
                <a:endParaRPr lang="en-US" sz="16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3137"/>
                <a:ext cx="9817768" cy="2580130"/>
              </a:xfrm>
              <a:prstGeom prst="rect">
                <a:avLst/>
              </a:prstGeom>
              <a:blipFill rotWithShape="1">
                <a:blip r:embed="rId2"/>
                <a:stretch>
                  <a:fillRect l="-497" t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2717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NGENALAN PROGRAM MGMP BERMUTU POKJA BANTARKAWUNG 2010">
  <a:themeElements>
    <a:clrScheme name="193tgp_best_dark 3">
      <a:dk1>
        <a:srgbClr val="969696"/>
      </a:dk1>
      <a:lt1>
        <a:srgbClr val="FFFFFF"/>
      </a:lt1>
      <a:dk2>
        <a:srgbClr val="0A2068"/>
      </a:dk2>
      <a:lt2>
        <a:srgbClr val="94CAE8"/>
      </a:lt2>
      <a:accent1>
        <a:srgbClr val="5AB14B"/>
      </a:accent1>
      <a:accent2>
        <a:srgbClr val="2F7ADF"/>
      </a:accent2>
      <a:accent3>
        <a:srgbClr val="AAABB9"/>
      </a:accent3>
      <a:accent4>
        <a:srgbClr val="DADADA"/>
      </a:accent4>
      <a:accent5>
        <a:srgbClr val="B5D5B1"/>
      </a:accent5>
      <a:accent6>
        <a:srgbClr val="2A6ECA"/>
      </a:accent6>
      <a:hlink>
        <a:srgbClr val="8A52C8"/>
      </a:hlink>
      <a:folHlink>
        <a:srgbClr val="C48352"/>
      </a:folHlink>
    </a:clrScheme>
    <a:fontScheme name="193tgp_best_da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3tgp_best_dark 1">
        <a:dk1>
          <a:srgbClr val="969696"/>
        </a:dk1>
        <a:lt1>
          <a:srgbClr val="FFFFFF"/>
        </a:lt1>
        <a:dk2>
          <a:srgbClr val="005E5C"/>
        </a:dk2>
        <a:lt2>
          <a:srgbClr val="DAEEA2"/>
        </a:lt2>
        <a:accent1>
          <a:srgbClr val="238FD9"/>
        </a:accent1>
        <a:accent2>
          <a:srgbClr val="43A98E"/>
        </a:accent2>
        <a:accent3>
          <a:srgbClr val="AAB6B5"/>
        </a:accent3>
        <a:accent4>
          <a:srgbClr val="DADADA"/>
        </a:accent4>
        <a:accent5>
          <a:srgbClr val="ACC6E9"/>
        </a:accent5>
        <a:accent6>
          <a:srgbClr val="3C9980"/>
        </a:accent6>
        <a:hlink>
          <a:srgbClr val="D8A642"/>
        </a:hlink>
        <a:folHlink>
          <a:srgbClr val="B370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93tgp_best_dark 2">
        <a:dk1>
          <a:srgbClr val="969696"/>
        </a:dk1>
        <a:lt1>
          <a:srgbClr val="FFFFFF"/>
        </a:lt1>
        <a:dk2>
          <a:srgbClr val="3F1F53"/>
        </a:dk2>
        <a:lt2>
          <a:srgbClr val="F3CC9D"/>
        </a:lt2>
        <a:accent1>
          <a:srgbClr val="557FE7"/>
        </a:accent1>
        <a:accent2>
          <a:srgbClr val="EB6363"/>
        </a:accent2>
        <a:accent3>
          <a:srgbClr val="AFABB3"/>
        </a:accent3>
        <a:accent4>
          <a:srgbClr val="DADADA"/>
        </a:accent4>
        <a:accent5>
          <a:srgbClr val="B4C0F1"/>
        </a:accent5>
        <a:accent6>
          <a:srgbClr val="D55959"/>
        </a:accent6>
        <a:hlink>
          <a:srgbClr val="9351C9"/>
        </a:hlink>
        <a:folHlink>
          <a:srgbClr val="3EB2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93tgp_best_dark 3">
        <a:dk1>
          <a:srgbClr val="969696"/>
        </a:dk1>
        <a:lt1>
          <a:srgbClr val="FFFFFF"/>
        </a:lt1>
        <a:dk2>
          <a:srgbClr val="0A2068"/>
        </a:dk2>
        <a:lt2>
          <a:srgbClr val="94CAE8"/>
        </a:lt2>
        <a:accent1>
          <a:srgbClr val="5AB14B"/>
        </a:accent1>
        <a:accent2>
          <a:srgbClr val="2F7ADF"/>
        </a:accent2>
        <a:accent3>
          <a:srgbClr val="AAABB9"/>
        </a:accent3>
        <a:accent4>
          <a:srgbClr val="DADADA"/>
        </a:accent4>
        <a:accent5>
          <a:srgbClr val="B5D5B1"/>
        </a:accent5>
        <a:accent6>
          <a:srgbClr val="2A6ECA"/>
        </a:accent6>
        <a:hlink>
          <a:srgbClr val="8A52C8"/>
        </a:hlink>
        <a:folHlink>
          <a:srgbClr val="C4835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3564</TotalTime>
  <Words>4452</Words>
  <Application>Microsoft Office PowerPoint</Application>
  <PresentationFormat>Layar Lebar</PresentationFormat>
  <Paragraphs>926</Paragraphs>
  <Slides>41</Slides>
  <Notes>2</Notes>
  <HiddenSlides>0</HiddenSlides>
  <MMClips>0</MMClips>
  <ScaleCrop>false</ScaleCrop>
  <HeadingPairs>
    <vt:vector size="8" baseType="variant">
      <vt:variant>
        <vt:lpstr>Font Dipakai</vt:lpstr>
      </vt:variant>
      <vt:variant>
        <vt:i4>16</vt:i4>
      </vt:variant>
      <vt:variant>
        <vt:lpstr>Tema</vt:lpstr>
      </vt:variant>
      <vt:variant>
        <vt:i4>3</vt:i4>
      </vt:variant>
      <vt:variant>
        <vt:lpstr>Server OLE Tertanam</vt:lpstr>
      </vt:variant>
      <vt:variant>
        <vt:i4>1</vt:i4>
      </vt:variant>
      <vt:variant>
        <vt:lpstr>Judul Slide</vt:lpstr>
      </vt:variant>
      <vt:variant>
        <vt:i4>41</vt:i4>
      </vt:variant>
    </vt:vector>
  </HeadingPairs>
  <TitlesOfParts>
    <vt:vector size="61" baseType="lpstr">
      <vt:lpstr>等线</vt:lpstr>
      <vt:lpstr>等线 Light</vt:lpstr>
      <vt:lpstr>PMingLiU-ExtB</vt:lpstr>
      <vt:lpstr>Algerian</vt:lpstr>
      <vt:lpstr>Arial</vt:lpstr>
      <vt:lpstr>Arial Black</vt:lpstr>
      <vt:lpstr>Book Antiqua</vt:lpstr>
      <vt:lpstr>Britannic Bold</vt:lpstr>
      <vt:lpstr>Calibri</vt:lpstr>
      <vt:lpstr>Calibri Light</vt:lpstr>
      <vt:lpstr>Cambria Math</vt:lpstr>
      <vt:lpstr>Lucida Calligraphy</vt:lpstr>
      <vt:lpstr>Monotype Corsiva</vt:lpstr>
      <vt:lpstr>Symbol</vt:lpstr>
      <vt:lpstr>Times New Roman</vt:lpstr>
      <vt:lpstr>Wingdings</vt:lpstr>
      <vt:lpstr>Office Theme</vt:lpstr>
      <vt:lpstr>PENGENALAN PROGRAM MGMP BERMUTU POKJA BANTARKAWUNG 2010</vt:lpstr>
      <vt:lpstr>Office 主题​​</vt:lpstr>
      <vt:lpstr>Equation.3</vt:lpstr>
      <vt:lpstr>                                     </vt:lpstr>
      <vt:lpstr>SELAMAT  DATANG  DI RUANG BELAJAR MANDIRI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SELAMAT  DATANG  DI RUANG BELAJAR MANDIRI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SELAMAT  DATANG  DI RUANG BELAJAR MANDIRI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SELAMAT  DATANG  DI RUANG BELAJAR MANDIRI</vt:lpstr>
      <vt:lpstr>Presentasi PowerPoint</vt:lpstr>
      <vt:lpstr>Presentasi PowerPoint</vt:lpstr>
      <vt:lpstr>Presentasi PowerPoint</vt:lpstr>
      <vt:lpstr>SELAMAT  DATANG  DI RUANG BELAJAR MANDIRI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SELAMAT  DATANG  DI RUANG BELAJAR MANDIRI</dc:title>
  <dc:creator>Microsoft account</dc:creator>
  <cp:lastModifiedBy>ANIS SOKHIFAH</cp:lastModifiedBy>
  <cp:revision>122</cp:revision>
  <dcterms:created xsi:type="dcterms:W3CDTF">2025-07-29T11:45:26Z</dcterms:created>
  <dcterms:modified xsi:type="dcterms:W3CDTF">2026-05-21T01:49:12Z</dcterms:modified>
</cp:coreProperties>
</file>